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 snapToObjects="1">
      <p:cViewPr varScale="1">
        <p:scale>
          <a:sx n="140" d="100"/>
          <a:sy n="140" d="100"/>
        </p:scale>
        <p:origin x="56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0" y="2103120"/>
            <a:ext cx="850392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C343D"/>
                </a:solidFill>
                <a:latin typeface="Calibri"/>
              </a:defRPr>
            </a:pPr>
            <a:r>
              <a:t>Sepsis GenAI — 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E6C93"/>
                </a:solidFill>
                <a:latin typeface="Calibri"/>
              </a:defRPr>
            </a:pPr>
            <a:r>
              <a:t>LLM Selection  |  System Architecture  |  Hospital Configurability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0233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A5A6A"/>
                </a:solidFill>
                <a:latin typeface="Calibri"/>
              </a:defRPr>
            </a:pPr>
            <a:r>
              <a:t>Follow-up to Leadership Review  |  February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572000"/>
            <a:ext cx="850392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LLM Selection — Systematic Narrowing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100+ LLMs exist today. We applied 4 filters to find the right one for clinical sepsis prediction.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5A6A"/>
                </a:solidFill>
                <a:latin typeface="Calibri"/>
              </a:defRPr>
            </a:pPr>
            <a:r>
              <a:t>All LLMs Considered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371600" cy="82296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GPT-4o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Azure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1691640"/>
            <a:ext cx="1371600" cy="82296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77439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Claude</a:t>
            </a:r>
            <a:br/>
            <a:r>
              <a:t>Sonnet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AWS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1691640"/>
            <a:ext cx="1371600" cy="822960"/>
          </a:xfrm>
          <a:prstGeom prst="round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77639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Gemini</a:t>
            </a:r>
            <a:br/>
            <a:r>
              <a:t>1.5 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Google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1691640"/>
            <a:ext cx="1371600" cy="82296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778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Llama 3</a:t>
            </a:r>
            <a:br/>
            <a:r>
              <a:t>70B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Meta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691640"/>
            <a:ext cx="1371600" cy="822960"/>
          </a:xfrm>
          <a:prstGeom prst="round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80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Mistral</a:t>
            </a:r>
            <a:br/>
            <a:r>
              <a:t>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Mistral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1691640"/>
            <a:ext cx="1371600" cy="822960"/>
          </a:xfrm>
          <a:prstGeom prst="roundRect">
            <a:avLst/>
          </a:prstGeom>
          <a:solidFill>
            <a:srgbClr val="49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Med-</a:t>
            </a:r>
            <a:br/>
            <a:r>
              <a:t>PaLM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Google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32720" y="1691640"/>
            <a:ext cx="1371600" cy="822960"/>
          </a:xfrm>
          <a:prstGeom prst="roundRect">
            <a:avLst/>
          </a:prstGeom>
          <a:solidFill>
            <a:srgbClr val="4A5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3784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Cohere</a:t>
            </a:r>
            <a:br/>
            <a:r>
              <a:t>R+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Cohere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5760720" y="2606040"/>
            <a:ext cx="411480" cy="320040"/>
          </a:xfrm>
          <a:prstGeom prst="down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Filter 1: Must run on AWS (PHI stays in-boundary)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6C93"/>
                </a:solidFill>
                <a:latin typeface="Calibri"/>
              </a:defRPr>
            </a:pPr>
            <a:r>
              <a:t>AWS Bedrock Native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3337560"/>
            <a:ext cx="2011680" cy="5486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" y="3383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C343D"/>
                </a:solidFill>
                <a:latin typeface="Calibri"/>
              </a:defRPr>
            </a:pPr>
            <a:r>
              <a:t>Claude Sonnet 4/4.5/4.6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71800" y="3337560"/>
            <a:ext cx="2011680" cy="5486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63240" y="3383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C343D"/>
                </a:solidFill>
                <a:latin typeface="Calibri"/>
              </a:defRPr>
            </a:pPr>
            <a:r>
              <a:t>Claude Opus 4.1/4.5/4.6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12080" y="3337560"/>
            <a:ext cx="2011680" cy="5486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03520" y="3383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C343D"/>
                </a:solidFill>
                <a:latin typeface="Calibri"/>
              </a:defRPr>
            </a:pPr>
            <a:r>
              <a:t>Claude Haiku 4.5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52360" y="3337560"/>
            <a:ext cx="2011680" cy="548640"/>
          </a:xfrm>
          <a:prstGeom prst="roundRect">
            <a:avLst/>
          </a:prstGeom>
          <a:solidFill>
            <a:srgbClr val="FDEDEB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543800" y="3383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C343D"/>
                </a:solidFill>
                <a:latin typeface="Calibri"/>
              </a:defRPr>
            </a:pPr>
            <a:r>
              <a:t>Llama 3 (SageMaker)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3337560"/>
            <a:ext cx="2011680" cy="548640"/>
          </a:xfrm>
          <a:prstGeom prst="roundRect">
            <a:avLst/>
          </a:prstGeom>
          <a:solidFill>
            <a:srgbClr val="FDEDEB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784080" y="3383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C343D"/>
                </a:solidFill>
                <a:latin typeface="Calibri"/>
              </a:defRPr>
            </a:pPr>
            <a:r>
              <a:t>Mistral Large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5760720" y="3977639"/>
            <a:ext cx="411480" cy="320040"/>
          </a:xfrm>
          <a:prstGeom prst="down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0" y="397763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Filter 2: Managed service + ACTIVE status (not LEGACY)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5760720" y="4389120"/>
            <a:ext cx="411480" cy="320040"/>
          </a:xfrm>
          <a:prstGeom prst="down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080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Filter 3: Clinical reasoning quality + cost-effectiveness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Head-to-Head Tested (Actual Results)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120640"/>
            <a:ext cx="2560320" cy="13716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2960" y="5166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6C93"/>
                </a:solidFill>
                <a:latin typeface="Calibri"/>
              </a:defRPr>
            </a:pPr>
            <a:r>
              <a:t>Claude Sonnet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440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5.0s | $10.34/1K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6692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Current production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39" y="5120640"/>
            <a:ext cx="2560320" cy="137160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520439" y="5120640"/>
            <a:ext cx="2560320" cy="137160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11879" y="5166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Claude Sonnet 4.5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11879" y="5440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9.3s | $12.69/1K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11879" y="56692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alibri"/>
              </a:defRPr>
            </a:pPr>
            <a:r>
              <a:t>★ RECOMMENDED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09359" y="5120640"/>
            <a:ext cx="2560320" cy="137160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799" y="5166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8A00"/>
                </a:solidFill>
                <a:latin typeface="Calibri"/>
              </a:defRPr>
            </a:pPr>
            <a:r>
              <a:t>Claude Sonnet 4.6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799" y="5440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15.8s | $17.57/1K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799" y="56692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Slower, costlier than 4.5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98280" y="5120640"/>
            <a:ext cx="2560320" cy="137160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89719" y="5166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Claude Opus 4.6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89719" y="5440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18.4s | $31.16/1K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89719" y="56692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Deepest reasoning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Head-to-Head Test Results (Actual Data)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rPr dirty="0"/>
              <a:t>Same patient (TREND_DEMO_001), same prompt (v3.0), same test — run on </a:t>
            </a:r>
            <a:r>
              <a:rPr lang="en-US" dirty="0"/>
              <a:t>03 Apr</a:t>
            </a:r>
            <a:r>
              <a:rPr dirty="0"/>
              <a:t>, 2026 via AWS Bedrock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6C93"/>
                </a:solidFill>
                <a:latin typeface="Calibri"/>
              </a:defRPr>
            </a:pPr>
            <a:r>
              <a:t>Performance &amp; Cost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698480" cy="41148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58191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5819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 (Current)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5819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5819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15819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Opus 4.6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11680"/>
            <a:ext cx="10698480" cy="34747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02996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Response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0299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5.0 sec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0299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9.3 sec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0299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15.8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20299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18.4 sec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395728"/>
            <a:ext cx="1069848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241401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241401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312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41401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469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140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794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4140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869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779776"/>
            <a:ext cx="10698480" cy="34747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279806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Cost Per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27980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$0.0103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27980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$0.0127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7980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$0.0176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27980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$0.0312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3163824"/>
            <a:ext cx="1069848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318211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Cost Per 1K Patients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31821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$10.34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31821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$12.69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1821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$17.57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31821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$31.16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3547872"/>
            <a:ext cx="10698480" cy="347472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7240" y="35661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Monthly (1K pts/day)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35661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$310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35661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$381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35661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$527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35661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$935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4023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Clinical Output Quality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343400"/>
            <a:ext cx="106984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" y="43708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4370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 (Current)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4370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9480" y="437083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4.6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437083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Opus 4.6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" y="4800600"/>
            <a:ext cx="10698480" cy="27432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7240" y="4809744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Risk Score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46120" y="4809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4809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72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9480" y="4809744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4809744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5093208"/>
            <a:ext cx="106984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77240" y="510235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Priority / Confidence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46120" y="51023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High / Medium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57800" y="51023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High / Medium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69480" y="510235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High / Medium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72600" y="510235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High / Medium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1520" y="5385816"/>
            <a:ext cx="10698480" cy="27432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77240" y="539495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6h Probability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46120" y="5394959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57800" y="5394959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69480" y="5394959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72600" y="5394959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44AD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520" y="5678424"/>
            <a:ext cx="106984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77240" y="5687568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Organ Stress Indicators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46120" y="56875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3 identified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57800" y="56875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4 identified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69480" y="568756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6 identified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72600" y="568756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 identified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5971032"/>
            <a:ext cx="10698480" cy="27432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77240" y="5980176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Missing Data Flagged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46120" y="598017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4 items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57800" y="598017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5 items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69480" y="5980176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11 items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72600" y="5980176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13 items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6263640"/>
            <a:ext cx="106984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777240" y="6272783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Surgical Context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46120" y="6272783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Not mentioned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57800" y="6272783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Bile leak, Day 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69480" y="6272783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Bile leak, Day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72600" y="6272783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Multi-system + time est.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31520" y="6556248"/>
            <a:ext cx="10698480" cy="27432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77240" y="656539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Discordance Detected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46120" y="656539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57800" y="656539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26948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7260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Yes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Clinical Rationale — Quality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Same patient, same data — how each model explains its assessment (actual outputs)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12344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6C93"/>
                </a:solidFill>
                <a:latin typeface="Calibri"/>
              </a:defRPr>
            </a:pPr>
            <a:r>
              <a:t>Claude Sonnet 4 — Fast &amp; Concise (5.0s)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078992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645919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"Post-operative patient with concerning vital trend deterioration (HR rising to 105, SBP dropping to 98, falling O2Sat 96→94) combined with subtle clinical decline and elevated WBC suggesting early sepsis."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6C93"/>
                </a:solidFill>
                <a:latin typeface="Calibri"/>
              </a:defRPr>
            </a:pPr>
            <a:r>
              <a:t>Hits key points but misses surgical-specific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39"/>
            <a:ext cx="11247120" cy="123444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59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Claude Sonnet 4.5 — Best Balance (9.3s)  ★ RECOMMENDED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26079"/>
            <a:ext cx="1078992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971799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"Concerning discordance between compensating vitals and subtle clinical decompensation. Rising HR (105) with falling MAP (71 calculated) suggests early distributive shock. Patient's vague complaint of 'not quite right' post-op Day 3 is classic for occult intra-abdominal sepsis."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20439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alibri"/>
              </a:defRPr>
            </a:pPr>
            <a:r>
              <a:t>Calculates MAP, identifies bile leak risk, names Day 3 as peak risk window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11247120" cy="123444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39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8A00"/>
                </a:solidFill>
                <a:latin typeface="Calibri"/>
              </a:defRPr>
            </a:pPr>
            <a:r>
              <a:t>Claude Sonnet 4.6 — Thorough (15.8s)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51959"/>
            <a:ext cx="10789920" cy="36576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"...widening pulse pressure suggesting early distributive physiology. Lactate at 1.6 is 'normal' but direction unknown. Note-to-data discordance: 'not feeling right' — classic prodromal complaint, peak window for abscess post-cholecystectomy."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463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8A00"/>
                </a:solidFill>
                <a:latin typeface="Calibri"/>
              </a:defRPr>
            </a:pPr>
            <a:r>
              <a:t>6 organ stress indicators, 11 missing data items flagged — but 70% costlier than 4.5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57800"/>
            <a:ext cx="11247120" cy="123444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3035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E44AD"/>
                </a:solidFill>
                <a:latin typeface="Calibri"/>
              </a:defRPr>
            </a:pPr>
            <a:r>
              <a:t>Claude Opus 4.6 — Deepest Reasoning (18.4s)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577840"/>
            <a:ext cx="10789920" cy="3657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"...velocity of change across multiple organ systems — cardiovascular (HR up, BP down), respiratory (O2Sat dropping), metabolic (lactate rising) — strongly suggests early distributive shock. This patient is likely 4-6 hours from decompensation without intervention."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172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E44AD"/>
                </a:solidFill>
                <a:latin typeface="Calibri"/>
              </a:defRPr>
            </a:pPr>
            <a:r>
              <a:t>Only model to estimate time-to-decompensation (4-6h) and rate 6h probability as 'High'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LLM 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256032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Production: Sonnet 4.5  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320040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Best balance of speed &amp; depth</a:t>
            </a:r>
            <a:br/>
            <a:r>
              <a:t>  9.3s response, $12.69/1K patients</a:t>
            </a:r>
            <a:br/>
            <a:r>
              <a:t>  Identifies surgical complications</a:t>
            </a:r>
            <a:br/>
            <a:r>
              <a:t>    (bile leak, anastomotic leak)</a:t>
            </a:r>
            <a:br/>
            <a:r>
              <a:t>  Calculates MAP, names Day 3 risk</a:t>
            </a:r>
            <a:br/>
            <a:r>
              <a:t>  85% better reasoning vs Sonnet 4</a:t>
            </a:r>
            <a:br/>
            <a:r>
              <a:t>  Only 23% cost increase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657600" cy="256032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Validation: Opus 4.6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600200"/>
            <a:ext cx="320040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Use for retrospective study</a:t>
            </a:r>
            <a:br/>
            <a:r>
              <a:t>  18.4s OK when speed isn't critical</a:t>
            </a:r>
            <a:br/>
            <a:r>
              <a:t>  Deepest clinical reasoning</a:t>
            </a:r>
            <a:br/>
            <a:r>
              <a:t>  Estimates time-to-decompensation</a:t>
            </a:r>
            <a:br/>
            <a:r>
              <a:t>  Organizes by organ system</a:t>
            </a:r>
            <a:br/>
            <a:r>
              <a:t>  13 missing data items flagged</a:t>
            </a:r>
            <a:br/>
            <a:r>
              <a:t>  $31.16/1K — justified for 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097280"/>
            <a:ext cx="3657600" cy="256032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8A00"/>
                </a:solidFill>
                <a:latin typeface="Calibri"/>
              </a:defRPr>
            </a:pPr>
            <a:r>
              <a:t>Skip: Sonnet 4.6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00200"/>
            <a:ext cx="320040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15.8s — slower than 4.5</a:t>
            </a:r>
            <a:br/>
            <a:r>
              <a:t>  $17.57/1K — 38% costlier than 4.5</a:t>
            </a:r>
            <a:br/>
            <a:r>
              <a:t>  Quality similar to 4.5</a:t>
            </a:r>
            <a:br/>
            <a:r>
              <a:t>  Doesn't justify premium</a:t>
            </a:r>
            <a:br/>
            <a:r>
              <a:t>  </a:t>
            </a:r>
            <a:br/>
            <a:r>
              <a:t>  May revisit if Anthropic</a:t>
            </a:r>
            <a:br/>
            <a:r>
              <a:t>    optimizes speed in future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11247120" cy="118872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6C93"/>
                </a:solidFill>
                <a:latin typeface="Calibri"/>
              </a:defRPr>
            </a:pPr>
            <a:r>
              <a:t>Key Finding: All 4 Models Agree on Core Prediction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434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Risk Score: 72  |  Priority: High  |  qSOFA: 1  |  SIRS: Positive  |  Trend: Deteriorating  |  Discordance: Detected</a:t>
            </a:r>
            <a:br/>
            <a:br/>
            <a:r>
              <a:t>The difference is in reasoning depth and clinical context — not the core alert. Upgrading the model improves the doctor's understanding, not the alarm itself.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94960"/>
            <a:ext cx="11247120" cy="109728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4406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Model Swap = 1 Config Change (No Code Rewrite)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06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Environment variable: BEDROCK_MODEL_ID=us.anthropic.claude-sonnet-4-5-20250929-v1:0</a:t>
            </a:r>
            <a:br/>
            <a:r>
              <a:t>When a better model launches (e.g., Sonnet 5), we upgrade the same way — one line, zero downtime, no code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End-to-End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From bedside to prediction — how patient data flows through the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63040"/>
            <a:ext cx="1463040" cy="100584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Hospital</a:t>
            </a:r>
            <a:br/>
            <a:r>
              <a:t>Bedside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Vitals monitors</a:t>
            </a:r>
            <a:br/>
            <a:r>
              <a:t>Lab systems</a:t>
            </a:r>
            <a:br/>
            <a:r>
              <a:t>Nurse charts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463040"/>
            <a:ext cx="1463040" cy="10058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9456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🗄️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Oracle</a:t>
            </a:r>
            <a:br/>
            <a:r>
              <a:t>Cerner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EHR database</a:t>
            </a:r>
            <a:br/>
            <a:r>
              <a:t>Orders &amp; events</a:t>
            </a:r>
            <a:br/>
            <a:r>
              <a:t>Clinical docs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1463040"/>
            <a:ext cx="1463040" cy="1005840"/>
          </a:xfrm>
          <a:prstGeom prst="round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Red Rover</a:t>
            </a:r>
            <a:br/>
            <a:r>
              <a:t>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Normalizes data</a:t>
            </a:r>
            <a:br/>
            <a:r>
              <a:t>Time-series vitals</a:t>
            </a:r>
            <a:br/>
            <a:r>
              <a:t>Patient context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463040"/>
            <a:ext cx="1463040" cy="100584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3504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59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Our Backend</a:t>
            </a:r>
            <a:br/>
            <a:r>
              <a:t>(EKS)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Receives API call</a:t>
            </a:r>
            <a:br/>
            <a:r>
              <a:t>Authenticates</a:t>
            </a:r>
            <a:br/>
            <a:r>
              <a:t>Orchestrates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1463040"/>
            <a:ext cx="146304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55279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Pipeline</a:t>
            </a:r>
            <a:br/>
            <a:r>
              <a:t>3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Preprocess</a:t>
            </a:r>
            <a:br/>
            <a:r>
              <a:t>LLM Inference</a:t>
            </a:r>
            <a:br/>
            <a:r>
              <a:t>Guardrail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75520" y="1463040"/>
            <a:ext cx="1463040" cy="1005840"/>
          </a:xfrm>
          <a:prstGeom prst="round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7552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Response</a:t>
            </a:r>
            <a:br/>
            <a:r>
              <a:t>to Frontend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Risk score</a:t>
            </a:r>
            <a:br/>
            <a:r>
              <a:t>Rationale</a:t>
            </a:r>
            <a:br/>
            <a:r>
              <a:t>Scores &amp; alerts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783080" y="182880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ght Arrow 30"/>
          <p:cNvSpPr/>
          <p:nvPr/>
        </p:nvSpPr>
        <p:spPr>
          <a:xfrm>
            <a:off x="3703320" y="182880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ight Arrow 31"/>
          <p:cNvSpPr/>
          <p:nvPr/>
        </p:nvSpPr>
        <p:spPr>
          <a:xfrm>
            <a:off x="5623560" y="182880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ight Arrow 32"/>
          <p:cNvSpPr/>
          <p:nvPr/>
        </p:nvSpPr>
        <p:spPr>
          <a:xfrm>
            <a:off x="7543800" y="182880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ight Arrow 33"/>
          <p:cNvSpPr/>
          <p:nvPr/>
        </p:nvSpPr>
        <p:spPr>
          <a:xfrm>
            <a:off x="9464040" y="182880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28346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6C93"/>
                </a:solidFill>
                <a:latin typeface="Calibri"/>
              </a:defRPr>
            </a:pPr>
            <a:r>
              <a:t>AI Pipeline Detail (3 Stages)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154680"/>
            <a:ext cx="105156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57200" y="3337560"/>
            <a:ext cx="3566160" cy="22860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49A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4360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9AAD4"/>
                </a:solidFill>
                <a:latin typeface="Calibri"/>
              </a:defRPr>
            </a:pPr>
            <a:r>
              <a:t>Stage 1: Preprocessor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3703320"/>
            <a:ext cx="3291840" cy="36576"/>
          </a:xfrm>
          <a:prstGeom prst="rect">
            <a:avLst/>
          </a:prstGeom>
          <a:solidFill>
            <a:srgbClr val="49A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4360" y="37947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Flattens Red Rover nested JSON</a:t>
            </a:r>
            <a:br/>
            <a:r>
              <a:t>  Extracts trends: 'HR rising 80→105'</a:t>
            </a:r>
            <a:br/>
            <a:r>
              <a:t>  Expands abbreviations: SOB → shortness of breath</a:t>
            </a:r>
            <a:br/>
            <a:r>
              <a:t>  Creates clinical narrative prose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97680" y="3337560"/>
            <a:ext cx="3566160" cy="22860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434840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6C93"/>
                </a:solidFill>
                <a:latin typeface="Calibri"/>
              </a:defRPr>
            </a:pPr>
            <a:r>
              <a:t>Stage 2: LLM Inference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34840" y="3703320"/>
            <a:ext cx="329184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34840" y="37947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Claude Sonnet 4.5 reads narrative</a:t>
            </a:r>
            <a:br/>
            <a:r>
              <a:t>  Reasons like ICU intensivist</a:t>
            </a:r>
            <a:br/>
            <a:r>
              <a:t>  Detects discordance (vitals vs notes)</a:t>
            </a:r>
            <a:br/>
            <a:r>
              <a:t>  Outputs risk score + rationale + confidence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38160" y="3337560"/>
            <a:ext cx="3566160" cy="228600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75320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Stage 3: Safety Guardrail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75320" y="3703320"/>
            <a:ext cx="329184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75320" y="37947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Calculates qSOFA, SIRS, SOFA (deterministic)</a:t>
            </a:r>
            <a:br/>
            <a:r>
              <a:t>  Overrides AI if vitals contradict score</a:t>
            </a:r>
            <a:br/>
            <a:r>
              <a:t>  Silent sepsis detection</a:t>
            </a:r>
            <a:br/>
            <a:r>
              <a:t>  850+ configurable parameters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069080" y="420624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ight Arrow 49"/>
          <p:cNvSpPr/>
          <p:nvPr/>
        </p:nvSpPr>
        <p:spPr>
          <a:xfrm>
            <a:off x="7909560" y="4206240"/>
            <a:ext cx="365760" cy="27432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457200" y="5852160"/>
            <a:ext cx="11247120" cy="82296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6C93"/>
                </a:solidFill>
                <a:latin typeface="Calibri"/>
              </a:defRPr>
            </a:pPr>
            <a:r>
              <a:t>API Output (~9.3s with Sonnet 4.5)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35508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Risk Score (0-100)  |  Priority  |  6h Probability  |  Clinical Rationale  |  Confidence + Reasoning  |  qSOFA, SIRS, SOFA  |  Guardrail Override flags  |  Audit trail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AI Capabilities — What Makes This Unique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2651760" cy="292608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6C93"/>
                </a:solidFill>
                <a:latin typeface="Calibri"/>
              </a:defRPr>
            </a:pPr>
            <a:r>
              <a:t>🔤  Narrative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508760"/>
            <a:ext cx="237744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Converts raw numbers to</a:t>
            </a:r>
            <a:br/>
            <a:r>
              <a:t>clinical prose with context</a:t>
            </a:r>
            <a:br/>
            <a:r>
              <a:t>'HR 105, rising from 80' →</a:t>
            </a:r>
            <a:br/>
            <a:r>
              <a:t>'Tachycardia with concerning</a:t>
            </a:r>
            <a:br/>
            <a:r>
              <a:t>upward trend suggesting</a:t>
            </a:r>
            <a:br/>
            <a:r>
              <a:t>compensatory response'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97280"/>
            <a:ext cx="2651760" cy="292608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1188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8A00"/>
                </a:solidFill>
                <a:latin typeface="Calibri"/>
              </a:defRPr>
            </a:pPr>
            <a:r>
              <a:t>⚠️  Discordance Detection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508760"/>
            <a:ext cx="2377440" cy="36576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16002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Catches 'Silent Sepsis'</a:t>
            </a:r>
            <a:br/>
            <a:r>
              <a:t>when numbers and notes</a:t>
            </a:r>
            <a:br/>
            <a:r>
              <a:t>contradict each other</a:t>
            </a:r>
            <a:br/>
            <a:r>
              <a:t>BP normal (115/70) BUT</a:t>
            </a:r>
            <a:br/>
            <a:r>
              <a:t>nurse: 'skin mottled' →</a:t>
            </a:r>
            <a:br/>
            <a:r>
              <a:t>HIGH RISK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097280"/>
            <a:ext cx="2651760" cy="292608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188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📐  Clinical Scores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508760"/>
            <a:ext cx="237744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6002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Deterministic (not AI):</a:t>
            </a:r>
            <a:br/>
            <a:r>
              <a:t>qSOFA (0-3): bedside screen</a:t>
            </a:r>
            <a:br/>
            <a:r>
              <a:t>SIRS (0-4): inflammation</a:t>
            </a:r>
            <a:br/>
            <a:r>
              <a:t>SOFA (0-24): organ failure</a:t>
            </a:r>
            <a:br/>
            <a:r>
              <a:t>Same math doctors use</a:t>
            </a:r>
            <a:br/>
            <a:r>
              <a:t>worldwide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097280"/>
            <a:ext cx="2651760" cy="292608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0" y="1188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E44AD"/>
                </a:solidFill>
                <a:latin typeface="Calibri"/>
              </a:defRPr>
            </a:pPr>
            <a:r>
              <a:t>💡  Confidence &amp; Transparency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508760"/>
            <a:ext cx="2377440" cy="3657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6002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Every prediction includes:</a:t>
            </a:r>
            <a:br/>
            <a:r>
              <a:t>Confidence level (H/M/L)</a:t>
            </a:r>
            <a:br/>
            <a:r>
              <a:t>WHY that confidence</a:t>
            </a:r>
            <a:br/>
            <a:r>
              <a:t>Written clinical rationale</a:t>
            </a:r>
            <a:br/>
            <a:r>
              <a:t>Doctor sees reasoning,</a:t>
            </a:r>
            <a:br/>
            <a:r>
              <a:t>not just a number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97680"/>
            <a:ext cx="3657600" cy="2286000"/>
          </a:xfrm>
          <a:prstGeom prst="roundRect">
            <a:avLst/>
          </a:prstGeom>
          <a:solidFill>
            <a:srgbClr val="FDEDEB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🛡️  Guardrail Safety 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8006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AI says Low risk BUT qSOFA &gt;= 2?</a:t>
            </a:r>
            <a:br/>
            <a:r>
              <a:t>  → Guardrail OVERRIDES to High</a:t>
            </a:r>
            <a:br/>
            <a:r>
              <a:t>  AI never has the final word</a:t>
            </a:r>
            <a:br/>
            <a:r>
              <a:t>  Deterministic rules are the safety net</a:t>
            </a:r>
            <a:br/>
            <a:r>
              <a:t>  Every override logged for audit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4297680"/>
            <a:ext cx="3657600" cy="22860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26280" y="4434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6C93"/>
                </a:solidFill>
                <a:latin typeface="Calibri"/>
              </a:defRPr>
            </a:pPr>
            <a:r>
              <a:t>📋  Audit Trail &amp;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8006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Every prediction logged as JSON</a:t>
            </a:r>
            <a:br/>
            <a:r>
              <a:t>  Request ID, timestamp, model version</a:t>
            </a:r>
            <a:br/>
            <a:r>
              <a:t>  No PHI in logs (HIPAA safe)</a:t>
            </a:r>
            <a:br/>
            <a:r>
              <a:t>  CloudWatch via EKS stdout</a:t>
            </a:r>
            <a:br/>
            <a:r>
              <a:t>  Full accountability &amp; traceability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297680"/>
            <a:ext cx="3657600" cy="228600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66760" y="4434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🔄  Doctor Feedback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8006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Doctor agrees/disagrees with score</a:t>
            </a:r>
            <a:br/>
            <a:r>
              <a:t>  Feedback stored in MongoDB</a:t>
            </a:r>
            <a:br/>
            <a:r>
              <a:t>  Analysis script detects calibration drift</a:t>
            </a:r>
            <a:br/>
            <a:r>
              <a:t>  Insights fed back into AI prompt</a:t>
            </a:r>
            <a:br/>
            <a:r>
              <a:t>  System learns from every case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Hospital-Specific Configuration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Each hospital has unique patient populations, protocols, and thresholds — the system adapts to each.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82296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80560" y="1417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⚙️  Sepsis GenAI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DDEE"/>
                </a:solidFill>
                <a:latin typeface="Calibri"/>
              </a:defRPr>
            </a:pPr>
            <a:r>
              <a:t>Shared AI + Guardrail Pipeline</a:t>
            </a:r>
          </a:p>
        </p:txBody>
      </p:sp>
      <p:sp>
        <p:nvSpPr>
          <p:cNvPr id="9" name="Down Arrow 8"/>
          <p:cNvSpPr/>
          <p:nvPr/>
        </p:nvSpPr>
        <p:spPr>
          <a:xfrm>
            <a:off x="5852160" y="2240280"/>
            <a:ext cx="365760" cy="320040"/>
          </a:xfrm>
          <a:prstGeom prst="downArrow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Calibri"/>
              </a:defRPr>
            </a:pPr>
            <a:r>
              <a:t>Loads hospital-specific config at runtime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697480"/>
            <a:ext cx="7589520" cy="411480"/>
          </a:xfrm>
          <a:prstGeom prst="round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77440" y="2743200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📋  Configuration Layer — 850+ Parameters — API-Managed by Clinical SMEs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011680" y="3154680"/>
            <a:ext cx="365760" cy="320040"/>
          </a:xfrm>
          <a:prstGeom prst="down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200" y="3611880"/>
            <a:ext cx="3566160" cy="2377440"/>
          </a:xfrm>
          <a:prstGeom prst="roundRect">
            <a:avLst/>
          </a:prstGeom>
          <a:solidFill>
            <a:srgbClr val="FDEDEB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4C3C"/>
                </a:solidFill>
                <a:latin typeface="Calibri"/>
              </a:defRPr>
            </a:pPr>
            <a:r>
              <a:t>🏥  Trauma Center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977639"/>
            <a:ext cx="3291840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40690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HR threshold: 130 (trauma)</a:t>
            </a:r>
            <a:br/>
            <a:r>
              <a:t>  Lactate critical: 4.0</a:t>
            </a:r>
            <a:br/>
            <a:r>
              <a:t>  Override: Aggressive</a:t>
            </a:r>
            <a:br/>
            <a:r>
              <a:t>  qSOFA: Primary screen</a:t>
            </a:r>
            <a:br/>
            <a:r>
              <a:t>  Escalation: Immediate page</a:t>
            </a:r>
            <a:br/>
            <a:r>
              <a:t>  Sepsis bundles: Trauma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52160" y="3154680"/>
            <a:ext cx="365760" cy="320040"/>
          </a:xfrm>
          <a:prstGeom prst="down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297680" y="3611880"/>
            <a:ext cx="3566160" cy="23774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6C93"/>
                </a:solidFill>
                <a:latin typeface="Calibri"/>
              </a:defRPr>
            </a:pPr>
            <a:r>
              <a:t>🏥  Community Hospital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3977639"/>
            <a:ext cx="329184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34840" y="40690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HR threshold: 140 (standard)</a:t>
            </a:r>
            <a:br/>
            <a:r>
              <a:t>  Lactate critical: 4.0</a:t>
            </a:r>
            <a:br/>
            <a:r>
              <a:t>  Override: Standard</a:t>
            </a:r>
            <a:br/>
            <a:r>
              <a:t>  SIRS: Primary screen</a:t>
            </a:r>
            <a:br/>
            <a:r>
              <a:t>  Escalation: 15-min window</a:t>
            </a:r>
            <a:br/>
            <a:r>
              <a:t>  Bundles: Standard SEP-1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9692640" y="3154680"/>
            <a:ext cx="365760" cy="320040"/>
          </a:xfrm>
          <a:prstGeom prst="downArrow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138160" y="3611880"/>
            <a:ext cx="3566160" cy="237744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7532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8E44AD"/>
                </a:solidFill>
                <a:latin typeface="Calibri"/>
              </a:defRPr>
            </a:pPr>
            <a:r>
              <a:t>🏥  Pediatric Center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20" y="3977639"/>
            <a:ext cx="3291840" cy="3657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20" y="40690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HR threshold: Age-adjusted</a:t>
            </a:r>
            <a:br/>
            <a:r>
              <a:t>  Lactate critical: 3.0 (peds)</a:t>
            </a:r>
            <a:br/>
            <a:r>
              <a:t>  Override: Conservative</a:t>
            </a:r>
            <a:br/>
            <a:r>
              <a:t>  pSOFA: Pediatric scoring</a:t>
            </a:r>
            <a:br/>
            <a:r>
              <a:t>  Escalation: Attending + parent</a:t>
            </a:r>
            <a:br/>
            <a:r>
              <a:t>  Bundles: Peds-adapted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217920"/>
            <a:ext cx="11247120" cy="45720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62636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SME Workflow: GET /guardrail/config (view) → PUT /guardrail/config (update) → Test in-memory → Deploy to production → Export for audit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210312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6C93"/>
                </a:solidFill>
                <a:latin typeface="Calibri"/>
              </a:defRPr>
            </a:pPr>
            <a:r>
              <a:t>LLM Selection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3200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7 LLMs evaluated, 4 tested live</a:t>
            </a:r>
            <a:br/>
            <a:r>
              <a:t>  Sonnet 4.5: best speed-quality balance</a:t>
            </a:r>
            <a:br/>
            <a:r>
              <a:t>  Opus 4.6: reserved for validation</a:t>
            </a:r>
            <a:br/>
            <a:r>
              <a:t>  Model swap = 1 config change</a:t>
            </a:r>
            <a:br/>
            <a:r>
              <a:t>  Full comparison in docs/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657600" cy="210312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Architecture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600200"/>
            <a:ext cx="3200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3-stage pipeline end-to-end</a:t>
            </a:r>
            <a:br/>
            <a:r>
              <a:t>  Hospital → Cerner → Red Rover → AI</a:t>
            </a:r>
            <a:br/>
            <a:r>
              <a:t>  Narrative intelligence + discordance</a:t>
            </a:r>
            <a:br/>
            <a:r>
              <a:t>  Deterministic safety scores</a:t>
            </a:r>
            <a:br/>
            <a:r>
              <a:t>  Full audit trail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097280"/>
            <a:ext cx="3657600" cy="210312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Hospital Config 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00200"/>
            <a:ext cx="3200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850+ configurable parameters</a:t>
            </a:r>
            <a:br/>
            <a:r>
              <a:t>  API-managed (no code changes)</a:t>
            </a:r>
            <a:br/>
            <a:r>
              <a:t>  Per-hospital customization ready</a:t>
            </a:r>
            <a:br/>
            <a:r>
              <a:t>  Hot-reload, audit export</a:t>
            </a:r>
            <a:br/>
            <a:r>
              <a:t>  Scales to multi-facility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6C93"/>
                </a:solidFill>
                <a:latin typeface="Calibri"/>
              </a:defRPr>
            </a:pPr>
            <a:r>
              <a:t>Proposed Next Steps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794760"/>
            <a:ext cx="1051560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31520" y="4023360"/>
            <a:ext cx="411480" cy="41148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069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Upgrade to Sonnet 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0690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Deploy Sonnet 4.5 to production EKS — one env variable change, zero downtime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681728"/>
            <a:ext cx="411480" cy="411480"/>
          </a:xfrm>
          <a:prstGeom prst="ellipse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274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8A00"/>
                </a:solidFill>
                <a:latin typeface="Calibri"/>
              </a:defRPr>
            </a:pPr>
            <a:r>
              <a:t>SJSA Data 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72744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Complete Red Rover API setup for sepsis alert codes — meeting with Red Rover held today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5340096"/>
            <a:ext cx="411480" cy="41148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858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Calibri"/>
              </a:defRPr>
            </a:pPr>
            <a:r>
              <a:t>Retrospective Validation with Opus 4.6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5385816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Run historical patient data through Opus 4.6 to measure actual lead time and accuracy</a:t>
            </a:r>
          </a:p>
        </p:txBody>
      </p:sp>
      <p:sp>
        <p:nvSpPr>
          <p:cNvPr id="25" name="Oval 24"/>
          <p:cNvSpPr/>
          <p:nvPr/>
        </p:nvSpPr>
        <p:spPr>
          <a:xfrm>
            <a:off x="731520" y="5998464"/>
            <a:ext cx="411480" cy="411480"/>
          </a:xfrm>
          <a:prstGeom prst="ellipse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60441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6C93"/>
                </a:solidFill>
                <a:latin typeface="Calibri"/>
              </a:defRPr>
            </a:pPr>
            <a:r>
              <a:t>Multi-Hospital 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6044184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Deploy with hospital-specific configs at 2 facilities, compare outcomes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1812</Words>
  <Application>Microsoft Macintosh PowerPoint</Application>
  <PresentationFormat>Widescreen</PresentationFormat>
  <Paragraphs>218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Sachin Jadhav</cp:lastModifiedBy>
  <cp:revision>2</cp:revision>
  <dcterms:created xsi:type="dcterms:W3CDTF">2013-01-27T09:14:16Z</dcterms:created>
  <dcterms:modified xsi:type="dcterms:W3CDTF">2026-04-03T07:06:24Z</dcterms:modified>
  <cp:category/>
</cp:coreProperties>
</file>
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6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0" y="2103120"/>
            <a:ext cx="8503920" cy="36576"/>
          </a:xfrm>
          <a:prstGeom prst="rect">
            <a:avLst/>
          </a:prstGeom>
          <a:solidFill>
            <a:srgbClr val="1E6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228600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0C343D"/>
                </a:solidFill>
                <a:latin typeface="Calibri"/>
              </a:defRPr>
            </a:pPr>
            <a:r>
              <a:t>Sepsis GenAI — Technical 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20040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1E6C93"/>
                </a:solidFill>
                <a:latin typeface="Calibri"/>
              </a:defRPr>
            </a:pPr>
            <a:r>
              <a:t>LLM Selection  |  System Architecture  |  Hospital Configurability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402336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4A5A6A"/>
                </a:solidFill>
                <a:latin typeface="Calibri"/>
              </a:defRPr>
            </a:pPr>
            <a:r>
              <a:t>Follow-up to Leadership Review  |  April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0" y="4572000"/>
            <a:ext cx="8503920" cy="36576"/>
          </a:xfrm>
          <a:prstGeom prst="rect">
            <a:avLst/>
          </a:prstGeom>
          <a:solidFill>
            <a:srgbClr val="1E6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6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C343D"/>
                </a:solidFill>
                <a:latin typeface="Calibri"/>
              </a:defRPr>
            </a:pPr>
            <a:r>
              <a:t>LLM Selection — Systematic Narrowing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3200400" cy="36576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5A6A"/>
                </a:solidFill>
                <a:latin typeface="Calibri"/>
              </a:defRPr>
            </a:pPr>
            <a:r>
              <a:t>100+ LLMs exist today. We applied 4 filters to find the right one for clinical sepsis prediction.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A5A6A"/>
                </a:solidFill>
                <a:latin typeface="Calibri"/>
              </a:defRPr>
            </a:pPr>
            <a:r>
              <a:t>All LLMs Considered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1371600" cy="822960"/>
          </a:xfrm>
          <a:prstGeom prst="roundRect">
            <a:avLst/>
          </a:prstGeom>
          <a:solidFill>
            <a:srgbClr val="1E6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GPT-4o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DDDDDD"/>
                </a:solidFill>
                <a:latin typeface="Calibri"/>
              </a:defRPr>
            </a:pPr>
            <a:r>
              <a:t>Azure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31720" y="1691640"/>
            <a:ext cx="1371600" cy="82296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77440" y="17190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Claude</a:t>
            </a:r>
            <a:br/>
            <a:r>
              <a:t>Sonnet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219456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DDDDDD"/>
                </a:solidFill>
                <a:latin typeface="Calibri"/>
              </a:defRPr>
            </a:pPr>
            <a:r>
              <a:t>AWS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31920" y="1691640"/>
            <a:ext cx="1371600" cy="822960"/>
          </a:xfrm>
          <a:prstGeom prst="roundRect">
            <a:avLst/>
          </a:prstGeom>
          <a:solidFill>
            <a:srgbClr val="E6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77639" y="17190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Gemini</a:t>
            </a:r>
            <a:br/>
            <a:r>
              <a:t>1.5 Pro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77639" y="219456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DDDDDD"/>
                </a:solidFill>
                <a:latin typeface="Calibri"/>
              </a:defRPr>
            </a:pPr>
            <a:r>
              <a:t>Google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532120" y="1691640"/>
            <a:ext cx="1371600" cy="82296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77840" y="17190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Llama 3</a:t>
            </a:r>
            <a:br/>
            <a:r>
              <a:t>70B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77840" y="219456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DDDDDD"/>
                </a:solidFill>
                <a:latin typeface="Calibri"/>
              </a:defRPr>
            </a:pPr>
            <a:r>
              <a:t>Meta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691640"/>
            <a:ext cx="1371600" cy="822960"/>
          </a:xfrm>
          <a:prstGeom prst="round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78040" y="17190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Mistral</a:t>
            </a:r>
            <a:br/>
            <a:r>
              <a:t>Large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78040" y="219456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DDDDDD"/>
                </a:solidFill>
                <a:latin typeface="Calibri"/>
              </a:defRPr>
            </a:pPr>
            <a:r>
              <a:t>Mistral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32520" y="1691640"/>
            <a:ext cx="1371600" cy="822960"/>
          </a:xfrm>
          <a:prstGeom prst="roundRect">
            <a:avLst/>
          </a:prstGeom>
          <a:solidFill>
            <a:srgbClr val="49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0" y="17190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Med-</a:t>
            </a:r>
            <a:br/>
            <a:r>
              <a:t>PaLM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219456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DDDDDD"/>
                </a:solidFill>
                <a:latin typeface="Calibri"/>
              </a:defRPr>
            </a:pPr>
            <a:r>
              <a:t>Google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32720" y="1691640"/>
            <a:ext cx="1371600" cy="822960"/>
          </a:xfrm>
          <a:prstGeom prst="roundRect">
            <a:avLst/>
          </a:prstGeom>
          <a:solidFill>
            <a:srgbClr val="4A5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378440" y="17190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Cohere</a:t>
            </a:r>
            <a:br/>
            <a:r>
              <a:t>R+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78440" y="219456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DDDDDD"/>
                </a:solidFill>
                <a:latin typeface="Calibri"/>
              </a:defRPr>
            </a:pPr>
            <a:r>
              <a:t>Cohere</a:t>
            </a:r>
          </a:p>
        </p:txBody>
      </p:sp>
      <p:sp>
        <p:nvSpPr>
          <p:cNvPr id="28" name="Down Arrow 27"/>
          <p:cNvSpPr/>
          <p:nvPr/>
        </p:nvSpPr>
        <p:spPr>
          <a:xfrm>
            <a:off x="5760720" y="2606040"/>
            <a:ext cx="411480" cy="320040"/>
          </a:xfrm>
          <a:prstGeom prst="downArrow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26060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74C3C"/>
                </a:solidFill>
                <a:latin typeface="Calibri"/>
              </a:defRPr>
            </a:pPr>
            <a:r>
              <a:t>Filter 1: Must run on AWS (PHI stays in-boundary)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3017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6C93"/>
                </a:solidFill>
                <a:latin typeface="Calibri"/>
              </a:defRPr>
            </a:pPr>
            <a:r>
              <a:t>AWS Bedrock Native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1520" y="3337560"/>
            <a:ext cx="2011680" cy="548640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338328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C343D"/>
                </a:solidFill>
                <a:latin typeface="Calibri"/>
              </a:defRPr>
            </a:pPr>
            <a:r>
              <a:t>Claude Sonnet 4/4.5/4.6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971800" y="3337560"/>
            <a:ext cx="2011680" cy="548640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63240" y="338328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C343D"/>
                </a:solidFill>
                <a:latin typeface="Calibri"/>
              </a:defRPr>
            </a:pPr>
            <a:r>
              <a:t>Claude Opus 4.1/4.5/4.6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212080" y="3337560"/>
            <a:ext cx="2011680" cy="548640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03520" y="338328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C343D"/>
                </a:solidFill>
                <a:latin typeface="Calibri"/>
              </a:defRPr>
            </a:pPr>
            <a:r>
              <a:t>Claude Haiku 4.5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452360" y="3337560"/>
            <a:ext cx="2011680" cy="548640"/>
          </a:xfrm>
          <a:prstGeom prst="roundRect">
            <a:avLst/>
          </a:prstGeom>
          <a:solidFill>
            <a:srgbClr val="FDEDEB"/>
          </a:solidFill>
          <a:ln w="12700">
            <a:solidFill>
              <a:srgbClr val="E74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543800" y="338328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C343D"/>
                </a:solidFill>
                <a:latin typeface="Calibri"/>
              </a:defRPr>
            </a:pPr>
            <a:r>
              <a:t>Llama 3 (SageMaker)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692640" y="3337560"/>
            <a:ext cx="2011680" cy="548640"/>
          </a:xfrm>
          <a:prstGeom prst="roundRect">
            <a:avLst/>
          </a:prstGeom>
          <a:solidFill>
            <a:srgbClr val="FDEDEB"/>
          </a:solidFill>
          <a:ln w="12700">
            <a:solidFill>
              <a:srgbClr val="E74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84080" y="338328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C343D"/>
                </a:solidFill>
                <a:latin typeface="Calibri"/>
              </a:defRPr>
            </a:pPr>
            <a:r>
              <a:t>Mistral Large</a:t>
            </a:r>
          </a:p>
        </p:txBody>
      </p:sp>
      <p:sp>
        <p:nvSpPr>
          <p:cNvPr id="41" name="Down Arrow 40"/>
          <p:cNvSpPr/>
          <p:nvPr/>
        </p:nvSpPr>
        <p:spPr>
          <a:xfrm>
            <a:off x="5760720" y="3977639"/>
            <a:ext cx="411480" cy="320040"/>
          </a:xfrm>
          <a:prstGeom prst="downArrow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3977639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74C3C"/>
                </a:solidFill>
                <a:latin typeface="Calibri"/>
              </a:defRPr>
            </a:pPr>
            <a:r>
              <a:t>Filter 2: Managed service + ACTIVE status (not LEGACY)</a:t>
            </a:r>
          </a:p>
        </p:txBody>
      </p:sp>
      <p:sp>
        <p:nvSpPr>
          <p:cNvPr id="43" name="Down Arrow 42"/>
          <p:cNvSpPr/>
          <p:nvPr/>
        </p:nvSpPr>
        <p:spPr>
          <a:xfrm>
            <a:off x="5760720" y="4389120"/>
            <a:ext cx="411480" cy="320040"/>
          </a:xfrm>
          <a:prstGeom prst="downArrow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0" y="43891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74C3C"/>
                </a:solidFill>
                <a:latin typeface="Calibri"/>
              </a:defRPr>
            </a:pPr>
            <a:r>
              <a:t>Filter 3: Clinical reasoning quality + cost-effectiveness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48006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7AE60"/>
                </a:solidFill>
                <a:latin typeface="Calibri"/>
              </a:defRPr>
            </a:pPr>
            <a:r>
              <a:t>Head-to-Head Tested (32 Runs, 8 Patients)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31520" y="5120640"/>
            <a:ext cx="2560320" cy="1371600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1E6C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2960" y="51663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E6C93"/>
                </a:solidFill>
                <a:latin typeface="Calibri"/>
              </a:defRPr>
            </a:pPr>
            <a:r>
              <a:t>Claude Sonnet 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5440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C343D"/>
                </a:solidFill>
                <a:latin typeface="Calibri"/>
              </a:defRPr>
            </a:pPr>
            <a:r>
              <a:t>4.4s | $10.31/1K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566928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A6A"/>
                </a:solidFill>
                <a:latin typeface="Calibri"/>
              </a:defRPr>
            </a:pPr>
            <a:r>
              <a:t>Previous production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520439" y="5120640"/>
            <a:ext cx="2560320" cy="1371600"/>
          </a:xfrm>
          <a:prstGeom prst="roundRect">
            <a:avLst/>
          </a:prstGeom>
          <a:solidFill>
            <a:srgbClr val="E8F8EF"/>
          </a:solidFill>
          <a:ln w="1270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11879" y="51663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7AE60"/>
                </a:solidFill>
                <a:latin typeface="Calibri"/>
              </a:defRPr>
            </a:pPr>
            <a:r>
              <a:t>Claude Sonnet 4.5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11879" y="5440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C343D"/>
                </a:solidFill>
                <a:latin typeface="Calibri"/>
              </a:defRPr>
            </a:pPr>
            <a:r>
              <a:t>8.4s | $12.45/1K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611879" y="566928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7AE60"/>
                </a:solidFill>
                <a:latin typeface="Calibri"/>
              </a:defRPr>
            </a:pPr>
            <a:r>
              <a:t>✅ DEPLOYED Apr 8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309359" y="5120640"/>
            <a:ext cx="2560320" cy="1371600"/>
          </a:xfrm>
          <a:prstGeom prst="roundRect">
            <a:avLst/>
          </a:prstGeom>
          <a:solidFill>
            <a:srgbClr val="FEF5E7"/>
          </a:solidFill>
          <a:ln w="12700">
            <a:solidFill>
              <a:srgbClr val="E6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00800" y="51663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68A00"/>
                </a:solidFill>
                <a:latin typeface="Calibri"/>
              </a:defRPr>
            </a:pPr>
            <a:r>
              <a:t>Claude Sonnet 4.6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800" y="5440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C343D"/>
                </a:solidFill>
                <a:latin typeface="Calibri"/>
              </a:defRPr>
            </a:pPr>
            <a:r>
              <a:t>13.9s | $16.92/1K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00800" y="566928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A6A"/>
                </a:solidFill>
                <a:latin typeface="Calibri"/>
              </a:defRPr>
            </a:pPr>
            <a:r>
              <a:t>Slower, costlier than 4.5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098280" y="5120640"/>
            <a:ext cx="2560320" cy="1371600"/>
          </a:xfrm>
          <a:prstGeom prst="roundRect">
            <a:avLst/>
          </a:prstGeom>
          <a:solidFill>
            <a:srgbClr val="F4ECF7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189719" y="51663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E44AD"/>
                </a:solidFill>
                <a:latin typeface="Calibri"/>
              </a:defRPr>
            </a:pPr>
            <a:r>
              <a:t>Claude Opus 4.6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189719" y="5440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C343D"/>
                </a:solidFill>
                <a:latin typeface="Calibri"/>
              </a:defRPr>
            </a:pPr>
            <a:r>
              <a:t>15.3s | $28.98/1K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89719" y="566928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A6A"/>
                </a:solidFill>
                <a:latin typeface="Calibri"/>
              </a:defRPr>
            </a:pPr>
            <a:r>
              <a:t>Deepest reasoning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6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C343D"/>
                </a:solidFill>
                <a:latin typeface="Calibri"/>
              </a:defRPr>
            </a:pPr>
            <a:r>
              <a:t>Full Test Results — 8 Patients x 4 Models (32 Runs)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3200400" cy="36576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A6A"/>
                </a:solidFill>
                <a:latin typeface="Calibri"/>
              </a:defRPr>
            </a:pPr>
            <a:r>
              <a:t>Every model tested against the same 8 patients with the same prompt — April 8,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80160"/>
            <a:ext cx="11247120" cy="365760"/>
          </a:xfrm>
          <a:prstGeom prst="roundRect">
            <a:avLst/>
          </a:prstGeom>
          <a:solidFill>
            <a:srgbClr val="1E6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298448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Patient 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129844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Case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40" y="1298448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Expected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83480" y="129844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Sonnet 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298448"/>
            <a:ext cx="1691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Sonnet 4.5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1298448"/>
            <a:ext cx="1691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Sonnet 4.6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21240" y="129844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Opus 4.6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1691640"/>
            <a:ext cx="11247120" cy="338328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170992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C343D"/>
                </a:solidFill>
                <a:latin typeface="Calibri"/>
              </a:defRPr>
            </a:pPr>
            <a:r>
              <a:t>TREND_DEMO_001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170992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C343D"/>
                </a:solidFill>
                <a:latin typeface="Calibri"/>
              </a:defRPr>
            </a:pPr>
            <a:r>
              <a:t>Post-op, trending vitals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77640" y="170992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83480" y="17099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72 High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1709928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7AE60"/>
                </a:solidFill>
                <a:latin typeface="Calibri"/>
              </a:defRPr>
            </a:pPr>
            <a:r>
              <a:t>72 High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1709928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72 High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21240" y="170992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72 High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2057400"/>
            <a:ext cx="11247120" cy="3383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207568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C343D"/>
                </a:solidFill>
                <a:latin typeface="Calibri"/>
              </a:defRPr>
            </a:pPr>
            <a:r>
              <a:t>NOTES_DEMO_001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65960" y="207568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C343D"/>
                </a:solidFill>
                <a:latin typeface="Calibri"/>
              </a:defRPr>
            </a:pPr>
            <a:r>
              <a:t>UTI + confusion + mottling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77640" y="207568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83480" y="207568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75 High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2075688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7AE60"/>
                </a:solidFill>
                <a:latin typeface="Calibri"/>
              </a:defRPr>
            </a:pPr>
            <a:r>
              <a:t>72 High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2075688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78 High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21240" y="20756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74 High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2423160"/>
            <a:ext cx="11247120" cy="338328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44144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C343D"/>
                </a:solidFill>
                <a:latin typeface="Calibri"/>
              </a:defRPr>
            </a:pPr>
            <a:r>
              <a:t>GENAI_TEST_001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65960" y="244144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C343D"/>
                </a:solidFill>
                <a:latin typeface="Calibri"/>
              </a:defRPr>
            </a:pPr>
            <a:r>
              <a:t>Normal healthy post-op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77640" y="24414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Standard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83480" y="24414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27AE60"/>
                </a:solidFill>
                <a:latin typeface="Calibri"/>
              </a:defRPr>
            </a:pPr>
            <a:r>
              <a:t>15 Std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37960" y="2441448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7AE60"/>
                </a:solidFill>
                <a:latin typeface="Calibri"/>
              </a:defRPr>
            </a:pPr>
            <a:r>
              <a:t>15 Std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0" y="2441448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27AE60"/>
                </a:solidFill>
                <a:latin typeface="Calibri"/>
              </a:defRPr>
            </a:pPr>
            <a:r>
              <a:t>8 Std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21240" y="244144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27AE60"/>
                </a:solidFill>
                <a:latin typeface="Calibri"/>
              </a:defRPr>
            </a:pPr>
            <a:r>
              <a:t>8 Std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7200" y="2788920"/>
            <a:ext cx="11247120" cy="3383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280720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C343D"/>
                </a:solidFill>
                <a:latin typeface="Calibri"/>
              </a:defRPr>
            </a:pPr>
            <a:r>
              <a:t>GENAI_TEST_002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65960" y="280720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C343D"/>
                </a:solidFill>
                <a:latin typeface="Calibri"/>
              </a:defRPr>
            </a:pPr>
            <a:r>
              <a:t>Silent sepsis — notes concern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977640" y="280720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83480" y="28072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65 High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37960" y="2807208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7AE60"/>
                </a:solidFill>
                <a:latin typeface="Calibri"/>
              </a:defRPr>
            </a:pPr>
            <a:r>
              <a:t>72 High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0" y="2807208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72 High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921240" y="280720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68 High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3154680"/>
            <a:ext cx="11247120" cy="338328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17296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C343D"/>
                </a:solidFill>
                <a:latin typeface="Calibri"/>
              </a:defRPr>
            </a:pPr>
            <a:r>
              <a:t>GENAI_TEST_003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965960" y="317296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C343D"/>
                </a:solidFill>
                <a:latin typeface="Calibri"/>
              </a:defRPr>
            </a:pPr>
            <a:r>
              <a:t>SIRS — inflammatory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977640" y="317296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983480" y="31729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72 High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37960" y="3172968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7AE60"/>
                </a:solidFill>
                <a:latin typeface="Calibri"/>
              </a:defRPr>
            </a:pPr>
            <a:r>
              <a:t>72 High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0" y="3172968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72 High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21240" y="317296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72 High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57200" y="3520440"/>
            <a:ext cx="11247120" cy="3383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2920" y="353872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C343D"/>
                </a:solidFill>
                <a:latin typeface="Calibri"/>
              </a:defRPr>
            </a:pPr>
            <a:r>
              <a:t>GENAI_TEST_004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965960" y="353872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C343D"/>
                </a:solidFill>
                <a:latin typeface="Calibri"/>
              </a:defRPr>
            </a:pPr>
            <a:r>
              <a:t>Sepsis — organ dysfunction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77640" y="353872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E74C3C"/>
                </a:solidFill>
                <a:latin typeface="Calibri"/>
              </a:defRPr>
            </a:pPr>
            <a:r>
              <a:t>Critical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983480" y="35387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E74C3C"/>
                </a:solidFill>
                <a:latin typeface="Calibri"/>
              </a:defRPr>
            </a:pPr>
            <a:r>
              <a:t>95 Crit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37960" y="3538728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E74C3C"/>
                </a:solidFill>
                <a:latin typeface="Calibri"/>
              </a:defRPr>
            </a:pPr>
            <a:r>
              <a:t>92 Crit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29600" y="3538728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E74C3C"/>
                </a:solidFill>
                <a:latin typeface="Calibri"/>
              </a:defRPr>
            </a:pPr>
            <a:r>
              <a:t>92 Crit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921240" y="353872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E74C3C"/>
                </a:solidFill>
                <a:latin typeface="Calibri"/>
              </a:defRPr>
            </a:pPr>
            <a:r>
              <a:t>92 Crit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57200" y="3886200"/>
            <a:ext cx="11247120" cy="338328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02920" y="3904487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C343D"/>
                </a:solidFill>
                <a:latin typeface="Calibri"/>
              </a:defRPr>
            </a:pPr>
            <a:r>
              <a:t>GENAI_TEST_005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65960" y="390448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C343D"/>
                </a:solidFill>
                <a:latin typeface="Calibri"/>
              </a:defRPr>
            </a:pPr>
            <a:r>
              <a:t>Severe sepsis — multi-organ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77640" y="390448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E74C3C"/>
                </a:solidFill>
                <a:latin typeface="Calibri"/>
              </a:defRPr>
            </a:pPr>
            <a:r>
              <a:t>Critical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983480" y="39044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E74C3C"/>
                </a:solidFill>
                <a:latin typeface="Calibri"/>
              </a:defRPr>
            </a:pPr>
            <a:r>
              <a:t>95 Crit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537960" y="3904487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E74C3C"/>
                </a:solidFill>
                <a:latin typeface="Calibri"/>
              </a:defRPr>
            </a:pPr>
            <a:r>
              <a:t>98 Crit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29600" y="3904487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E74C3C"/>
                </a:solidFill>
                <a:latin typeface="Calibri"/>
              </a:defRPr>
            </a:pPr>
            <a:r>
              <a:t>97 Crit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921240" y="3904487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E74C3C"/>
                </a:solidFill>
                <a:latin typeface="Calibri"/>
              </a:defRPr>
            </a:pPr>
            <a:r>
              <a:t>97 Crit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57200" y="4251960"/>
            <a:ext cx="11247120" cy="3383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2920" y="427024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C343D"/>
                </a:solidFill>
                <a:latin typeface="Calibri"/>
              </a:defRPr>
            </a:pPr>
            <a:r>
              <a:t>GENAI_TEST_006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965960" y="427024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C343D"/>
                </a:solidFill>
                <a:latin typeface="Calibri"/>
              </a:defRPr>
            </a:pPr>
            <a:r>
              <a:t>Septic shock — refractory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77640" y="42702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E74C3C"/>
                </a:solidFill>
                <a:latin typeface="Calibri"/>
              </a:defRPr>
            </a:pPr>
            <a:r>
              <a:t>Critical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983480" y="42702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E74C3C"/>
                </a:solidFill>
                <a:latin typeface="Calibri"/>
              </a:defRPr>
            </a:pPr>
            <a:r>
              <a:t>95 Crit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537960" y="4270248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E74C3C"/>
                </a:solidFill>
                <a:latin typeface="Calibri"/>
              </a:defRPr>
            </a:pPr>
            <a:r>
              <a:t>98 Crit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229600" y="4270248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E74C3C"/>
                </a:solidFill>
                <a:latin typeface="Calibri"/>
              </a:defRPr>
            </a:pPr>
            <a:r>
              <a:t>99 Crit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921240" y="427024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E74C3C"/>
                </a:solidFill>
                <a:latin typeface="Calibri"/>
              </a:defRPr>
            </a:pPr>
            <a:r>
              <a:t>99 Crit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" y="47091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6C93"/>
                </a:solidFill>
                <a:latin typeface="Calibri"/>
              </a:defRPr>
            </a:pPr>
            <a:r>
              <a:t>Model Averages (across 8 patients)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457200" y="5029200"/>
            <a:ext cx="11247120" cy="365760"/>
          </a:xfrm>
          <a:prstGeom prst="roundRect">
            <a:avLst/>
          </a:prstGeom>
          <a:solidFill>
            <a:srgbClr val="1E6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02920" y="50474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Metric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88920" y="5047488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Sonnet 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92040" y="504748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Sonnet 4.5 ✅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360920" y="5047488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Sonnet 4.6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555480" y="5047488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Opus 4.6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457200" y="5440680"/>
            <a:ext cx="11247120" cy="310896"/>
          </a:xfrm>
          <a:prstGeom prst="roundRect">
            <a:avLst/>
          </a:prstGeom>
          <a:solidFill>
            <a:srgbClr val="E8F8EF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02920" y="545896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C343D"/>
                </a:solidFill>
                <a:latin typeface="Calibri"/>
              </a:defRPr>
            </a:pPr>
            <a:r>
              <a:t>Avg Response Time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788920" y="5458968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4.4 sec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892040" y="5458968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7AE60"/>
                </a:solidFill>
                <a:latin typeface="Calibri"/>
              </a:defRPr>
            </a:pPr>
            <a:r>
              <a:t>8.4 sec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360920" y="5458968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13.9 sec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555480" y="5458968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15.3 sec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57200" y="5779008"/>
            <a:ext cx="1124712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02920" y="5797296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C343D"/>
                </a:solidFill>
                <a:latin typeface="Calibri"/>
              </a:defRPr>
            </a:pPr>
            <a:r>
              <a:t>Avg Cost / 1K Patients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88920" y="5797296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$10.31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892040" y="5797296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7AE60"/>
                </a:solidFill>
                <a:latin typeface="Calibri"/>
              </a:defRPr>
            </a:pPr>
            <a:r>
              <a:t>$12.45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60920" y="5797296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$16.92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555480" y="5797296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$28.98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457200" y="6117336"/>
            <a:ext cx="11247120" cy="310896"/>
          </a:xfrm>
          <a:prstGeom prst="roundRect">
            <a:avLst/>
          </a:prstGeom>
          <a:solidFill>
            <a:srgbClr val="E8F8EF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02920" y="613562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C343D"/>
                </a:solidFill>
                <a:latin typeface="Calibri"/>
              </a:defRPr>
            </a:pPr>
            <a:r>
              <a:t>JSON Valid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788920" y="6135624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8/8 (100%)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92040" y="6135624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7AE60"/>
                </a:solidFill>
                <a:latin typeface="Calibri"/>
              </a:defRPr>
            </a:pPr>
            <a:r>
              <a:t>8/8 (100%)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360920" y="6135624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8/8 (100%)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555480" y="6135624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8/8 (100%)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457200" y="6455664"/>
            <a:ext cx="1124712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E4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502920" y="647395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C343D"/>
                </a:solidFill>
                <a:latin typeface="Calibri"/>
              </a:defRPr>
            </a:pPr>
            <a:r>
              <a:t>Priority Match to Expected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788920" y="647395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92040" y="6473952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7AE60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360920" y="6473952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555480" y="6473952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8/8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6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C343D"/>
                </a:solidFill>
                <a:latin typeface="Calibri"/>
              </a:defRPr>
            </a:pPr>
            <a:r>
              <a:t>LLM Recommendation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3200400" cy="36576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3657600" cy="2560320"/>
          </a:xfrm>
          <a:prstGeom prst="roundRect">
            <a:avLst/>
          </a:prstGeom>
          <a:solidFill>
            <a:srgbClr val="E8F8EF"/>
          </a:solidFill>
          <a:ln w="1270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3443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7AE60"/>
                </a:solidFill>
                <a:latin typeface="Calibri"/>
              </a:defRPr>
            </a:pPr>
            <a:r>
              <a:t>✅ Production: Sonnet 4.5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00200"/>
            <a:ext cx="3200400" cy="1920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A6A"/>
                </a:solidFill>
                <a:latin typeface="Calibri"/>
              </a:defRPr>
            </a:pPr>
            <a:r>
              <a:t>  Deployed to EKS Apr 8, 2026</a:t>
            </a:r>
            <a:br/>
            <a:r>
              <a:t>  8.4s avg response, $12.45/1K pts</a:t>
            </a:r>
            <a:br/>
            <a:r>
              <a:t>  Identifies surgical complications</a:t>
            </a:r>
            <a:br/>
            <a:r>
              <a:t>    (bile leak, anastomotic leak)</a:t>
            </a:r>
            <a:br/>
            <a:r>
              <a:t>  Calculates MAP, names Day 3 risk</a:t>
            </a:r>
            <a:br/>
            <a:r>
              <a:t>  85% better reasoning vs Sonnet 4</a:t>
            </a:r>
            <a:br/>
            <a:r>
              <a:t>  Only 23% cost increase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097280"/>
            <a:ext cx="3657600" cy="2560320"/>
          </a:xfrm>
          <a:prstGeom prst="roundRect">
            <a:avLst/>
          </a:prstGeom>
          <a:solidFill>
            <a:srgbClr val="F4ECF7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23443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E44AD"/>
                </a:solidFill>
                <a:latin typeface="Calibri"/>
              </a:defRPr>
            </a:pPr>
            <a:r>
              <a:t>Validation: Opus 4.6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1600200"/>
            <a:ext cx="3200400" cy="1920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A6A"/>
                </a:solidFill>
                <a:latin typeface="Calibri"/>
              </a:defRPr>
            </a:pPr>
            <a:r>
              <a:t>  Use for retrospective study</a:t>
            </a:r>
            <a:br/>
            <a:r>
              <a:t>  15.3s OK when speed isn't critical</a:t>
            </a:r>
            <a:br/>
            <a:r>
              <a:t>  Deepest clinical reasoning</a:t>
            </a:r>
            <a:br/>
            <a:r>
              <a:t>  Estimates time-to-decompensation</a:t>
            </a:r>
            <a:br/>
            <a:r>
              <a:t>  Organizes by organ system</a:t>
            </a:r>
            <a:br/>
            <a:r>
              <a:t>  13 missing data items flagged</a:t>
            </a:r>
            <a:br/>
            <a:r>
              <a:t>  $28.98/1K — justified for research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097280"/>
            <a:ext cx="3657600" cy="2560320"/>
          </a:xfrm>
          <a:prstGeom prst="roundRect">
            <a:avLst/>
          </a:prstGeom>
          <a:solidFill>
            <a:srgbClr val="FEF5E7"/>
          </a:solidFill>
          <a:ln w="12700">
            <a:solidFill>
              <a:srgbClr val="E6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123443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68A00"/>
                </a:solidFill>
                <a:latin typeface="Calibri"/>
              </a:defRPr>
            </a:pPr>
            <a:r>
              <a:t>Skip: Sonnet 4.6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1600200"/>
            <a:ext cx="3200400" cy="1920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A6A"/>
                </a:solidFill>
                <a:latin typeface="Calibri"/>
              </a:defRPr>
            </a:pPr>
            <a:r>
              <a:t>  13.9s — slower than 4.5</a:t>
            </a:r>
            <a:br/>
            <a:r>
              <a:t>  $16.92/1K — 36% costlier than 4.5</a:t>
            </a:r>
            <a:br/>
            <a:r>
              <a:t>  Quality similar to 4.5</a:t>
            </a:r>
            <a:br/>
            <a:r>
              <a:t>  Doesn't justify premium</a:t>
            </a:r>
            <a:br/>
            <a:r>
              <a:t>  </a:t>
            </a:r>
            <a:br/>
            <a:r>
              <a:t>  May revisit if Anthropic</a:t>
            </a:r>
            <a:br/>
            <a:r>
              <a:t>    optimizes speed in future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31920"/>
            <a:ext cx="11247120" cy="1188720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1E6C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77639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6C93"/>
                </a:solidFill>
                <a:latin typeface="Calibri"/>
              </a:defRPr>
            </a:pPr>
            <a:r>
              <a:t>Key Finding: All 4 Models Agree on Priority Classification (32/32 runs)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4340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5A6A"/>
                </a:solidFill>
                <a:latin typeface="Calibri"/>
              </a:defRPr>
            </a:pPr>
            <a:r>
              <a:t>Standard for healthy patient  |  High for early/silent sepsis  |  Critical for severe cases</a:t>
            </a:r>
            <a:br/>
            <a:br/>
            <a:r>
              <a:t>The difference is in reasoning depth and clinical context — not the core alert. Upgrading the model improves the doctor's understanding, not the alarm itself.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394960"/>
            <a:ext cx="11247120" cy="1097280"/>
          </a:xfrm>
          <a:prstGeom prst="roundRect">
            <a:avLst/>
          </a:prstGeom>
          <a:solidFill>
            <a:srgbClr val="E8F8EF"/>
          </a:solidFill>
          <a:ln w="1270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54406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7AE60"/>
                </a:solidFill>
                <a:latin typeface="Calibri"/>
              </a:defRPr>
            </a:pPr>
            <a:r>
              <a:t>Model Swap = 1 Config Change (No Code Rewrite)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064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5A6A"/>
                </a:solidFill>
                <a:latin typeface="Calibri"/>
              </a:defRPr>
            </a:pPr>
            <a:r>
              <a:t>Environment variable: BEDROCK_MODEL_ID=us.anthropic.claude-sonnet-4-5-20250929-v1:0</a:t>
            </a:r>
            <a:br/>
            <a:r>
              <a:t>When a better model launches, we upgrade the same way — one line, zero downtime, no code changes.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6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C343D"/>
                </a:solidFill>
                <a:latin typeface="Calibri"/>
              </a:defRPr>
            </a:pPr>
            <a:r>
              <a:t>End-to-End Data 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3200400" cy="36576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5A6A"/>
                </a:solidFill>
                <a:latin typeface="Calibri"/>
              </a:defRPr>
            </a:pPr>
            <a:r>
              <a:t>From bedside to prediction — how patient data flows through the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463040"/>
            <a:ext cx="1463040" cy="1005840"/>
          </a:xfrm>
          <a:prstGeom prst="roundRect">
            <a:avLst/>
          </a:prstGeom>
          <a:solidFill>
            <a:srgbClr val="5D6D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50876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7830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Hospital</a:t>
            </a:r>
            <a:br/>
            <a:r>
              <a:t>Bedside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20116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CCE8F0"/>
                </a:solidFill>
                <a:latin typeface="Calibri"/>
              </a:defRPr>
            </a:pPr>
            <a:r>
              <a:t>Vitals monitors</a:t>
            </a:r>
            <a:br/>
            <a:r>
              <a:t>Lab systems</a:t>
            </a:r>
            <a:br/>
            <a:r>
              <a:t>Nurse charts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94560" y="1463040"/>
            <a:ext cx="1463040" cy="100584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94560" y="150876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🗄️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0279" y="17830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Oracle</a:t>
            </a:r>
            <a:br/>
            <a:r>
              <a:t>Cerner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79" y="20116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CCE8F0"/>
                </a:solidFill>
                <a:latin typeface="Calibri"/>
              </a:defRPr>
            </a:pPr>
            <a:r>
              <a:t>EHR database</a:t>
            </a:r>
            <a:br/>
            <a:r>
              <a:t>Orders &amp; events</a:t>
            </a:r>
            <a:br/>
            <a:r>
              <a:t>Clinical docs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0" y="1463040"/>
            <a:ext cx="1463040" cy="1005840"/>
          </a:xfrm>
          <a:prstGeom prst="roundRect">
            <a:avLst/>
          </a:prstGeom>
          <a:solidFill>
            <a:srgbClr val="E6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0" y="150876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60520" y="17830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Red Rover</a:t>
            </a:r>
            <a:br/>
            <a:r>
              <a:t>API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20116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CCE8F0"/>
                </a:solidFill>
                <a:latin typeface="Calibri"/>
              </a:defRPr>
            </a:pPr>
            <a:r>
              <a:t>Normalizes data</a:t>
            </a:r>
            <a:br/>
            <a:r>
              <a:t>Time-series vitals</a:t>
            </a:r>
            <a:br/>
            <a:r>
              <a:t>Patient context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5040" y="1463040"/>
            <a:ext cx="1463040" cy="1005840"/>
          </a:xfrm>
          <a:prstGeom prst="roundRect">
            <a:avLst/>
          </a:prstGeom>
          <a:solidFill>
            <a:srgbClr val="1E6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5040" y="150876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⚙️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0759" y="17830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Our Backend</a:t>
            </a:r>
            <a:br/>
            <a:r>
              <a:t>(EKS)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59" y="20116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CCE8F0"/>
                </a:solidFill>
                <a:latin typeface="Calibri"/>
              </a:defRPr>
            </a:pPr>
            <a:r>
              <a:t>Receives API call</a:t>
            </a:r>
            <a:br/>
            <a:r>
              <a:t>Authenticates</a:t>
            </a:r>
            <a:br/>
            <a:r>
              <a:t>Orchestrates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55279" y="1463040"/>
            <a:ext cx="1463040" cy="100584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55279" y="150876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01000" y="17830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AI Pipeline</a:t>
            </a:r>
            <a:br/>
            <a:r>
              <a:t>3 Stages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01000" y="20116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CCE8F0"/>
                </a:solidFill>
                <a:latin typeface="Calibri"/>
              </a:defRPr>
            </a:pPr>
            <a:r>
              <a:t>Preprocess</a:t>
            </a:r>
            <a:br/>
            <a:r>
              <a:t>LLM Inference</a:t>
            </a:r>
            <a:br/>
            <a:r>
              <a:t>Guardrail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875520" y="1463040"/>
            <a:ext cx="1463040" cy="1005840"/>
          </a:xfrm>
          <a:prstGeom prst="roundRect">
            <a:avLst/>
          </a:prstGeom>
          <a:solidFill>
            <a:srgbClr val="00BC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0" y="150876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21240" y="17830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Response</a:t>
            </a:r>
            <a:br/>
            <a:r>
              <a:t>to Frontend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21240" y="20116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CCE8F0"/>
                </a:solidFill>
                <a:latin typeface="Calibri"/>
              </a:defRPr>
            </a:pPr>
            <a:r>
              <a:t>Risk score</a:t>
            </a:r>
            <a:br/>
            <a:r>
              <a:t>Rationale</a:t>
            </a:r>
            <a:br/>
            <a:r>
              <a:t>Scores &amp; alerts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1783080" y="1828800"/>
            <a:ext cx="365760" cy="274320"/>
          </a:xfrm>
          <a:prstGeom prst="rightArrow">
            <a:avLst/>
          </a:prstGeom>
          <a:solidFill>
            <a:srgbClr val="1E6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ight Arrow 30"/>
          <p:cNvSpPr/>
          <p:nvPr/>
        </p:nvSpPr>
        <p:spPr>
          <a:xfrm>
            <a:off x="3703320" y="1828800"/>
            <a:ext cx="365760" cy="274320"/>
          </a:xfrm>
          <a:prstGeom prst="rightArrow">
            <a:avLst/>
          </a:prstGeom>
          <a:solidFill>
            <a:srgbClr val="1E6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ight Arrow 31"/>
          <p:cNvSpPr/>
          <p:nvPr/>
        </p:nvSpPr>
        <p:spPr>
          <a:xfrm>
            <a:off x="5623560" y="1828800"/>
            <a:ext cx="365760" cy="274320"/>
          </a:xfrm>
          <a:prstGeom prst="rightArrow">
            <a:avLst/>
          </a:prstGeom>
          <a:solidFill>
            <a:srgbClr val="1E6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ight Arrow 32"/>
          <p:cNvSpPr/>
          <p:nvPr/>
        </p:nvSpPr>
        <p:spPr>
          <a:xfrm>
            <a:off x="7543800" y="1828800"/>
            <a:ext cx="365760" cy="274320"/>
          </a:xfrm>
          <a:prstGeom prst="rightArrow">
            <a:avLst/>
          </a:prstGeom>
          <a:solidFill>
            <a:srgbClr val="1E6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ight Arrow 33"/>
          <p:cNvSpPr/>
          <p:nvPr/>
        </p:nvSpPr>
        <p:spPr>
          <a:xfrm>
            <a:off x="9464040" y="1828800"/>
            <a:ext cx="365760" cy="274320"/>
          </a:xfrm>
          <a:prstGeom prst="rightArrow">
            <a:avLst/>
          </a:prstGeom>
          <a:solidFill>
            <a:srgbClr val="1E6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28346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E6C93"/>
                </a:solidFill>
                <a:latin typeface="Calibri"/>
              </a:defRPr>
            </a:pPr>
            <a:r>
              <a:t>AI Pipeline Detail (3 Stages)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3154680"/>
            <a:ext cx="10515600" cy="36576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57200" y="3337560"/>
            <a:ext cx="3566160" cy="2286000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49A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338328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9AAD4"/>
                </a:solidFill>
                <a:latin typeface="Calibri"/>
              </a:defRPr>
            </a:pPr>
            <a:r>
              <a:t>Stage 1: Preprocessor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4360" y="3703320"/>
            <a:ext cx="3291840" cy="36576"/>
          </a:xfrm>
          <a:prstGeom prst="rect">
            <a:avLst/>
          </a:prstGeom>
          <a:solidFill>
            <a:srgbClr val="49A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3794760"/>
            <a:ext cx="3291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A6A"/>
                </a:solidFill>
                <a:latin typeface="Calibri"/>
              </a:defRPr>
            </a:pPr>
            <a:r>
              <a:t>  Flattens Red Rover nested JSON</a:t>
            </a:r>
            <a:br/>
            <a:r>
              <a:t>  Extracts trends: 'HR rising 80→105'</a:t>
            </a:r>
            <a:br/>
            <a:r>
              <a:t>  Expands abbreviations: SOB → shortness of breath</a:t>
            </a:r>
            <a:br/>
            <a:r>
              <a:t>  Creates clinical narrative prose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297680" y="3337560"/>
            <a:ext cx="3566160" cy="2286000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1E6C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434840" y="338328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E6C93"/>
                </a:solidFill>
                <a:latin typeface="Calibri"/>
              </a:defRPr>
            </a:pPr>
            <a:r>
              <a:t>Stage 2: LLM Inference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434840" y="3703320"/>
            <a:ext cx="3291840" cy="36576"/>
          </a:xfrm>
          <a:prstGeom prst="rect">
            <a:avLst/>
          </a:prstGeom>
          <a:solidFill>
            <a:srgbClr val="1E6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434840" y="3794760"/>
            <a:ext cx="3291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A6A"/>
                </a:solidFill>
                <a:latin typeface="Calibri"/>
              </a:defRPr>
            </a:pPr>
            <a:r>
              <a:t>  Claude Sonnet 4.5 reads narrative</a:t>
            </a:r>
            <a:br/>
            <a:r>
              <a:t>  Reasons like ICU intensivist</a:t>
            </a:r>
            <a:br/>
            <a:r>
              <a:t>  Detects discordance (vitals vs notes)</a:t>
            </a:r>
            <a:br/>
            <a:r>
              <a:t>  Outputs risk score + rationale + confidence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138160" y="3337560"/>
            <a:ext cx="3566160" cy="2286000"/>
          </a:xfrm>
          <a:prstGeom prst="roundRect">
            <a:avLst/>
          </a:prstGeom>
          <a:solidFill>
            <a:srgbClr val="E8F8EF"/>
          </a:solidFill>
          <a:ln w="1270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75320" y="338328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  <a:latin typeface="Calibri"/>
              </a:defRPr>
            </a:pPr>
            <a:r>
              <a:t>Stage 3: Safety Guardrail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275320" y="3703320"/>
            <a:ext cx="3291840" cy="36576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275320" y="3794760"/>
            <a:ext cx="3291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A6A"/>
                </a:solidFill>
                <a:latin typeface="Calibri"/>
              </a:defRPr>
            </a:pPr>
            <a:r>
              <a:t>  Calculates qSOFA, SIRS, SOFA (deterministic)</a:t>
            </a:r>
            <a:br/>
            <a:r>
              <a:t>  Overrides AI if vitals contradict score</a:t>
            </a:r>
            <a:br/>
            <a:r>
              <a:t>  Silent sepsis detection</a:t>
            </a:r>
            <a:br/>
            <a:r>
              <a:t>  850+ configurable parameters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4069080" y="4206240"/>
            <a:ext cx="365760" cy="274320"/>
          </a:xfrm>
          <a:prstGeom prst="rightArrow">
            <a:avLst/>
          </a:prstGeom>
          <a:solidFill>
            <a:srgbClr val="1E6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ight Arrow 49"/>
          <p:cNvSpPr/>
          <p:nvPr/>
        </p:nvSpPr>
        <p:spPr>
          <a:xfrm>
            <a:off x="7909560" y="4206240"/>
            <a:ext cx="365760" cy="274320"/>
          </a:xfrm>
          <a:prstGeom prst="rightArrow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457200" y="5852160"/>
            <a:ext cx="11247120" cy="822960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1E6C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85800" y="598932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6C93"/>
                </a:solidFill>
                <a:latin typeface="Calibri"/>
              </a:defRPr>
            </a:pPr>
            <a:r>
              <a:t>API Output (~8.4s with Sonnet 4.5)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" y="6355080"/>
            <a:ext cx="10789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A6A"/>
                </a:solidFill>
                <a:latin typeface="Calibri"/>
              </a:defRPr>
            </a:pPr>
            <a:r>
              <a:t>  Risk Score (0-100)  |  Priority  |  6h Probability  |  Clinical Rationale  |  Confidence + Reasoning  |  qSOFA, SIRS, SOFA  |  Guardrail Override flags  |  Audit trail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6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C343D"/>
                </a:solidFill>
                <a:latin typeface="Calibri"/>
              </a:defRPr>
            </a:pPr>
            <a:r>
              <a:t>AI Capabilities — What Makes This Unique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3200400" cy="36576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2651760" cy="2926080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1E6C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887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6C93"/>
                </a:solidFill>
                <a:latin typeface="Calibri"/>
              </a:defRPr>
            </a:pPr>
            <a:r>
              <a:t>🔤  Narrative Intelligence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508760"/>
            <a:ext cx="2377440" cy="36576"/>
          </a:xfrm>
          <a:prstGeom prst="rect">
            <a:avLst/>
          </a:prstGeom>
          <a:solidFill>
            <a:srgbClr val="1E6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00200"/>
            <a:ext cx="2377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A6A"/>
                </a:solidFill>
                <a:latin typeface="Calibri"/>
              </a:defRPr>
            </a:pPr>
            <a:r>
              <a:t>Converts raw numbers to</a:t>
            </a:r>
            <a:br/>
            <a:r>
              <a:t>clinical prose with context</a:t>
            </a:r>
            <a:br/>
            <a:r>
              <a:t>'HR 105, rising from 80' →</a:t>
            </a:r>
            <a:br/>
            <a:r>
              <a:t>'Tachycardia with concerning</a:t>
            </a:r>
            <a:br/>
            <a:r>
              <a:t>upward trend suggesting</a:t>
            </a:r>
            <a:br/>
            <a:r>
              <a:t>compensatory response'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7560" y="1097280"/>
            <a:ext cx="2651760" cy="2926080"/>
          </a:xfrm>
          <a:prstGeom prst="roundRect">
            <a:avLst/>
          </a:prstGeom>
          <a:solidFill>
            <a:srgbClr val="FEF5E7"/>
          </a:solidFill>
          <a:ln w="12700">
            <a:solidFill>
              <a:srgbClr val="E6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0" y="11887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68A00"/>
                </a:solidFill>
                <a:latin typeface="Calibri"/>
              </a:defRPr>
            </a:pPr>
            <a:r>
              <a:t>⚠️  Discordance Detection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0" y="1508760"/>
            <a:ext cx="2377440" cy="36576"/>
          </a:xfrm>
          <a:prstGeom prst="rect">
            <a:avLst/>
          </a:prstGeom>
          <a:solidFill>
            <a:srgbClr val="E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1600200"/>
            <a:ext cx="2377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A6A"/>
                </a:solidFill>
                <a:latin typeface="Calibri"/>
              </a:defRPr>
            </a:pPr>
            <a:r>
              <a:t>Catches 'Silent Sepsis'</a:t>
            </a:r>
            <a:br/>
            <a:r>
              <a:t>when numbers and notes</a:t>
            </a:r>
            <a:br/>
            <a:r>
              <a:t>contradict each other</a:t>
            </a:r>
            <a:br/>
            <a:r>
              <a:t>BP normal (115/70) BUT</a:t>
            </a:r>
            <a:br/>
            <a:r>
              <a:t>nurse: 'skin mottled' →</a:t>
            </a:r>
            <a:br/>
            <a:r>
              <a:t>HIGH RISK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097280"/>
            <a:ext cx="2651760" cy="2926080"/>
          </a:xfrm>
          <a:prstGeom prst="roundRect">
            <a:avLst/>
          </a:prstGeom>
          <a:solidFill>
            <a:srgbClr val="E8F8EF"/>
          </a:solidFill>
          <a:ln w="1270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11887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7AE60"/>
                </a:solidFill>
                <a:latin typeface="Calibri"/>
              </a:defRPr>
            </a:pPr>
            <a:r>
              <a:t>📐  Clinical Scores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5080" y="1508760"/>
            <a:ext cx="2377440" cy="36576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1600200"/>
            <a:ext cx="2377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A6A"/>
                </a:solidFill>
                <a:latin typeface="Calibri"/>
              </a:defRPr>
            </a:pPr>
            <a:r>
              <a:t>Deterministic (not AI):</a:t>
            </a:r>
            <a:br/>
            <a:r>
              <a:t>qSOFA (0-3): bedside screen</a:t>
            </a:r>
            <a:br/>
            <a:r>
              <a:t>SIRS (0-4): inflammation</a:t>
            </a:r>
            <a:br/>
            <a:r>
              <a:t>SOFA (0-24): organ failure</a:t>
            </a:r>
            <a:br/>
            <a:r>
              <a:t>Same math doctors use</a:t>
            </a:r>
            <a:br/>
            <a:r>
              <a:t>worldwide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98280" y="1097280"/>
            <a:ext cx="2651760" cy="2926080"/>
          </a:xfrm>
          <a:prstGeom prst="roundRect">
            <a:avLst/>
          </a:prstGeom>
          <a:solidFill>
            <a:srgbClr val="F4ECF7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0" y="11887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E44AD"/>
                </a:solidFill>
                <a:latin typeface="Calibri"/>
              </a:defRPr>
            </a:pPr>
            <a:r>
              <a:t>💡  Confidence &amp; Transparency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35440" y="1508760"/>
            <a:ext cx="2377440" cy="36576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5440" y="1600200"/>
            <a:ext cx="2377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A6A"/>
                </a:solidFill>
                <a:latin typeface="Calibri"/>
              </a:defRPr>
            </a:pPr>
            <a:r>
              <a:t>Every prediction includes:</a:t>
            </a:r>
            <a:br/>
            <a:r>
              <a:t>Confidence level (H/M/L)</a:t>
            </a:r>
            <a:br/>
            <a:r>
              <a:t>WHY that confidence</a:t>
            </a:r>
            <a:br/>
            <a:r>
              <a:t>Written clinical rationale</a:t>
            </a:r>
            <a:br/>
            <a:r>
              <a:t>Doctor sees reasoning,</a:t>
            </a:r>
            <a:br/>
            <a:r>
              <a:t>not just a number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297680"/>
            <a:ext cx="3657600" cy="2286000"/>
          </a:xfrm>
          <a:prstGeom prst="roundRect">
            <a:avLst/>
          </a:prstGeom>
          <a:solidFill>
            <a:srgbClr val="FDEDEB"/>
          </a:solidFill>
          <a:ln w="12700">
            <a:solidFill>
              <a:srgbClr val="E74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4348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74C3C"/>
                </a:solidFill>
                <a:latin typeface="Calibri"/>
              </a:defRPr>
            </a:pPr>
            <a:r>
              <a:t>🛡️  Guardrail Safety Net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80060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A6A"/>
                </a:solidFill>
                <a:latin typeface="Calibri"/>
              </a:defRPr>
            </a:pPr>
            <a:r>
              <a:t>  AI says Low risk BUT qSOFA &gt;= 2?</a:t>
            </a:r>
            <a:br/>
            <a:r>
              <a:t>  → Guardrail OVERRIDES to High</a:t>
            </a:r>
            <a:br/>
            <a:r>
              <a:t>  AI never has the final word</a:t>
            </a:r>
            <a:br/>
            <a:r>
              <a:t>  Deterministic rules are the safety net</a:t>
            </a:r>
            <a:br/>
            <a:r>
              <a:t>  Every override logged for audit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7680" y="4297680"/>
            <a:ext cx="3657600" cy="2286000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1E6C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26280" y="44348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6C93"/>
                </a:solidFill>
                <a:latin typeface="Calibri"/>
              </a:defRPr>
            </a:pPr>
            <a:r>
              <a:t>📋  Audit Trail &amp; Compliance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26280" y="480060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A6A"/>
                </a:solidFill>
                <a:latin typeface="Calibri"/>
              </a:defRPr>
            </a:pPr>
            <a:r>
              <a:t>  Every prediction logged as JSON</a:t>
            </a:r>
            <a:br/>
            <a:r>
              <a:t>  Request ID, timestamp, model version</a:t>
            </a:r>
            <a:br/>
            <a:r>
              <a:t>  No PHI in logs (HIPAA safe)</a:t>
            </a:r>
            <a:br/>
            <a:r>
              <a:t>  CloudWatch via EKS stdout</a:t>
            </a:r>
            <a:br/>
            <a:r>
              <a:t>  Full accountability &amp; traceability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38160" y="4297680"/>
            <a:ext cx="3657600" cy="2286000"/>
          </a:xfrm>
          <a:prstGeom prst="roundRect">
            <a:avLst/>
          </a:prstGeom>
          <a:solidFill>
            <a:srgbClr val="E8F8EF"/>
          </a:solidFill>
          <a:ln w="1270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66760" y="44348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7AE60"/>
                </a:solidFill>
                <a:latin typeface="Calibri"/>
              </a:defRPr>
            </a:pPr>
            <a:r>
              <a:t>🔄  Doctor Feedback Loop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480060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A6A"/>
                </a:solidFill>
                <a:latin typeface="Calibri"/>
              </a:defRPr>
            </a:pPr>
            <a:r>
              <a:t>  Doctor agrees/disagrees with score</a:t>
            </a:r>
            <a:br/>
            <a:r>
              <a:t>  Feedback stored in MongoDB</a:t>
            </a:r>
            <a:br/>
            <a:r>
              <a:t>  Analysis script detects calibration drift</a:t>
            </a:r>
            <a:br/>
            <a:r>
              <a:t>  Insights fed back into AI prompt</a:t>
            </a:r>
            <a:br/>
            <a:r>
              <a:t>  System learns from every case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6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C343D"/>
                </a:solidFill>
                <a:latin typeface="Calibri"/>
              </a:defRPr>
            </a:pPr>
            <a:r>
              <a:t>Hospital-Specific Configuration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3200400" cy="36576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5A6A"/>
                </a:solidFill>
                <a:latin typeface="Calibri"/>
              </a:defRPr>
            </a:pPr>
            <a:r>
              <a:t>Each hospital has unique patient populations, protocols, and thresholds — the system adapts to each.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371600"/>
            <a:ext cx="3383280" cy="822960"/>
          </a:xfrm>
          <a:prstGeom prst="roundRect">
            <a:avLst/>
          </a:prstGeom>
          <a:solidFill>
            <a:srgbClr val="1E6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80560" y="14173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⚙️  Sepsis GenAI Engine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17373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BDDEE"/>
                </a:solidFill>
                <a:latin typeface="Calibri"/>
              </a:defRPr>
            </a:pPr>
            <a:r>
              <a:t>Shared AI + Guardrail Pipeline</a:t>
            </a:r>
          </a:p>
        </p:txBody>
      </p:sp>
      <p:sp>
        <p:nvSpPr>
          <p:cNvPr id="9" name="Down Arrow 8"/>
          <p:cNvSpPr/>
          <p:nvPr/>
        </p:nvSpPr>
        <p:spPr>
          <a:xfrm>
            <a:off x="5852160" y="2240280"/>
            <a:ext cx="411480" cy="320040"/>
          </a:xfrm>
          <a:prstGeom prst="downArrow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2860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BCD4"/>
                </a:solidFill>
                <a:latin typeface="Calibri"/>
              </a:defRPr>
            </a:pPr>
            <a:r>
              <a:t>Loads hospital-specific config at runtime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86000" y="2697480"/>
            <a:ext cx="7589520" cy="411480"/>
          </a:xfrm>
          <a:prstGeom prst="roundRect">
            <a:avLst/>
          </a:prstGeom>
          <a:solidFill>
            <a:srgbClr val="00BC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7440" y="2743200"/>
            <a:ext cx="7406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📋  Configuration Layer — 850+ Parameters — API-Managed by Clinical SMEs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2011680" y="3154680"/>
            <a:ext cx="411480" cy="320040"/>
          </a:xfrm>
          <a:prstGeom prst="downArrow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7200" y="3611880"/>
            <a:ext cx="3566160" cy="2377440"/>
          </a:xfrm>
          <a:prstGeom prst="roundRect">
            <a:avLst/>
          </a:prstGeom>
          <a:solidFill>
            <a:srgbClr val="FDEDEB"/>
          </a:solidFill>
          <a:ln w="12700">
            <a:solidFill>
              <a:srgbClr val="E74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65760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E74C3C"/>
                </a:solidFill>
                <a:latin typeface="Calibri"/>
              </a:defRPr>
            </a:pPr>
            <a:r>
              <a:t>🏥  Trauma Center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" y="3977639"/>
            <a:ext cx="3291840" cy="36576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406908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A6A"/>
                </a:solidFill>
                <a:latin typeface="Calibri"/>
              </a:defRPr>
            </a:pPr>
            <a:r>
              <a:t>  HR threshold: 130 (trauma)</a:t>
            </a:r>
            <a:br/>
            <a:r>
              <a:t>  Lactate critical: 4.0</a:t>
            </a:r>
            <a:br/>
            <a:r>
              <a:t>  Override: Aggressive</a:t>
            </a:r>
            <a:br/>
            <a:r>
              <a:t>  qSOFA: Primary screen</a:t>
            </a:r>
            <a:br/>
            <a:r>
              <a:t>  Escalation: Immediate page</a:t>
            </a:r>
            <a:br/>
            <a:r>
              <a:t>  Sepsis bundles: Trauma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5852160" y="3154680"/>
            <a:ext cx="411480" cy="320040"/>
          </a:xfrm>
          <a:prstGeom prst="downArrow">
            <a:avLst/>
          </a:prstGeom>
          <a:solidFill>
            <a:srgbClr val="1E6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297680" y="3611880"/>
            <a:ext cx="3566160" cy="2377440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1E6C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34840" y="365760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E6C93"/>
                </a:solidFill>
                <a:latin typeface="Calibri"/>
              </a:defRPr>
            </a:pPr>
            <a:r>
              <a:t>🏥  Community Hospital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34840" y="3977639"/>
            <a:ext cx="3291840" cy="36576"/>
          </a:xfrm>
          <a:prstGeom prst="rect">
            <a:avLst/>
          </a:prstGeom>
          <a:solidFill>
            <a:srgbClr val="1E6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34840" y="406908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A6A"/>
                </a:solidFill>
                <a:latin typeface="Calibri"/>
              </a:defRPr>
            </a:pPr>
            <a:r>
              <a:t>  HR threshold: 140 (standard)</a:t>
            </a:r>
            <a:br/>
            <a:r>
              <a:t>  Lactate critical: 4.0</a:t>
            </a:r>
            <a:br/>
            <a:r>
              <a:t>  Override: Standard</a:t>
            </a:r>
            <a:br/>
            <a:r>
              <a:t>  SIRS: Primary screen</a:t>
            </a:r>
            <a:br/>
            <a:r>
              <a:t>  Escalation: 15-min window</a:t>
            </a:r>
            <a:br/>
            <a:r>
              <a:t>  Bundles: Standard SEP-1</a:t>
            </a:r>
          </a:p>
        </p:txBody>
      </p:sp>
      <p:sp>
        <p:nvSpPr>
          <p:cNvPr id="23" name="Down Arrow 22"/>
          <p:cNvSpPr/>
          <p:nvPr/>
        </p:nvSpPr>
        <p:spPr>
          <a:xfrm>
            <a:off x="9692640" y="3154680"/>
            <a:ext cx="411480" cy="320040"/>
          </a:xfrm>
          <a:prstGeom prst="downArrow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138160" y="3611880"/>
            <a:ext cx="3566160" cy="2377440"/>
          </a:xfrm>
          <a:prstGeom prst="roundRect">
            <a:avLst/>
          </a:prstGeom>
          <a:solidFill>
            <a:srgbClr val="F4ECF7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75320" y="365760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8E44AD"/>
                </a:solidFill>
                <a:latin typeface="Calibri"/>
              </a:defRPr>
            </a:pPr>
            <a:r>
              <a:t>🏥  Pediatric Center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75320" y="3977639"/>
            <a:ext cx="3291840" cy="36576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75320" y="406908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A6A"/>
                </a:solidFill>
                <a:latin typeface="Calibri"/>
              </a:defRPr>
            </a:pPr>
            <a:r>
              <a:t>  HR threshold: Age-adjusted</a:t>
            </a:r>
            <a:br/>
            <a:r>
              <a:t>  Lactate critical: 3.0 (peds)</a:t>
            </a:r>
            <a:br/>
            <a:r>
              <a:t>  Override: Conservative</a:t>
            </a:r>
            <a:br/>
            <a:r>
              <a:t>  pSOFA: Pediatric scoring</a:t>
            </a:r>
            <a:br/>
            <a:r>
              <a:t>  Escalation: Attending + parent</a:t>
            </a:r>
            <a:br/>
            <a:r>
              <a:t>  Bundles: Peds-adapted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217920"/>
            <a:ext cx="11247120" cy="457200"/>
          </a:xfrm>
          <a:prstGeom prst="roundRect">
            <a:avLst/>
          </a:prstGeom>
          <a:solidFill>
            <a:srgbClr val="E8F8EF"/>
          </a:solidFill>
          <a:ln w="1270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626364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7AE60"/>
                </a:solidFill>
                <a:latin typeface="Calibri"/>
              </a:defRPr>
            </a:pPr>
            <a:r>
              <a:t>SME Workflow: GET /guardrail/config (view) → PUT (update) → Test in-memory → Deploy → Export for audit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6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C343D"/>
                </a:solidFill>
                <a:latin typeface="Calibri"/>
              </a:defRPr>
            </a:pPr>
            <a:r>
              <a:t>Summary &amp; Next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3200400" cy="36576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3657600" cy="2103120"/>
          </a:xfrm>
          <a:prstGeom prst="roundRect">
            <a:avLst/>
          </a:prstGeom>
          <a:solidFill>
            <a:srgbClr val="E8F4F8"/>
          </a:solidFill>
          <a:ln w="12700">
            <a:solidFill>
              <a:srgbClr val="1E6C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3443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6C93"/>
                </a:solidFill>
                <a:latin typeface="Calibri"/>
              </a:defRPr>
            </a:pPr>
            <a:r>
              <a:t>LLM Selection 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00200"/>
            <a:ext cx="320040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A6A"/>
                </a:solidFill>
                <a:latin typeface="Calibri"/>
              </a:defRPr>
            </a:pPr>
            <a:r>
              <a:t>  7 LLMs evaluated, 4 tested live</a:t>
            </a:r>
            <a:br/>
            <a:r>
              <a:t>  32 test runs (8 patients x 4 models)</a:t>
            </a:r>
            <a:br/>
            <a:r>
              <a:t>  Sonnet 4.5: deployed Apr 8, 2026</a:t>
            </a:r>
            <a:br/>
            <a:r>
              <a:t>  Opus 4.6: reserved for validation</a:t>
            </a:r>
            <a:br/>
            <a:r>
              <a:t>  Full comparison in docs/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097280"/>
            <a:ext cx="3657600" cy="2103120"/>
          </a:xfrm>
          <a:prstGeom prst="roundRect">
            <a:avLst/>
          </a:prstGeom>
          <a:solidFill>
            <a:srgbClr val="E8F8EF"/>
          </a:solidFill>
          <a:ln w="1270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23443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7AE60"/>
                </a:solidFill>
                <a:latin typeface="Calibri"/>
              </a:defRPr>
            </a:pPr>
            <a:r>
              <a:t>Architecture 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1600200"/>
            <a:ext cx="320040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A6A"/>
                </a:solidFill>
                <a:latin typeface="Calibri"/>
              </a:defRPr>
            </a:pPr>
            <a:r>
              <a:t>  3-stage pipeline end-to-end</a:t>
            </a:r>
            <a:br/>
            <a:r>
              <a:t>  Hospital → Cerner → Red Rover → AI</a:t>
            </a:r>
            <a:br/>
            <a:r>
              <a:t>  Narrative intelligence + discordance</a:t>
            </a:r>
            <a:br/>
            <a:r>
              <a:t>  Deterministic safety scores</a:t>
            </a:r>
            <a:br/>
            <a:r>
              <a:t>  Full audit trail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097280"/>
            <a:ext cx="3657600" cy="2103120"/>
          </a:xfrm>
          <a:prstGeom prst="roundRect">
            <a:avLst/>
          </a:prstGeom>
          <a:solidFill>
            <a:srgbClr val="F4ECF7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123443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E44AD"/>
                </a:solidFill>
                <a:latin typeface="Calibri"/>
              </a:defRPr>
            </a:pPr>
            <a:r>
              <a:t>Hospital Config 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1600200"/>
            <a:ext cx="320040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A6A"/>
                </a:solidFill>
                <a:latin typeface="Calibri"/>
              </a:defRPr>
            </a:pPr>
            <a:r>
              <a:t>  850+ configurable parameters</a:t>
            </a:r>
            <a:br/>
            <a:r>
              <a:t>  API-managed (no code changes)</a:t>
            </a:r>
            <a:br/>
            <a:r>
              <a:t>  Per-hospital customization ready</a:t>
            </a:r>
            <a:br/>
            <a:r>
              <a:t>  Hot-reload, audit export</a:t>
            </a:r>
            <a:br/>
            <a:r>
              <a:t>  Scales to multi-facility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4747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E6C93"/>
                </a:solidFill>
                <a:latin typeface="Calibri"/>
              </a:defRPr>
            </a:pPr>
            <a:r>
              <a:t>Proposed Next Steps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794760"/>
            <a:ext cx="10515600" cy="36576"/>
          </a:xfrm>
          <a:prstGeom prst="rect">
            <a:avLst/>
          </a:prstGeom>
          <a:solidFill>
            <a:srgbClr val="1E6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31520" y="4023360"/>
            <a:ext cx="411480" cy="411480"/>
          </a:xfrm>
          <a:prstGeom prst="ellipse">
            <a:avLst/>
          </a:prstGeom>
          <a:solidFill>
            <a:srgbClr val="E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0690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68A00"/>
                </a:solidFill>
                <a:latin typeface="Calibri"/>
              </a:defRPr>
            </a:pPr>
            <a:r>
              <a:t>SJSA Data Integration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406908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A6A"/>
                </a:solidFill>
                <a:latin typeface="Calibri"/>
              </a:defRPr>
            </a:pPr>
            <a:r>
              <a:t>Complete Red Rover API setup for sepsis alert codes — meeting held, awaiting sandbox data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" y="4681728"/>
            <a:ext cx="411480" cy="411480"/>
          </a:xfrm>
          <a:prstGeom prst="ellipse">
            <a:avLst/>
          </a:prstGeom>
          <a:solidFill>
            <a:srgbClr val="1E6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72744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E6C93"/>
                </a:solidFill>
                <a:latin typeface="Calibri"/>
              </a:defRPr>
            </a:pPr>
            <a:r>
              <a:t>Frontend: Clinician Dashboard + Feedback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39" y="4727448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A6A"/>
                </a:solidFill>
                <a:latin typeface="Calibri"/>
              </a:defRPr>
            </a:pPr>
            <a:r>
              <a:t>Display AI output to doctors + capture feedback in MongoDB — needs team allocation</a:t>
            </a:r>
          </a:p>
        </p:txBody>
      </p:sp>
      <p:sp>
        <p:nvSpPr>
          <p:cNvPr id="22" name="Oval 21"/>
          <p:cNvSpPr/>
          <p:nvPr/>
        </p:nvSpPr>
        <p:spPr>
          <a:xfrm>
            <a:off x="731520" y="5340096"/>
            <a:ext cx="411480" cy="411480"/>
          </a:xfrm>
          <a:prstGeom prst="ellipse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5385816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E44AD"/>
                </a:solidFill>
                <a:latin typeface="Calibri"/>
              </a:defRPr>
            </a:pPr>
            <a:r>
              <a:t>Retrospective Validation with Opus 4.6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49039" y="5385816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A6A"/>
                </a:solidFill>
                <a:latin typeface="Calibri"/>
              </a:defRPr>
            </a:pPr>
            <a:r>
              <a:t>Run historical patient data through Opus 4.6 to measure actual lead time and accuracy</a:t>
            </a:r>
          </a:p>
        </p:txBody>
      </p:sp>
      <p:sp>
        <p:nvSpPr>
          <p:cNvPr id="25" name="Oval 24"/>
          <p:cNvSpPr/>
          <p:nvPr/>
        </p:nvSpPr>
        <p:spPr>
          <a:xfrm>
            <a:off x="731520" y="5998464"/>
            <a:ext cx="411480" cy="411480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6044184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  <a:latin typeface="Calibri"/>
              </a:defRPr>
            </a:pPr>
            <a:r>
              <a:t>Multi-Hospital Pilot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49039" y="6044184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A6A"/>
                </a:solidFill>
                <a:latin typeface="Calibri"/>
              </a:defRPr>
            </a:pPr>
            <a:r>
              <a:t>Deploy with hospital-specific configs at 2 facilities, compare outcomes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
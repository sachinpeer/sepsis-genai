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9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angi Nageswar" userId="06d30ba0-36db-491a-b735-77a535643624" providerId="ADAL" clId="{9C85B1DF-412D-3041-B827-B3E87A52C283}"/>
    <pc:docChg chg="modSld">
      <pc:chgData name="Mathangi Nageswar" userId="06d30ba0-36db-491a-b735-77a535643624" providerId="ADAL" clId="{9C85B1DF-412D-3041-B827-B3E87A52C283}" dt="2025-12-17T12:52:38.242" v="159" actId="20577"/>
      <pc:docMkLst>
        <pc:docMk/>
      </pc:docMkLst>
      <pc:sldChg chg="modSp mod modNotesTx">
        <pc:chgData name="Mathangi Nageswar" userId="06d30ba0-36db-491a-b735-77a535643624" providerId="ADAL" clId="{9C85B1DF-412D-3041-B827-B3E87A52C283}" dt="2025-12-17T12:52:38.242" v="159" actId="20577"/>
        <pc:sldMkLst>
          <pc:docMk/>
          <pc:sldMk cId="3107848769" sldId="2897"/>
        </pc:sldMkLst>
        <pc:spChg chg="mod">
          <ac:chgData name="Mathangi Nageswar" userId="06d30ba0-36db-491a-b735-77a535643624" providerId="ADAL" clId="{9C85B1DF-412D-3041-B827-B3E87A52C283}" dt="2025-12-17T10:10:40.215" v="70" actId="20577"/>
          <ac:spMkLst>
            <pc:docMk/>
            <pc:sldMk cId="3107848769" sldId="2897"/>
            <ac:spMk id="23" creationId="{3B3CDF8D-C7B5-0F17-E9B8-8DEB5080C064}"/>
          </ac:spMkLst>
        </pc:spChg>
        <pc:spChg chg="mod">
          <ac:chgData name="Mathangi Nageswar" userId="06d30ba0-36db-491a-b735-77a535643624" providerId="ADAL" clId="{9C85B1DF-412D-3041-B827-B3E87A52C283}" dt="2025-12-17T12:46:00.801" v="127" actId="14100"/>
          <ac:spMkLst>
            <pc:docMk/>
            <pc:sldMk cId="3107848769" sldId="2897"/>
            <ac:spMk id="34" creationId="{0FE28878-B34A-D62F-E836-88D1A20E68BE}"/>
          </ac:spMkLst>
        </pc:spChg>
        <pc:spChg chg="mod">
          <ac:chgData name="Mathangi Nageswar" userId="06d30ba0-36db-491a-b735-77a535643624" providerId="ADAL" clId="{9C85B1DF-412D-3041-B827-B3E87A52C283}" dt="2025-12-17T12:45:56.769" v="126" actId="1076"/>
          <ac:spMkLst>
            <pc:docMk/>
            <pc:sldMk cId="3107848769" sldId="2897"/>
            <ac:spMk id="35" creationId="{773CCCA3-4765-D8AD-90E8-C232C592C3DB}"/>
          </ac:spMkLst>
        </pc:spChg>
        <pc:spChg chg="mod">
          <ac:chgData name="Mathangi Nageswar" userId="06d30ba0-36db-491a-b735-77a535643624" providerId="ADAL" clId="{9C85B1DF-412D-3041-B827-B3E87A52C283}" dt="2025-12-17T12:52:38.242" v="159" actId="20577"/>
          <ac:spMkLst>
            <pc:docMk/>
            <pc:sldMk cId="3107848769" sldId="2897"/>
            <ac:spMk id="36" creationId="{87A11035-C110-FF06-B3F5-520DDBE72ABE}"/>
          </ac:spMkLst>
        </pc:spChg>
        <pc:picChg chg="mod">
          <ac:chgData name="Mathangi Nageswar" userId="06d30ba0-36db-491a-b735-77a535643624" providerId="ADAL" clId="{9C85B1DF-412D-3041-B827-B3E87A52C283}" dt="2025-12-17T12:45:40.697" v="122" actId="14100"/>
          <ac:picMkLst>
            <pc:docMk/>
            <pc:sldMk cId="3107848769" sldId="2897"/>
            <ac:picMk id="30" creationId="{FE44813E-4704-FE8A-204C-749D3FCA973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38844-75DD-864D-B3E8-3AF23F57C166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21506-5846-8F49-B755-1B2A30430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6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MyPara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Leg </a:t>
            </a:r>
            <a:r>
              <a:rPr lang="en-US" sz="120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AI: A revolutionary AI Agentic Workbench built on GPT-4 with RAG technology. Operating on a massive knowledge base of Judgement documents enabling accelerated research with a built in confidence scoring. Offered through a Freemium model, </a:t>
            </a:r>
            <a:r>
              <a:rPr lang="en-US" sz="12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MyPara</a:t>
            </a: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has established a new standard for AI powered legal research in Indian legal ecosystem.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PeerIslands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Lexi built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MyPara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Legal AI—a sophisticated RAG system with GPT-4, </a:t>
            </a:r>
            <a:r>
              <a:rPr lang="en-US" sz="12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frontend, Python backend, and MongoDB Atlas.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1506-5846-8F49-B755-1B2A30430A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1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A506-56D2-DAC2-1A11-726D1D3E3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EAB5E-6EE4-1780-AA0D-BE0F996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22E53-71FC-4D31-E30F-69DC83EF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BE33A-6380-F606-AB61-0C34C25E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5F129-1DCB-1DF3-8921-B560756D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28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1112C-EDDC-D7B8-45BA-4A4A7CD8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AD928-8F09-2770-8EDF-25E8D3D42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07E05-13F1-8B8C-FFD9-16D3816F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B4074-50CC-D9BA-8E7C-7BB4E6B0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5BEAF-0AA1-42C4-489C-C762DCDF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0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EEFB-21D6-5534-B3EF-1E9E836F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779A6-75E6-3736-B4AE-4E3E18F46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1F79C-59C7-21E6-6D45-C0D66C7F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13FE3-F1E2-F4C2-D053-5B9B3114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C0EA6-D01D-F010-6CDD-C6542204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0764-5459-48C1-697C-55089458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54BC6-2E4C-8AE2-6693-C22BEB587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522C2-CBF6-5327-C450-32B5A1C2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DA138-EF29-D0ED-E727-F506394E5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50BC6-1930-247E-33B4-211F76A9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D4949-8FD5-630D-8C1A-9E23FE13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2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85FCD-C39F-703D-282E-5FF39F86B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C81B5-4F52-FCF2-CD10-0EBC7E1DA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34DF3-C7C7-8AFE-DCBA-CD9107E52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6FB5E-30BE-E2C3-5875-ECF6A8FF4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13538-2501-0613-AD5C-0FB92F77E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6EDDE4-3AA1-71F5-7259-9BB83C54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27339-8F08-796F-B48C-B999E13B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D7D86-5BE6-C777-C0BB-66688C11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2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9BB6-9E9F-0244-F52A-DCAF28242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4D270-3A17-3575-F41F-5783EA55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0CA03-8EFF-CD71-6E92-B0240CBC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F2277-EE84-A1EA-C3B5-057B9ED3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6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153FE-7404-8310-471E-4346B676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CC7B7-A7E4-3E45-545A-7B3A00CF4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9A074-4822-4E02-DF9E-18C155B0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4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E2203-F110-B512-1F1F-47A794D9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770D-84B3-229E-7B20-7725B6689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2A366-EABF-7C33-2C1A-612DB7F88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18D61-E667-7B96-1D40-173F0693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CBD42-0DB9-CE09-5749-66D14399F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AA846-484B-F8CB-73D8-516404BE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8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2DDB-CC3E-4C9C-43E8-1FF4E6F1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50E9AF-5BF0-65E3-A62A-09960C4A0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F12A4-4AA4-1ED3-410F-20EA95006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A6022-CC6C-093A-3604-5958C943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BF895-6B95-4B72-CE85-C2E82AE9E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62E38-23E8-9A54-83A4-90AB7DA8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3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CB9C8-28F2-6079-EBA6-0313B599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D0EA9-0FB8-E13E-345B-7203840F0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DE7AD-216A-6B61-1819-038EE5D9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8E698-D84B-9E9B-3740-9AF1241B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31814-FA3B-ADD3-BDA2-114AFD346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1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42F361-1104-4D3E-7215-C12EACB55F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B7AF2-BDB2-1107-968B-F436DEA24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AF493-18B3-7C38-0E00-CC62464B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1612A-1DE3-1526-E0F4-2A00D102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6410B-E36D-8C4E-26EF-B3576CCF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04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399E32-38D0-25D7-3FE9-7575CFAFE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51" y="344426"/>
            <a:ext cx="10506924" cy="474700"/>
          </a:xfrm>
        </p:spPr>
        <p:txBody>
          <a:bodyPr vert="horz"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6E6A3102-C9F2-AC45-A4B9-5D4B493FB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3976" y="6596365"/>
            <a:ext cx="65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lnSpc>
                <a:spcPct val="100000"/>
              </a:lnSpc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D449D4B-AC3E-111F-79AD-C5616A4F7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79500" y="6596365"/>
            <a:ext cx="10033000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lnSpc>
                <a:spcPct val="100000"/>
              </a:lnSpc>
              <a:defRPr sz="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3D2A07C-8062-F3D2-6B43-90F9E8549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5432" y="6596365"/>
            <a:ext cx="102592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lnSpc>
                <a:spcPct val="100000"/>
              </a:lnSpc>
              <a:defRPr sz="700">
                <a:solidFill>
                  <a:schemeClr val="tx1"/>
                </a:solidFill>
              </a:defRPr>
            </a:lvl1pPr>
          </a:lstStyle>
          <a:p>
            <a:fld id="{352DB678-C350-47F5-8046-DCB0932917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9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905261-B1CC-6436-74C0-EAAAB4D6C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86876-F5E8-14D9-DD3F-99F6F148D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3CDED-DBDB-9E48-41FD-D64EAA098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E9D0C-AF05-5D49-B7BF-867AD80F0A19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D21EC-444D-BA6F-7A39-4BFED2FDF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63C75-0FAB-6CBB-E72D-AA301E40D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93463-9D7F-2547-A309-EEFF55122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8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29657D2-03BA-5810-89DC-5EA71133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51" y="344426"/>
            <a:ext cx="7977386" cy="474700"/>
          </a:xfrm>
        </p:spPr>
        <p:txBody>
          <a:bodyPr>
            <a:noAutofit/>
          </a:bodyPr>
          <a:lstStyle/>
          <a:p>
            <a:r>
              <a:rPr lang="en-IN" sz="4000" b="1" dirty="0"/>
              <a:t>Transforming Legal Research with </a:t>
            </a:r>
            <a:r>
              <a:rPr lang="en-IN" sz="4000" b="1" dirty="0" err="1"/>
              <a:t>MyPara</a:t>
            </a:r>
            <a:r>
              <a:rPr lang="en-IN" sz="4000" b="1" dirty="0"/>
              <a:t> AI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DF9FA6-07BC-AB0B-0A7D-EF11E8E6D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100" y="6660993"/>
            <a:ext cx="33663" cy="76944"/>
          </a:xfrm>
        </p:spPr>
        <p:txBody>
          <a:bodyPr/>
          <a:lstStyle/>
          <a:p>
            <a:fld id="{352DB678-C350-47F5-8046-DCB09329177C}" type="slidenum">
              <a:rPr lang="en-US" sz="500" smtClean="0"/>
              <a:pPr/>
              <a:t>1</a:t>
            </a:fld>
            <a:endParaRPr lang="en-US" sz="50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199DF9A-06E1-9868-1029-11F52A19E4FE}"/>
              </a:ext>
            </a:extLst>
          </p:cNvPr>
          <p:cNvSpPr txBox="1">
            <a:spLocks/>
          </p:cNvSpPr>
          <p:nvPr/>
        </p:nvSpPr>
        <p:spPr>
          <a:xfrm>
            <a:off x="162758" y="6443646"/>
            <a:ext cx="9275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DF57C0-473D-EA47-B910-2CE9BC2523A1}" type="datetimeFigureOut">
              <a:rPr lang="en-US" sz="1000" smtClean="0">
                <a:solidFill>
                  <a:schemeClr val="bg2">
                    <a:lumMod val="75000"/>
                  </a:schemeClr>
                </a:solidFill>
              </a:rPr>
              <a:pPr/>
              <a:t>12/17/25</a:t>
            </a:fld>
            <a:endParaRPr lang="en-US" sz="1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BC5D3A8-39BC-7E8E-3E4F-BFD13595A3A3}"/>
              </a:ext>
            </a:extLst>
          </p:cNvPr>
          <p:cNvSpPr txBox="1">
            <a:spLocks noChangeAspect="1"/>
          </p:cNvSpPr>
          <p:nvPr/>
        </p:nvSpPr>
        <p:spPr>
          <a:xfrm>
            <a:off x="4082367" y="6502854"/>
            <a:ext cx="2739961" cy="243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lang="en-US" sz="12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pline Sans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2">
                    <a:lumMod val="75000"/>
                  </a:schemeClr>
                </a:solidFill>
              </a:rPr>
              <a:t>Copyright PeerIslands US Inc.  2025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D406A6E0-9DC6-EE27-7DC7-6B11EAE2F4ED}"/>
              </a:ext>
            </a:extLst>
          </p:cNvPr>
          <p:cNvSpPr/>
          <p:nvPr/>
        </p:nvSpPr>
        <p:spPr>
          <a:xfrm>
            <a:off x="530801" y="4028512"/>
            <a:ext cx="5782965" cy="549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291"/>
              </a:lnSpc>
            </a:pPr>
            <a:r>
              <a:rPr lang="en-US" sz="2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Measurable Impact in Weeks</a:t>
            </a:r>
            <a:endParaRPr lang="en-US" sz="28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A45F09B-A96F-66DC-EB98-1BEDBD06A5D6}"/>
              </a:ext>
            </a:extLst>
          </p:cNvPr>
          <p:cNvSpPr/>
          <p:nvPr/>
        </p:nvSpPr>
        <p:spPr>
          <a:xfrm>
            <a:off x="494451" y="4645386"/>
            <a:ext cx="2575024" cy="58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41"/>
              </a:lnSpc>
            </a:pPr>
            <a:r>
              <a:rPr lang="en-US" sz="4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1,600+</a:t>
            </a:r>
            <a:endParaRPr lang="en-US" sz="40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697F52EE-5A34-00BC-42B7-A70E2BF10D16}"/>
              </a:ext>
            </a:extLst>
          </p:cNvPr>
          <p:cNvSpPr/>
          <p:nvPr/>
        </p:nvSpPr>
        <p:spPr>
          <a:xfrm>
            <a:off x="682074" y="5445981"/>
            <a:ext cx="2199779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Platform Users</a:t>
            </a:r>
            <a:endParaRPr lang="en-US" sz="1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3855AC84-EA92-CF02-34DE-434BB5B30CF6}"/>
              </a:ext>
            </a:extLst>
          </p:cNvPr>
          <p:cNvSpPr/>
          <p:nvPr/>
        </p:nvSpPr>
        <p:spPr>
          <a:xfrm>
            <a:off x="494451" y="5777058"/>
            <a:ext cx="2575024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Acquired in just 3 weeks post-launch</a:t>
            </a:r>
            <a:endParaRPr lang="en-US" sz="13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13F4B5E-0250-78ED-B5BF-495A957EC8A3}"/>
              </a:ext>
            </a:extLst>
          </p:cNvPr>
          <p:cNvSpPr/>
          <p:nvPr/>
        </p:nvSpPr>
        <p:spPr>
          <a:xfrm>
            <a:off x="3289444" y="4645386"/>
            <a:ext cx="2575024" cy="58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41"/>
              </a:lnSpc>
            </a:pPr>
            <a:r>
              <a:rPr lang="en-US" sz="4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19,674</a:t>
            </a:r>
            <a:endParaRPr lang="en-US" sz="40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22E8242F-CAB5-5E96-132C-E53E9E8A3D23}"/>
              </a:ext>
            </a:extLst>
          </p:cNvPr>
          <p:cNvSpPr/>
          <p:nvPr/>
        </p:nvSpPr>
        <p:spPr>
          <a:xfrm>
            <a:off x="3477067" y="5445981"/>
            <a:ext cx="2199779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Judgment Documents</a:t>
            </a:r>
            <a:endParaRPr lang="en-US" sz="14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3B3CDF8D-C7B5-0F17-E9B8-8DEB5080C064}"/>
              </a:ext>
            </a:extLst>
          </p:cNvPr>
          <p:cNvSpPr/>
          <p:nvPr/>
        </p:nvSpPr>
        <p:spPr>
          <a:xfrm>
            <a:off x="3289444" y="5777058"/>
            <a:ext cx="2575024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Processed and searchable instantly &amp; 50K+ in pipeline</a:t>
            </a:r>
            <a:endParaRPr lang="en-US" sz="13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EA30D644-CD7F-3521-FBDE-EE8BA7D66637}"/>
              </a:ext>
            </a:extLst>
          </p:cNvPr>
          <p:cNvSpPr/>
          <p:nvPr/>
        </p:nvSpPr>
        <p:spPr>
          <a:xfrm>
            <a:off x="6084436" y="4645386"/>
            <a:ext cx="2575024" cy="58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41"/>
              </a:lnSpc>
            </a:pPr>
            <a:r>
              <a:rPr lang="en-US" sz="4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70%</a:t>
            </a:r>
            <a:endParaRPr lang="en-US" sz="40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A4A0279-739B-5CCA-406E-8AD911F5099D}"/>
              </a:ext>
            </a:extLst>
          </p:cNvPr>
          <p:cNvSpPr/>
          <p:nvPr/>
        </p:nvSpPr>
        <p:spPr>
          <a:xfrm>
            <a:off x="6272058" y="5445981"/>
            <a:ext cx="2199779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Time Reduction</a:t>
            </a:r>
            <a:endParaRPr lang="en-US" sz="14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DB8321B-15D1-81C8-F9D0-56B665EAECEB}"/>
              </a:ext>
            </a:extLst>
          </p:cNvPr>
          <p:cNvSpPr/>
          <p:nvPr/>
        </p:nvSpPr>
        <p:spPr>
          <a:xfrm>
            <a:off x="6084436" y="5777058"/>
            <a:ext cx="2575024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legal research and case preparation</a:t>
            </a:r>
            <a:endParaRPr lang="en-US" sz="13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4900E33E-5C93-D6BA-B0B2-C048E9031F31}"/>
              </a:ext>
            </a:extLst>
          </p:cNvPr>
          <p:cNvSpPr/>
          <p:nvPr/>
        </p:nvSpPr>
        <p:spPr>
          <a:xfrm>
            <a:off x="8879428" y="4645386"/>
            <a:ext cx="2575123" cy="58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541"/>
              </a:lnSpc>
            </a:pPr>
            <a:r>
              <a:rPr lang="en-US" sz="40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100+</a:t>
            </a:r>
            <a:endParaRPr lang="en-US" sz="40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68879F53-D1A4-6774-841A-B7C22543896E}"/>
              </a:ext>
            </a:extLst>
          </p:cNvPr>
          <p:cNvSpPr/>
          <p:nvPr/>
        </p:nvSpPr>
        <p:spPr>
          <a:xfrm>
            <a:off x="9067051" y="5445981"/>
            <a:ext cx="2199779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25"/>
              </a:lnSpc>
            </a:pPr>
            <a:r>
              <a:rPr lang="en-US" sz="14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Statutory Documents</a:t>
            </a:r>
            <a:endParaRPr lang="en-US" sz="14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902CDF4B-FAE0-DBED-BB2B-25C7DA98172C}"/>
              </a:ext>
            </a:extLst>
          </p:cNvPr>
          <p:cNvSpPr/>
          <p:nvPr/>
        </p:nvSpPr>
        <p:spPr>
          <a:xfrm>
            <a:off x="8879428" y="5777058"/>
            <a:ext cx="2575123" cy="563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08"/>
              </a:lnSpc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Corporate law acts and rules accessible</a:t>
            </a:r>
            <a:endParaRPr lang="en-US" sz="1300" dirty="0"/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FE44813E-4704-FE8A-204C-749D3FCA9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375" y="0"/>
            <a:ext cx="3057625" cy="4511378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F8D560BF-4D06-BA69-D31F-0A45DDD2141E}"/>
              </a:ext>
            </a:extLst>
          </p:cNvPr>
          <p:cNvSpPr/>
          <p:nvPr/>
        </p:nvSpPr>
        <p:spPr>
          <a:xfrm>
            <a:off x="473136" y="1280252"/>
            <a:ext cx="3151386" cy="2644837"/>
          </a:xfrm>
          <a:prstGeom prst="roundRect">
            <a:avLst>
              <a:gd name="adj" fmla="val 97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6C4358BD-82F8-4FDF-C8F6-3A7FE169AA42}"/>
              </a:ext>
            </a:extLst>
          </p:cNvPr>
          <p:cNvSpPr/>
          <p:nvPr/>
        </p:nvSpPr>
        <p:spPr>
          <a:xfrm>
            <a:off x="659055" y="1339524"/>
            <a:ext cx="2058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91F47988-6B56-EFA0-F1D0-B927C17615E3}"/>
              </a:ext>
            </a:extLst>
          </p:cNvPr>
          <p:cNvSpPr/>
          <p:nvPr/>
        </p:nvSpPr>
        <p:spPr>
          <a:xfrm>
            <a:off x="659055" y="1659019"/>
            <a:ext cx="2822178" cy="184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Legal professionals in India spent countless hours manually reviewing thousands of judgments and statutory documents. Research was time-consuming, inconsistent, and error-prone—creating bottlenecks in case preparation.</a:t>
            </a:r>
            <a:endParaRPr lang="en-US" sz="14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0FE28878-B34A-D62F-E836-88D1A20E68BE}"/>
              </a:ext>
            </a:extLst>
          </p:cNvPr>
          <p:cNvSpPr/>
          <p:nvPr/>
        </p:nvSpPr>
        <p:spPr>
          <a:xfrm>
            <a:off x="3789125" y="1280252"/>
            <a:ext cx="5090303" cy="2681255"/>
          </a:xfrm>
          <a:prstGeom prst="roundRect">
            <a:avLst>
              <a:gd name="adj" fmla="val 977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73CCCA3-4765-D8AD-90E8-C232C592C3DB}"/>
              </a:ext>
            </a:extLst>
          </p:cNvPr>
          <p:cNvSpPr/>
          <p:nvPr/>
        </p:nvSpPr>
        <p:spPr>
          <a:xfrm>
            <a:off x="3975045" y="1420825"/>
            <a:ext cx="20580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87A11035-C110-FF06-B3F5-520DDBE72ABE}"/>
              </a:ext>
            </a:extLst>
          </p:cNvPr>
          <p:cNvSpPr/>
          <p:nvPr/>
        </p:nvSpPr>
        <p:spPr>
          <a:xfrm>
            <a:off x="3975045" y="1759315"/>
            <a:ext cx="4774325" cy="157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Lexi in collaboration with </a:t>
            </a:r>
            <a:r>
              <a:rPr lang="en-US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PeerIslands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launches </a:t>
            </a:r>
            <a:r>
              <a:rPr lang="en-US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MyPara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Legal AI: A revolutionary AI Agentic Workbench built on GPT-4 with RAG technology. Operating on a massive knowledge base of Judgement documents enabling accelerated research with a built in confidence scoring (0 to 100) &amp; citations to ensure accuracy. Offered through a Freemium model, </a:t>
            </a:r>
            <a:r>
              <a:rPr lang="en-US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MyPara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has established a new standard for AI powered legal </a:t>
            </a:r>
            <a:r>
              <a:rPr lang="en-US" sz="140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ecosystem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07848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251</Words>
  <Application>Microsoft Macintosh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Lato</vt:lpstr>
      <vt:lpstr>Open Sans</vt:lpstr>
      <vt:lpstr>Playfair Display Bold</vt:lpstr>
      <vt:lpstr>Office Theme</vt:lpstr>
      <vt:lpstr>Transforming Legal Research with MyPara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Mathangi Nageswar</dc:creator>
  <cp:lastModifiedBy>Mathangi Nageswar</cp:lastModifiedBy>
  <cp:revision>1</cp:revision>
  <dcterms:created xsi:type="dcterms:W3CDTF">2025-12-17T09:35:25Z</dcterms:created>
  <dcterms:modified xsi:type="dcterms:W3CDTF">2025-12-17T12:52:48Z</dcterms:modified>
</cp:coreProperties>
</file>
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0"/>
    <p:restoredTop sz="94668"/>
  </p:normalViewPr>
  <p:slideViewPr>
    <p:cSldViewPr snapToGrid="0" snapToObjects="1">
      <p:cViewPr varScale="1">
        <p:scale>
          <a:sx n="140" d="100"/>
          <a:sy n="140" d="100"/>
        </p:scale>
        <p:origin x="5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286000"/>
            <a:ext cx="941832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Sepsis Early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DDC"/>
                </a:solidFill>
                <a:latin typeface="Calibri"/>
              </a:defRPr>
            </a:pPr>
            <a:r>
              <a:t>GenAI-Powered 6-Hour Predictive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  <a:latin typeface="Calibri"/>
              </a:defRPr>
            </a:pPr>
            <a:r>
              <a:t>Leadership Update  |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41832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Sepsis kills 270,000+ Americans annually</a:t>
            </a:r>
            <a:br/>
            <a:r>
              <a:t>  Every hour of delayed treatment increases mortality 7-8%</a:t>
            </a:r>
            <a:br/>
            <a:r>
              <a:t>  "Silent Sepsis" — normal vitals hide organ failure</a:t>
            </a:r>
            <a:br/>
            <a:r>
              <a:t>  Current alerts are reactive, not predictive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AI predicts septic shock 6 hours before BP crash</a:t>
            </a:r>
            <a:br/>
            <a:r>
              <a:t>  Fuses numeric trends + clinician notes (narrative intelligence)</a:t>
            </a:r>
            <a:br/>
            <a:r>
              <a:t>  Deterministic safety guardrails over AI output</a:t>
            </a:r>
            <a:br/>
            <a:r>
              <a:t>  Real-time risk scoring at the bedside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5156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Key Differentiator: Silent Sepsis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1498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rPr dirty="0"/>
              <a:t>  Traditional systems: Alert only when vitals cross thresholds</a:t>
            </a:r>
            <a:r>
              <a:rPr lang="en-US" dirty="0"/>
              <a:t>, or patterns seen in data by AI models</a:t>
            </a:r>
            <a:r>
              <a:rPr dirty="0"/>
              <a:t> (too late)</a:t>
            </a:r>
            <a:br>
              <a:rPr dirty="0"/>
            </a:br>
            <a:r>
              <a:rPr dirty="0"/>
              <a:t>  Our system: AI detects discordance — stable vitals BUT concerning nurse notes (mottled skin, fluid non-response)</a:t>
            </a:r>
            <a:br>
              <a:rPr dirty="0"/>
            </a:br>
            <a:r>
              <a:rPr dirty="0"/>
              <a:t>  Example: BP 115/70 (normal) + Nurse note 'required 2L bolus, skin mottled' → AI flags as compensated shock, risk score 75%</a:t>
            </a:r>
            <a:br>
              <a:rPr dirty="0"/>
            </a:br>
            <a:r>
              <a:rPr dirty="0"/>
              <a:t>  This is the gap that costs lives — and exactly what our system is built to catch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Journey — How the System Evolved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3840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DDC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737360"/>
            <a:ext cx="22860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Hybrid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XGBoost + GPT-4o (Azure)</a:t>
            </a:r>
            <a:br/>
            <a:r>
              <a:t>Numeric-only prediction</a:t>
            </a:r>
            <a:br/>
            <a:r>
              <a:t>Basic risk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80160"/>
            <a:ext cx="2560320" cy="3840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737360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GenAI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GPT-4o narrative intelligence</a:t>
            </a:r>
            <a:br/>
            <a:r>
              <a:t>Nurse notes fusion</a:t>
            </a:r>
            <a:br/>
            <a:r>
              <a:t>Red Rover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2560320" cy="3840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737360"/>
            <a:ext cx="22860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Safety &amp;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Clinical guardrails</a:t>
            </a:r>
            <a:br/>
            <a:r>
              <a:t>qSOFA/SIRS/SOFA scores</a:t>
            </a:r>
            <a:br/>
            <a:r>
              <a:t>Confidence reasoning</a:t>
            </a:r>
            <a:br/>
            <a:r>
              <a:t>Audit logging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280160"/>
            <a:ext cx="2560320" cy="3840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737360"/>
            <a:ext cx="22860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Claude Sonnet 4 (Bedrock)</a:t>
            </a:r>
            <a:br/>
            <a:r>
              <a:t>EKS deployment</a:t>
            </a:r>
            <a:br/>
            <a:r>
              <a:t>Doctor feedback loop</a:t>
            </a:r>
            <a:br/>
            <a:r>
              <a:t>SJSA integration (next)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DDC"/>
                </a:solidFill>
                <a:latin typeface="Calibri"/>
              </a:defRPr>
            </a:pPr>
            <a:r>
              <a:t>Key Pivot: Moved from Azure OpenAI GPT-4o → AWS Bedrock Claude Sonnet 4 for better compliance, lower cost, and same-cloud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 — 3-Stage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32004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DDC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246888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Preprocessor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rPr dirty="0"/>
              <a:t>Converts raw vitals, labs,</a:t>
            </a:r>
            <a:br>
              <a:rPr dirty="0"/>
            </a:br>
            <a:r>
              <a:rPr dirty="0"/>
              <a:t>and nurse notes into</a:t>
            </a:r>
            <a:br>
              <a:rPr dirty="0"/>
            </a:br>
            <a:r>
              <a:rPr dirty="0"/>
              <a:t>clinical narrative prose</a:t>
            </a:r>
            <a:br>
              <a:rPr dirty="0"/>
            </a:br>
            <a:r>
              <a:rPr dirty="0"/>
              <a:t>for LLM 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DBDB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371600"/>
            <a:ext cx="2743200" cy="32004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83080"/>
            <a:ext cx="24688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LLM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3774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Claude Sonnet 4 analyzes</a:t>
            </a:r>
            <a:br/>
            <a:r>
              <a:t>narrative for sepsis risk</a:t>
            </a:r>
            <a:br/>
            <a:r>
              <a:t>with confidence reasoning</a:t>
            </a:r>
            <a:br/>
            <a:r>
              <a:t>and clinical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BDBDB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371600"/>
            <a:ext cx="2743200" cy="32004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783080"/>
            <a:ext cx="246888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920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Safety 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7744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Deterministic validation:</a:t>
            </a:r>
            <a:br/>
            <a:r>
              <a:t>qSOFA, SIRS, SOFA scores</a:t>
            </a:r>
            <a:br/>
            <a:r>
              <a:t>Threshold overrides</a:t>
            </a:r>
            <a:br/>
            <a:r>
              <a:t>Silent sepsis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515600" cy="16459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DC"/>
                </a:solidFill>
                <a:latin typeface="Calibri"/>
              </a:defRPr>
            </a:pPr>
            <a:r>
              <a:t>API Output (7.5s response time)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Risk Score (0-100)  |  Priority (Critical/High/Standard)  |  6h Sepsis Probability</a:t>
            </a:r>
            <a:br/>
            <a:r>
              <a:t>  Clinical Rationale (LLM-generated explanation for doctors)</a:t>
            </a:r>
            <a:br/>
            <a:r>
              <a:t>  Confidence Level + Reasoning  |  Deterministic qSOFA, SIRS, SOFA scores</a:t>
            </a:r>
            <a:br/>
            <a:r>
              <a:t>  Guardrail Override flags  |  Structured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Comparison &amp;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457200"/>
          </a:xfrm>
          <a:prstGeom prst="roundRect">
            <a:avLst/>
          </a:prstGeom>
          <a:solidFill>
            <a:srgbClr val="009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Azure GPT-4o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3.5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Bedrock Sonnet 4 (Current)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515600" cy="457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~3s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FAILED (throttled)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~7.5s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31720"/>
            <a:ext cx="10515600" cy="457200"/>
          </a:xfrm>
          <a:prstGeom prst="roundRect">
            <a:avLst/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3774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Cost / 1K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~$4.50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$3.00 (if working)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3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$4.50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10515600" cy="457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HIPAA /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BAA required separately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AWS BAA 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AWS BAA included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37560"/>
            <a:ext cx="10515600" cy="457200"/>
          </a:xfrm>
          <a:prstGeom prst="roundRect">
            <a:avLst/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PHI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Data leaves AWS to 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83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Stays within AWS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0480"/>
            <a:ext cx="10515600" cy="457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Model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LEGACY (deprecated)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43400"/>
            <a:ext cx="10515600" cy="457200"/>
          </a:xfrm>
          <a:prstGeom prst="roundRect">
            <a:avLst/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389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DBDBD"/>
                </a:solidFill>
                <a:latin typeface="Calibri"/>
              </a:defRPr>
            </a:pPr>
            <a:r>
              <a:t>Sepsis 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937760"/>
            <a:ext cx="5029200" cy="1554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074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Why We Moved to Claude Sonnet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440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Same-cloud (AWS) — no data leaving to Azure</a:t>
            </a:r>
            <a:br/>
            <a:r>
              <a:t>  AWS BAA covers HIPAA compliance out of the box</a:t>
            </a:r>
            <a:br/>
            <a:r>
              <a:t>  Sonnet 3.5 deprecated by AWS (LEGACY, throttled)</a:t>
            </a:r>
            <a:br/>
            <a:r>
              <a:t>  Sonnet 4 is active, faster, better clinical reasoning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937760"/>
            <a:ext cx="5029200" cy="155448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074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Cost Breakdown (Usage-Based)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4068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Bedrock: ~$4.50 per 1,000 patients</a:t>
            </a:r>
            <a:br/>
            <a:r>
              <a:t>  EKS Infra: Shared cluster, ~$0 marginal cost</a:t>
            </a:r>
            <a:br/>
            <a:r>
              <a:t>  No idle charges — pay only when API is called</a:t>
            </a:r>
            <a:br/>
            <a:r>
              <a:t>  No model hosting/GPU costs (fully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Safety, Trust &amp; Clinical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743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Deterministic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qSOFA (0-3) — sepsis screening</a:t>
            </a:r>
            <a:br/>
            <a:r>
              <a:t>  SIRS (0-4) — inflammatory response</a:t>
            </a:r>
            <a:br/>
            <a:r>
              <a:t>  SOFA (0-24) — organ dysfunction</a:t>
            </a:r>
            <a:br/>
            <a:r>
              <a:t>  Sepsis-3 criteria evaluation</a:t>
            </a:r>
            <a:br/>
            <a:r>
              <a:t>  Calculated from raw data, not AI</a:t>
            </a:r>
            <a:br/>
            <a:r>
              <a:t>  100% reproducible, no hallucination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291840" cy="2743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DC"/>
                </a:solidFill>
                <a:latin typeface="Calibri"/>
              </a:defRPr>
            </a:pPr>
            <a:r>
              <a:t>AI Safety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Confidence level (High/Med/Low)</a:t>
            </a:r>
            <a:br/>
            <a:r>
              <a:t>  Confidence reasoning (why)</a:t>
            </a:r>
            <a:br/>
            <a:r>
              <a:t>  Clinical rationale (explanation)</a:t>
            </a:r>
            <a:br/>
            <a:r>
              <a:t>  Guardrail override when vitals</a:t>
            </a:r>
            <a:br/>
            <a:r>
              <a:t>    contradict AI assessment</a:t>
            </a:r>
            <a:br/>
            <a:r>
              <a:t>  Silent sepsis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291840" cy="27432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Compliance &amp;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78308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Structured JSON audit logging</a:t>
            </a:r>
            <a:br/>
            <a:r>
              <a:t>  No PHI in logs (names stripped)</a:t>
            </a:r>
            <a:br/>
            <a:r>
              <a:t>  Model version tracking</a:t>
            </a:r>
            <a:br/>
            <a:r>
              <a:t>  Every override documented</a:t>
            </a:r>
            <a:br/>
            <a:r>
              <a:t>  CloudWatch integration</a:t>
            </a:r>
            <a:br/>
            <a:r>
              <a:t>  Full decision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Doctor Feedback Loop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Capture: Doctor agrees/disagrees with AI score + actual outcome</a:t>
            </a:r>
            <a:br/>
            <a:r>
              <a:t>  Store: MongoDB with structured feedback schema</a:t>
            </a:r>
            <a:br/>
            <a:r>
              <a:t>  Analyze: Automated script detects calibration drift, over/under-estimation</a:t>
            </a:r>
            <a:br/>
            <a:r>
              <a:t>  Improve: Insights embedded back into system prompt as "Learned Calibrations"</a:t>
            </a:r>
            <a:br/>
            <a:r>
              <a:t>  Result: System gets smarter with every doctor interaction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Guardrail Configuration (SME-Managed)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850+ line clinical guardrail config with rationale for every threshold</a:t>
            </a:r>
            <a:br/>
            <a:r>
              <a:t>  API endpoints for SMEs to view, update, and export guardrail config</a:t>
            </a:r>
            <a:br/>
            <a:r>
              <a:t>  Hot-reload without service restart</a:t>
            </a:r>
            <a:br/>
            <a:r>
              <a:t>  In-memory updates for testing, persistent saves for production</a:t>
            </a:r>
            <a:br/>
            <a:r>
              <a:t>  Every threshold has clinical rationale and SME notes attached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&amp; Integration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5603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Current Deployment (Live)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EKS (medbeacon-cluster) — shared with Django app</a:t>
            </a:r>
            <a:br/>
            <a:r>
              <a:t>  ALB with path-based routing, multi-AZ</a:t>
            </a:r>
            <a:br/>
            <a:r>
              <a:t>  ECR image: v4.0-sonnet4-fix-throttle</a:t>
            </a:r>
            <a:br/>
            <a:r>
              <a:t>  Swagger UI live at ALB endpoint /docs</a:t>
            </a:r>
            <a:br/>
            <a:r>
              <a:t>  API key authenticated, CORS enabled</a:t>
            </a:r>
            <a:br/>
            <a:r>
              <a:t>  Auto-scaling: 1-4 nodes (t3.medium)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25603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DC"/>
                </a:solidFill>
                <a:latin typeface="Calibri"/>
              </a:defRPr>
            </a:pPr>
            <a:r>
              <a:t>API Endpoints (Production Ready)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6634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POST /classify — Single patient risk assessment</a:t>
            </a:r>
            <a:br/>
            <a:r>
              <a:t>  POST /classify-batch — Batch processing</a:t>
            </a:r>
            <a:br/>
            <a:r>
              <a:t>  GET /health — Lightweight health check (ALB)</a:t>
            </a:r>
            <a:br/>
            <a:r>
              <a:t>  GET /health/deep — Model connectivity test</a:t>
            </a:r>
            <a:br/>
            <a:r>
              <a:t>  GET /guardrail/* — Config management for SMEs</a:t>
            </a:r>
            <a:br/>
            <a:r>
              <a:t>  GET /audit/info — Audit system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Red Rover Integration (In Progress)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5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Preprocessor handles Red Rover nested JSON format</a:t>
            </a:r>
            <a:br/>
            <a:r>
              <a:t>  Supports time-series vitals with timestamps</a:t>
            </a:r>
            <a:br/>
            <a:r>
              <a:t>  Clinician notes fusion from Red Rover documents API</a:t>
            </a:r>
            <a:br/>
            <a:r>
              <a:t>  SJSA alert integration — awaiting Red Rover sandbox setup</a:t>
            </a:r>
            <a:br/>
            <a:r>
              <a:t>  Working with Red Rover team on order/event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06240"/>
            <a:ext cx="50292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Infrastructure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59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All AWS — Bedrock, EKS, ECR, CloudWatch</a:t>
            </a:r>
            <a:br/>
            <a:r>
              <a:t>  No data leaves AWS boundary (HIPAA alignment)</a:t>
            </a:r>
            <a:br/>
            <a:r>
              <a:t>  Docker containerized, AMD64 cross-compiled</a:t>
            </a:r>
            <a:br/>
            <a:r>
              <a:t>  CI/CD managed by Narendra via EKS</a:t>
            </a:r>
            <a:br/>
            <a:r>
              <a:t>  Git repo: sepsis-genai (GitHub)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Roadmap —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65760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5603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Near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SJSA alert integration via</a:t>
            </a:r>
            <a:br/>
            <a:r>
              <a:t>    Red Rover orders API</a:t>
            </a:r>
            <a:br/>
            <a:r>
              <a:t>  Doctor feedback capture</a:t>
            </a:r>
            <a:br/>
            <a:r>
              <a:t>    (front-end + MongoDB)</a:t>
            </a:r>
            <a:br/>
            <a:r>
              <a:t>  HTTPS/TLS on ALB</a:t>
            </a:r>
            <a:br/>
            <a:r>
              <a:t>  EKS logging enablement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291840" cy="25603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DDC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29260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Prompt tuning from doctor</a:t>
            </a:r>
            <a:br/>
            <a:r>
              <a:t>    feedback analysis</a:t>
            </a:r>
            <a:br/>
            <a:r>
              <a:t>  Multi-facility deployment</a:t>
            </a:r>
            <a:br/>
            <a:r>
              <a:t>  Real-time alerting to</a:t>
            </a:r>
            <a:br/>
            <a:r>
              <a:t>    iOS/mobile dashboard</a:t>
            </a:r>
            <a:br/>
            <a:r>
              <a:t>  Write-back: AI alerts to</a:t>
            </a:r>
            <a:br/>
            <a:r>
              <a:t>    Cerner via Red Rover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291840" cy="256032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9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Long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1783080"/>
            <a:ext cx="29260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Outcome tracking (actual</a:t>
            </a:r>
            <a:br/>
            <a:r>
              <a:t>    sepsis vs. predicted)</a:t>
            </a:r>
            <a:br/>
            <a:r>
              <a:t>  Model benchmarking with</a:t>
            </a:r>
            <a:br/>
            <a:r>
              <a:t>    clinical validation study</a:t>
            </a:r>
            <a:br/>
            <a:r>
              <a:t>  Expand to other conditions</a:t>
            </a:r>
            <a:br/>
            <a:r>
              <a:t>    (AKI, cardiac arrest)</a:t>
            </a:r>
            <a:br/>
            <a:r>
              <a:t>  FDA/regulatory pathway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2286000"/>
          </a:xfrm>
          <a:prstGeom prst="roundRect">
            <a:avLst/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Key Decisions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59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1. Red Rover sandbox setup for SJSA data — email sent to Shawn (pending Red Rover response)</a:t>
            </a:r>
            <a:br/>
            <a:r>
              <a:t>  2. Front-end team allocation for doctor feedback UI (MongoDB integration ready)</a:t>
            </a:r>
            <a:br/>
            <a:r>
              <a:t>  3. HTTPS certificate for production ALB (currently HTTP only)</a:t>
            </a:r>
            <a:br/>
            <a:r>
              <a:t>  4. Clinical validation study timeline — when to start measuring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560320"/>
            <a:ext cx="941832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DD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9418320" cy="36576"/>
          </a:xfrm>
          <a:prstGeom prst="rect">
            <a:avLst/>
          </a:prstGeom>
          <a:solidFill>
            <a:srgbClr val="009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58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BDBD"/>
                </a:solidFill>
                <a:latin typeface="Calibri"/>
              </a:defRPr>
            </a:pPr>
            <a:r>
              <a:rPr dirty="0"/>
              <a:t>Live Demo: k8s-medbeaconalb-cf9abd09e4-682506655.us-east-1.elb.amazonaws.com/docs</a:t>
            </a:r>
            <a:br>
              <a:rPr dirty="0"/>
            </a:br>
            <a:r>
              <a:rPr dirty="0"/>
              <a:t>Contact: Sachin Jadhav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1331</Words>
  <Application>Microsoft Macintosh PowerPoint</Application>
  <PresentationFormat>Widescreen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2</cp:revision>
  <dcterms:created xsi:type="dcterms:W3CDTF">2013-01-27T09:14:16Z</dcterms:created>
  <dcterms:modified xsi:type="dcterms:W3CDTF">2026-03-26T04:26:04Z</dcterms:modified>
  <cp:category/>
</cp:coreProperties>
</file>
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5"/>
  </p:normalViewPr>
  <p:slideViewPr>
    <p:cSldViewPr snapToGrid="0" snapToObjects="1">
      <p:cViewPr varScale="1">
        <p:scale>
          <a:sx n="140" d="100"/>
          <a:sy n="140" d="100"/>
        </p:scale>
        <p:origin x="5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Sepsis GenAI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CD4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0604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CC"/>
                </a:solidFill>
                <a:latin typeface="Calibri"/>
              </a:defRPr>
            </a:pPr>
            <a:r>
              <a:t>LLM Selection  •  System Architecture  •  Hospital Configurability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3200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Production: Claude Sonnet 4.5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200400" cy="365760"/>
          </a:xfrm>
          <a:prstGeom prst="roundRect">
            <a:avLst/>
          </a:prstGeom>
          <a:solidFill>
            <a:srgbClr val="1A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858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BBCC"/>
                </a:solidFill>
                <a:latin typeface="Calibri"/>
              </a:defRPr>
            </a:pPr>
            <a:r>
              <a:t>Deployed on AWS EKS  •  Apr 8,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8899"/>
                </a:solidFill>
                <a:latin typeface="Calibri"/>
              </a:defRPr>
            </a:pPr>
            <a:r>
              <a:t>Leadership Briefing  •  April 2026  •  Medbeacon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LLM Selection — How We Got to Sonnet 4.5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100+ LLMs exist. We applied 4 systematic filters to find the right one for clinical sepsis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371600"/>
            <a:ext cx="10515600" cy="1005840"/>
          </a:xfrm>
          <a:prstGeom prst="roundRect">
            <a:avLst/>
          </a:prstGeom>
          <a:solidFill>
            <a:srgbClr val="CCDD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3767" y="1554480"/>
            <a:ext cx="594360" cy="594360"/>
          </a:xfrm>
          <a:prstGeom prst="ellipse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 dirty="0"/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007" y="1463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5A6A"/>
                </a:solidFill>
                <a:latin typeface="Calibri"/>
              </a:defRPr>
            </a:pPr>
            <a:r>
              <a:t>ALL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755648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GPT-4o, Claude, Gemini, Llama 3,</a:t>
            </a:r>
            <a:br/>
            <a:r>
              <a:t>Mistral, Med-PaLM 2, Cohere...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9607" y="2560320"/>
            <a:ext cx="8229600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6767" y="2743200"/>
            <a:ext cx="594360" cy="59436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~10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Filter 1: AWS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007" y="29443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PHI must stay within AWS boundary.</a:t>
            </a:r>
            <a:br/>
            <a:r>
              <a:t>Eliminated: GPT-4o, Gemini, Med-PaLM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2607" y="3749039"/>
            <a:ext cx="5943600" cy="10058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69767" y="393192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7007" y="3840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Filter 2: Managed +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7007" y="413308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No self-hosting. No LEGACY models.</a:t>
            </a:r>
            <a:br/>
            <a:r>
              <a:t>Eliminated: Llama 3, Mistral, 3.5 Sonnet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607" y="4937760"/>
            <a:ext cx="3657600" cy="10058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12767" y="5120640"/>
            <a:ext cx="594360" cy="59436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8A00"/>
                </a:solidFill>
                <a:latin typeface="Calibri"/>
              </a:defRPr>
            </a:pPr>
            <a:r>
              <a:t>Filter 3: Clinical Quality +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007" y="5321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Head-to-head on real patient data.</a:t>
            </a:r>
            <a:br/>
            <a:r>
              <a:t>4 finalists tested with 8 patients × 4 models = 32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0" y="614476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 Winner: Claude Sonnet 4.5  —  Deployed to Production Apr 8, 2026  —  Best balance of speed, depth &amp;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Head-to-Head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8 patients × 4 models = 32 test runs  |  Same prompt (v3.0)  |  AWS Bedrock us-east-1  |  April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Performance &amp; Cost (Averaged)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600200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6184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60020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59" y="16184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93852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956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23160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5.0 sec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938528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195681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9.3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15.8 sec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938528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1956816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18.4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231136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22494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Output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2231136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2494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2231136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86200" y="224942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231136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22494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231136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59" y="2249424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869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523744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2542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Per 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2523744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2523744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254203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$0.0127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2523744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$0.0176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2523744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59" y="2542032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$0.0312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2816352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28346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2816352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$10.34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2816352"/>
            <a:ext cx="16002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86200" y="283464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$12.69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2816352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$17.57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2816352"/>
            <a:ext cx="1417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95159" y="2834640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$31.16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108960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12724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Monthly (1K/day)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3108960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$310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0" y="3108960"/>
            <a:ext cx="160020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86200" y="312724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$381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3108960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32120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$527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3108960"/>
            <a:ext cx="1417320" cy="256032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95159" y="312724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$935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Clinical Output Quality (Averaged)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3840480"/>
            <a:ext cx="160020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" y="38587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384048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423160" y="385876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3840480"/>
            <a:ext cx="1600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86200" y="38587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4.5 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384048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32120" y="385876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Sonnet 4.6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49440" y="3840480"/>
            <a:ext cx="1417320" cy="292608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995159" y="385876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Opus 4.6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17880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41879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Risk Score (avg)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377440" y="417880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41879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840480" y="417880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86200" y="41879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0" y="417880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532120" y="41879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417880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95159" y="41879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45312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" y="4462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45312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23160" y="44622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840480" y="445312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886200" y="44622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0" y="445312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532120" y="44622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45312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95159" y="44622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472744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77240" y="473659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6h Probability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72744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23160" y="473659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840480" y="472744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886200" y="473659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Moderate–High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6400" y="472744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532120" y="473659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49440" y="472744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95159" y="473659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" y="500176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7240" y="501091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Organ Stress Items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377440" y="500176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23160" y="50109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40480" y="500176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886200" y="501091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0" y="500176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532120" y="50109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949440" y="500176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995159" y="50109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527608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77240" y="528523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Missing Data Flagged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77440" y="527608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23160" y="52852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840480" y="527608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86200" y="528523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0" y="527608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32120" y="52852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949440" y="527608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995159" y="52852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31520" y="555040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7240" y="55595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Surgical Context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77440" y="555040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423160" y="55595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840480" y="5550408"/>
            <a:ext cx="160020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86200" y="555955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486400" y="555040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532120" y="55595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Bile leak, Day 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949440" y="5550408"/>
            <a:ext cx="1417320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995159" y="55595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Multi-system + time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" y="582472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77240" y="58338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Discordance Detected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377440" y="582472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423160" y="58338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840480" y="5824728"/>
            <a:ext cx="160020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86200" y="583387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0" y="582472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32120" y="58338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949440" y="5824728"/>
            <a:ext cx="1417320" cy="23774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95159" y="58338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2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412480" y="1280160"/>
            <a:ext cx="3474720" cy="4846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59536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95360" y="1645920"/>
            <a:ext cx="30175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59536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All 4 models agree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95360" y="202996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Risk: 72, Priority: High,</a:t>
            </a:r>
            <a:br/>
            <a:r>
              <a:t>qSOFA: 1, Trend: Deteriorating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Sonnet 4.5 sweet spot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595360" y="2990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85% better reasoning than 4,</a:t>
            </a:r>
            <a:br/>
            <a:r>
              <a:t>only 23% cost increase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95360" y="37033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Opus 4.6 deepest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595360" y="39502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Only model to estimate</a:t>
            </a:r>
            <a:br/>
            <a:r>
              <a:t>time-to-decompensation (4-6h)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95360" y="46634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Speed doubles per gen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595360" y="49103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5s → 9s → 16s → 18s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" y="6263640"/>
            <a:ext cx="1115568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22960" y="6281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★  All 4 models converge on the same core prediction — the difference is depth of clinical reasoning, not accuracy.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Clinical Rationale — Quality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Same patient, same data — how each model explains its assessment (actual LLM outputs)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234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123444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280160"/>
            <a:ext cx="2560320" cy="22860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8930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Previous Production  •  5.0s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"Post-operative patient with concerning vital trend deterioration (HR rising to 105, SBP dropping to 98, falling O2Sat 96→94) combined with subtle clinical decline and elevated WBC suggesting early sepsis."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→  Concise, fast — but misses surgical-specific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87752"/>
            <a:ext cx="10698480" cy="1234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9728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33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33472"/>
            <a:ext cx="2560320" cy="228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★  DEPLOYED  •  9.3s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3522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"Concerning discordance between compensating vitals and subtle clinical decompensation. Rising HR (105) with falling MAP (71 calculated) suggests early distributive shock. 'Not quite right' post-op Day 3 is classic for occult intra-abdominal sepsis."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47872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→  Calculates MAP (71), names bile leak risk, identifies Day 3 peak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41064"/>
            <a:ext cx="10698480" cy="1234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9728" cy="12344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867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986784"/>
            <a:ext cx="2560320" cy="22860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86200" y="3995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Tested  •  15.8s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885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"...widening pulse pressure suggesting early distributive physiology. Lactate at 1.6 is 'normal' but direction unknown. Note-to-data discordance: 'not feeling right' should not be dismissed on Day 3, peak window for anastomotic leak post-cholecystectomy."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→  6 organ stress items, 11 missing flags — but 70% costlier than 4.5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94375"/>
            <a:ext cx="10698480" cy="1234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294375"/>
            <a:ext cx="109728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5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5340095"/>
            <a:ext cx="2560320" cy="2286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53492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Validation Study  •  18.4s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41847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"...velocity of change across multiple organ systems simultaneously — cardiovascular, respiratory, metabolic — strongly suggests early distributive shock in compensatory phase. This patient is likely 4-6 hours from decompensation without intervention."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254495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→  Only model to estimate decompensation timeline — ideal for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LLM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28600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★ 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Claude Sonnet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47548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Deployed to EKS — Apr 8, 2026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Best balance of clinical depth &amp; speed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9.3s response  •  $12.69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Identifies surgical complications (bile leak, anastomotic leak)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Calculates MAP, names post-op Day 3 risk window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85% better reasoning vs Sonnet 4, only 23% more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716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228600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E44AD"/>
                </a:solidFill>
                <a:latin typeface="Calibri"/>
              </a:defRPr>
            </a:pPr>
            <a:r>
              <a:t>Claude Opus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57400"/>
            <a:ext cx="475488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194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For retrospective clinical validation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Deepest reasoning — organizes by organ system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18.4s response  •  $31.16 per 1,000 patients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Only model to estimate time-to-decompensation (4-6h)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Rates 6h probability as 'High' vs Sonnets' 'Moderate'</a:t>
            </a:r>
          </a:p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Speed doesn't matter for historical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5303520" cy="9144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37160" cy="9144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NOT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Claude Sonnet 4.6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15.8s — slower than 4.5  •  $17.57/1K — 38% costlier  •  Similar quality to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914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137160" cy="914400"/>
          </a:xfrm>
          <a:prstGeom prst="rect">
            <a:avLst/>
          </a:prstGeom>
          <a:solidFill>
            <a:srgbClr val="D0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913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5A6A"/>
                </a:solidFill>
                <a:latin typeface="Calibri"/>
              </a:defRPr>
            </a:pPr>
            <a:r>
              <a:t>PREVIOUS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60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5A6A"/>
                </a:solidFill>
                <a:latin typeface="Calibri"/>
              </a:defRPr>
            </a:pPr>
            <a:r>
              <a:t>Claude Sonnet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Fastest (5s), cheapest ($10.34)  •  Replaced due to shallower clinical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🔄  Easy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Model change = 1 environment variable update. No code rewrite, no redeployment.</a:t>
            </a:r>
            <a:br/>
            <a:r>
              <a:t>BEDROCK_MODEL_ID=us.anthropic.claude-sonnet-4-5-20250929-v1:0  →  When a better model launches, swap in minutes.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Day in the Life — How a Doctor Experiences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58368"/>
            <a:ext cx="36576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508760" cy="274320"/>
          </a:xfrm>
          <a:prstGeom prst="roundRect">
            <a:avLst/>
          </a:prstGeom>
          <a:solidFill>
            <a:srgbClr val="557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5:55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557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7788"/>
                </a:solidFill>
                <a:latin typeface="Calibri"/>
              </a:defRPr>
            </a:pPr>
            <a:r>
              <a:t>System Wakes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377440"/>
            <a:ext cx="1371600" cy="36576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Every 5 minutes, Red Rover sends</a:t>
            </a:r>
            <a:br/>
            <a:r>
              <a:t>latest vitals, labs &amp; nurse notes</a:t>
            </a:r>
            <a:br/>
            <a:r>
              <a:t>for all monitored patients.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93391" y="2743200"/>
            <a:ext cx="109728" cy="182880"/>
          </a:xfrm>
          <a:prstGeom prst="rightArrow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21408" y="1005840"/>
            <a:ext cx="1508760" cy="274320"/>
          </a:xfrm>
          <a:prstGeom prst="round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67128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6:00 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78608" y="1508760"/>
            <a:ext cx="548640" cy="54864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9AAD4"/>
                </a:solidFill>
                <a:latin typeface="Calibri"/>
              </a:defRPr>
            </a:pPr>
            <a:r>
              <a:t>Data Flows 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377440"/>
            <a:ext cx="13716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Patient in Room 312:</a:t>
            </a:r>
            <a:br/>
            <a:r>
              <a:t>HR 105↑  •  SBP 98↓  •  O2 94%↓</a:t>
            </a:r>
            <a:br/>
            <a:r>
              <a:t>Nurse note: 'Not feeling right'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57600" y="2743200"/>
            <a:ext cx="109728" cy="182880"/>
          </a:xfrm>
          <a:prstGeom prst="rightArrow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85616" y="1005840"/>
            <a:ext cx="1508760" cy="2743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31336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6:01 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6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42816" y="1508760"/>
            <a:ext cx="548640" cy="54864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6C93"/>
                </a:solidFill>
                <a:latin typeface="Calibri"/>
              </a:defRPr>
            </a:pPr>
            <a:r>
              <a:t>AI Analyzes in 9 sec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2377440"/>
            <a:ext cx="1371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8768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Preprocessor → LLM → Guardrail</a:t>
            </a:r>
            <a:br/>
            <a:r>
              <a:t>Sonnet 4.5 detects discordance:</a:t>
            </a:r>
            <a:br/>
            <a:r>
              <a:t>numbers say 'borderline' but</a:t>
            </a:r>
            <a:br/>
            <a:r>
              <a:t>notes say 'concerning'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321808" y="2743200"/>
            <a:ext cx="109728" cy="18288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449824" y="1005840"/>
            <a:ext cx="1508760" cy="27432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95544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6:02 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9824" y="1371600"/>
            <a:ext cx="1508760" cy="3017520"/>
          </a:xfrm>
          <a:prstGeom prst="roundRect">
            <a:avLst/>
          </a:prstGeom>
          <a:solidFill>
            <a:srgbClr val="3A2A1A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07024" y="1508760"/>
            <a:ext cx="548640" cy="54864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8A00"/>
                </a:solidFill>
                <a:latin typeface="Calibri"/>
              </a:defRPr>
            </a:pPr>
            <a:r>
              <a:t>Alert Appears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2976" y="2377440"/>
            <a:ext cx="1371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Dashboard shows:</a:t>
            </a:r>
            <a:br/>
            <a:r>
              <a:t>Risk: 72  •  Priority: HIGH</a:t>
            </a:r>
            <a:br/>
            <a:r>
              <a:t>'Post-op Day 3, falling MAP 71,</a:t>
            </a:r>
            <a:br/>
            <a:r>
              <a:t>bile leak risk cannot be excluded'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986016" y="2743200"/>
            <a:ext cx="109728" cy="18288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114032" y="1005840"/>
            <a:ext cx="1508760" cy="2743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9752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6:05 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4032" y="1371600"/>
            <a:ext cx="1508760" cy="301752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71232" y="1508760"/>
            <a:ext cx="548640" cy="5486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👩‍⚕️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CD4"/>
                </a:solidFill>
                <a:latin typeface="Calibri"/>
              </a:defRPr>
            </a:pPr>
            <a:r>
              <a:t>Dr. Priya Reviews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87184" y="237744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87184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Sees confidence: Medium</a:t>
            </a:r>
            <a:br/>
            <a:r>
              <a:t>qSOFA: 1  •  SIRS: 3/4  •  SOFA: 2</a:t>
            </a:r>
            <a:br/>
            <a:r>
              <a:t>Reads rationale — agrees with</a:t>
            </a:r>
            <a:br/>
            <a:r>
              <a:t>escalation recommendation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650224" y="2743200"/>
            <a:ext cx="109728" cy="18288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78240" y="1005840"/>
            <a:ext cx="1508760" cy="2743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6:15 AM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1371600"/>
            <a:ext cx="1508760" cy="301752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235440" y="150876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1392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Early Intervention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1392" y="237744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51392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Orders blood cultures STAT</a:t>
            </a:r>
            <a:br/>
            <a:r>
              <a:t>Starts broad-spectrum antibiotics</a:t>
            </a:r>
            <a:br/>
            <a:r>
              <a:t>IV fluid bolus initiated</a:t>
            </a:r>
            <a:br/>
            <a:r>
              <a:t>4 hours BEFORE typical crash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10314432" y="2743200"/>
            <a:ext cx="109728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442448" y="1005840"/>
            <a:ext cx="1508760" cy="2743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488168" y="1024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12:00 PM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42448" y="1371600"/>
            <a:ext cx="1508760" cy="3017520"/>
          </a:xfrm>
          <a:prstGeom prst="roundRect">
            <a:avLst/>
          </a:prstGeom>
          <a:solidFill>
            <a:srgbClr val="1A3A2A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899648" y="150876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Patient Stable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15600" y="2377440"/>
            <a:ext cx="1371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15600" y="246888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BBCC"/>
                </a:solidFill>
                <a:latin typeface="Calibri"/>
              </a:defRPr>
            </a:pPr>
            <a:r>
              <a:t>Lactate normalized at 1.0</a:t>
            </a:r>
            <a:br/>
            <a:r>
              <a:t>BP stable at 118/75</a:t>
            </a:r>
            <a:br/>
            <a:r>
              <a:t>Patient improving — early</a:t>
            </a:r>
            <a:br/>
            <a:r>
              <a:t>intervention prevented shock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CD4"/>
                </a:solidFill>
                <a:latin typeface="Calibri"/>
              </a:defRPr>
            </a:pPr>
            <a:r>
              <a:t>Behind the Scenes — End-to-End Data Flow</a:t>
            </a:r>
          </a:p>
        </p:txBody>
      </p:sp>
      <p:sp>
        <p:nvSpPr>
          <p:cNvPr id="63" name="Oval 62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Bedside</a:t>
            </a:r>
            <a:br/>
            <a:r>
              <a:t>Monitors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143000" y="5303520"/>
            <a:ext cx="228600" cy="137160"/>
          </a:xfrm>
          <a:prstGeom prst="rightArrow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011680" y="5166360"/>
            <a:ext cx="457200" cy="45720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Oracle</a:t>
            </a:r>
            <a:br/>
            <a:r>
              <a:t>Cerner EHR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2514600" y="5303520"/>
            <a:ext cx="228600" cy="13716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3383280" y="516636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461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Red Rover</a:t>
            </a:r>
            <a:br/>
            <a:r>
              <a:t>API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3886200" y="5303520"/>
            <a:ext cx="228600" cy="13716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754880" y="51663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Our Backend</a:t>
            </a:r>
            <a:br/>
            <a:r>
              <a:t>EKS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257800" y="5303520"/>
            <a:ext cx="228600" cy="13716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126480" y="5166360"/>
            <a:ext cx="457200" cy="45720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89320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1</a:t>
            </a:r>
            <a:br/>
            <a:r>
              <a:t>Preprocessor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6629400" y="5303520"/>
            <a:ext cx="228600" cy="13716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498079" y="5166360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2</a:t>
            </a:r>
            <a:br/>
            <a:r>
              <a:t>Sonnet 4.5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8001000" y="5303520"/>
            <a:ext cx="228600" cy="13716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869680" y="516636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Stage 3</a:t>
            </a:r>
            <a:br/>
            <a:r>
              <a:t>Guardrail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9372600" y="5303520"/>
            <a:ext cx="228600" cy="13716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241280" y="51663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04119" y="5669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BBCC"/>
                </a:solidFill>
                <a:latin typeface="Calibri"/>
              </a:defRPr>
            </a:pPr>
            <a:r>
              <a:t>Dashboard</a:t>
            </a:r>
            <a:br/>
            <a:r>
              <a:t>Alert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88168" y="5202823"/>
            <a:ext cx="1481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rPr sz="800" dirty="0"/>
              <a:t>Total: ~9.3 seconds</a:t>
            </a:r>
            <a:br>
              <a:rPr sz="800" dirty="0"/>
            </a:br>
            <a:r>
              <a:rPr sz="800" dirty="0"/>
              <a:t>from data to alert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AABB"/>
                </a:solidFill>
                <a:latin typeface="Calibri"/>
              </a:defRPr>
            </a:pPr>
            <a:r>
              <a:t>The doctor never touches raw data — the system converts vitals into actionable intelligence before the first sip of coffee.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AI Capabilities — What Makes This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91440" cy="246888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1234439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t>Narrative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33172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Converts raw numbers to clinical</a:t>
            </a:r>
            <a:br/>
            <a:r>
              <a:t>prose: 'HR 105, rising from 80' →</a:t>
            </a:r>
            <a:br/>
            <a:r>
              <a:t>'Tachycardia with concerning trend'</a:t>
            </a:r>
            <a:br/>
            <a:r>
              <a:t>Context a doctor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097280"/>
            <a:ext cx="2697480" cy="246888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097280"/>
            <a:ext cx="91440" cy="24688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1234439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8A00"/>
                </a:solidFill>
                <a:latin typeface="Calibri"/>
              </a:defRPr>
            </a:pPr>
            <a:r>
              <a:t>Discordance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600200"/>
            <a:ext cx="233172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Catches 'Silent Sepsis' when</a:t>
            </a:r>
            <a:br/>
            <a:r>
              <a:t>numbers &amp; notes contradict.</a:t>
            </a:r>
            <a:br/>
            <a:r>
              <a:t>BP stable BUT skin mottled?</a:t>
            </a:r>
            <a:br/>
            <a:r>
              <a:t>→ System escalates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972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097280"/>
            <a:ext cx="91440" cy="246888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234439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t>Clinical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600200"/>
            <a:ext cx="23317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Deterministic (not AI-generated):</a:t>
            </a:r>
            <a:br/>
            <a:r>
              <a:t>qSOFA (0-3) • SIRS (0-4)</a:t>
            </a:r>
            <a:br/>
            <a:r>
              <a:t>SOFA (0-24) • Sepsis-3 criteria</a:t>
            </a:r>
            <a:br/>
            <a:r>
              <a:t>Same math doctors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097280"/>
            <a:ext cx="2697480" cy="24688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19" y="1097280"/>
            <a:ext cx="914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72599" y="1234439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79" y="1143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Confidence &amp; Transparency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599" y="1600200"/>
            <a:ext cx="2331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599" y="17373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includes:</a:t>
            </a:r>
            <a:br/>
            <a:r>
              <a:t>• Confidence level (H/M/L)</a:t>
            </a:r>
            <a:br/>
            <a:r>
              <a:t>• WHY that confidence</a:t>
            </a:r>
            <a:br/>
            <a:r>
              <a:t>• Written rationale</a:t>
            </a:r>
            <a:br/>
            <a:r>
              <a:t>Doctor sees the 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2697480" cy="246888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840480"/>
            <a:ext cx="9144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Guardrail Safety 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343400"/>
            <a:ext cx="2331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AI says Low but qSOFA ≥ 2?</a:t>
            </a:r>
            <a:br/>
            <a:r>
              <a:t>→ Guardrail OVERRIDES to High</a:t>
            </a:r>
            <a:br/>
            <a:r>
              <a:t>AI never has the final word.</a:t>
            </a:r>
            <a:br/>
            <a:r>
              <a:t>850+ clinical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840480"/>
            <a:ext cx="2697480" cy="246888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3840480"/>
            <a:ext cx="91440" cy="2468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43400"/>
            <a:ext cx="23317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Doctor agrees/disagrees.</a:t>
            </a:r>
            <a:br/>
            <a:r>
              <a:t>Feedback → MongoDB.</a:t>
            </a:r>
            <a:br/>
            <a:r>
              <a:t>Analysis → Prompt tuning.</a:t>
            </a:r>
            <a:br/>
            <a:r>
              <a:t>System learns over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3840480"/>
            <a:ext cx="2697480" cy="24688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59" y="3840480"/>
            <a:ext cx="91440" cy="2468880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23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343400"/>
            <a:ext cx="2331720" cy="36576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4805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Every prediction logged.</a:t>
            </a:r>
            <a:br/>
            <a:r>
              <a:t>Request ID, model version.</a:t>
            </a:r>
            <a:br/>
            <a:r>
              <a:t>No PHI in logs (HIPAA safe).</a:t>
            </a:r>
            <a:br/>
            <a:r>
              <a:t>CloudWatch via EKS.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Hospital-Specific Configuration — Why?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High-acuity, rapid deterioration.</a:t>
            </a:r>
            <a:br/>
            <a:r>
              <a:t>Aggressive thresholds.</a:t>
            </a:r>
            <a:br/>
            <a:r>
              <a:t>HR alarm at 130, not 140.</a:t>
            </a:r>
            <a:br/>
            <a:r>
              <a:t>Immediate paging.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474720" cy="21031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sensitivity.</a:t>
            </a:r>
            <a:br/>
            <a:r>
              <a:t>Avoid alert fatigue.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74720" cy="21031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66760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78308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Age-adjusted vitals (child HR = 120).</a:t>
            </a:r>
            <a:br/>
            <a:r>
              <a:t>Adult thresholds miss sick children.</a:t>
            </a:r>
            <a:br/>
            <a:r>
              <a:t>pSOFA, not adult SOFA.</a:t>
            </a:r>
            <a:br/>
            <a:r>
              <a:t>Family-centered alerts.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C343D"/>
                </a:solidFill>
                <a:latin typeface="Calibri"/>
              </a:defRPr>
            </a:pPr>
            <a:r>
              <a:t>Solution: Shared AI engine + per-hospital configuration layer. The AI reasoning stays the same.</a:t>
            </a:r>
            <a:br/>
            <a:r>
              <a:t>Only clinical thresholds, alert rules, and escalation protocols change — managed by each hospital's SME via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Stays the Same 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Changes Per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 / SIRS / SOFA formulas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 &amp;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39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Override sensitivity levels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955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Alert escalation rules &amp; timing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751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Scoring priorities (qSOFA vs pSOFA)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0076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Bundle compliance protocols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Multi-Hospital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13232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280160"/>
            <a:ext cx="3931920" cy="182880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🧠  Sepsis GenAI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15468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8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 Configuration Layer  —  850+ Parameters  —  API-Managed  —  Hot-Reload  —  No Restart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86000" y="411480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66344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2120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Immediate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High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126480" y="411480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4572000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60" y="466344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212080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Medium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11480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412480" y="4572000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49640" y="466344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2120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5303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705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907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pSOFA: Pediatric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3093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BBCC"/>
                </a:solidFill>
                <a:latin typeface="Calibri"/>
              </a:defRPr>
            </a:pPr>
            <a:r>
              <a:t>  SJSA weight: Standard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See all 850+ thresholds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3774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37744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37744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37744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</a:t>
            </a:r>
            <a:br/>
            <a:r>
              <a:t>for compliance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850+ 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2976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48056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49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5537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1206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6888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0936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577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0" y="5623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650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8978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2179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threshold + rationale + SME notes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Same Patient, Different Hospitals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How hospital-specific thresholds change the clinical response — same AI, same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343D"/>
                </a:solidFill>
                <a:latin typeface="Calibri"/>
              </a:defRPr>
            </a:pPr>
            <a:r>
              <a:t>📋  62-year-old, post-op Day 2  •  HR 115  •  SBP 105  •  Temp 38.1°C  •  WBC 13.5  •  Lactate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AI Output: Risk 68  •  Priority: High  •  Confidence: Medium  •  qSOFA: 1  •  SIRS: 3/4</a:t>
            </a:r>
            <a:br/>
            <a:r>
              <a:t>Rationale: "Post-surgical tachycardia with low-grade fever and mild lactate elevation — early infection cannot be excluded."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3566160" cy="41148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CRITICAL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Lactate threshold: 2.0 → EXCEEDED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threshold: 110 → EXCEEDED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Aggressive → Force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Immediate physician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STAT + antibiotics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Sepsis bundle clock starts 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Immediate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77440"/>
            <a:ext cx="35661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Hospital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69748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34840" y="278892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⚠️ HIGH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4.0 →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140 → 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Standard → No override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Close monitoring every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Repeat lactate in 2 hours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Notify physician within 15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60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15 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77440"/>
            <a:ext cx="3566160" cy="4114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Center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69748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75320" y="278892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2807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MONITOR CLOSELY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3.0 → 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Age-adjusted →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856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Conservative → No override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78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Trending, reassess in 4h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70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Continue current antibiotics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Discuss with attending at rounds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6172200"/>
            <a:ext cx="2651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6181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Next rounds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Claude Sonnet 4.5 deployed to production (EKS)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4-model head-to-head comparison (32 runs, 8 patients)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8366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3-stage AI pipeline (Preprocess → LLM → Guardrail)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39696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3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850+ configurable clinical parameters via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95728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04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Deterministic qSOFA / SIRS / SOFA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6090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Discordance detection (Silent Sepsis)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07792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91693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Audit logging (CloudWatch-ready via EKS)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5029200" cy="219456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  ✅  System prompt v3.0 with confidence +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6C93"/>
                </a:solidFill>
                <a:latin typeface="Calibri"/>
              </a:defRPr>
            </a:pPr>
            <a:r>
              <a:t>🔜 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91440" cy="4572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389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8A00"/>
                </a:solidFill>
                <a:latin typeface="Calibri"/>
              </a:defRPr>
            </a:pPr>
            <a:r>
              <a:t>SJSA Data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910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Red Rover API setup — awaiting sandbox data from Red Rover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2024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91440" cy="457200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938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C93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396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Display AI output to doctors + capture feedback — needs team allocation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487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Retrospective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88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Run historical patients through Sonnet 4.5 &amp; Opus 4.6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1752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017520"/>
            <a:ext cx="91440" cy="457200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035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9AAD4"/>
                </a:solidFill>
                <a:latin typeface="Calibri"/>
              </a:defRPr>
            </a:pPr>
            <a:r>
              <a:t>Multi-Hospital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36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Deploy configs at 2+ facilities, compare outcomes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566160"/>
            <a:ext cx="53035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566160"/>
            <a:ext cx="914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584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Doctor Feedback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8561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MongoDB storage + analysis script + prompt tuning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⏳  External Dependencies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262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5A6A"/>
                </a:solidFill>
                <a:latin typeface="Calibri"/>
              </a:defRPr>
            </a:pPr>
            <a:r>
              <a:t>  ⏳  Red Rover — Sandbox data + SJSA API confirmation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080760"/>
            <a:ext cx="11247120" cy="50292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10819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system is live, the AI is proven, the architecture scales.  Next milestone: real patient data from Red Rover + clinician validation.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BBCC"/>
                </a:solidFill>
                <a:latin typeface="Calibri"/>
              </a:defRPr>
            </a:pPr>
            <a:r>
              <a:t>Sepsis GenAI  |  Medbeacon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BBCC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2447</Words>
  <Application>Microsoft Macintosh PowerPoint</Application>
  <PresentationFormat>Widescreen</PresentationFormat>
  <Paragraphs>421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3</cp:revision>
  <dcterms:created xsi:type="dcterms:W3CDTF">2013-01-27T09:14:16Z</dcterms:created>
  <dcterms:modified xsi:type="dcterms:W3CDTF">2026-04-08T15:32:37Z</dcterms:modified>
  <cp:category/>
</cp:coreProperties>
</file>
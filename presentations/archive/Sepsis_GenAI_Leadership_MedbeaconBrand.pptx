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56"/>
  </p:normalViewPr>
  <p:slideViewPr>
    <p:cSldViewPr snapToGrid="0" snapToObjects="1">
      <p:cViewPr varScale="1">
        <p:scale>
          <a:sx n="140" d="100"/>
          <a:sy n="140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23774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C343D"/>
                </a:solidFill>
                <a:latin typeface="Calibri"/>
              </a:defRPr>
            </a:pPr>
            <a:r>
              <a:t>Sepsis Early 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6C93"/>
                </a:solidFill>
                <a:latin typeface="Calibri"/>
              </a:defRPr>
            </a:pPr>
            <a:r>
              <a:t>GenAI-Powered 6-Hour Predictive 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A6A"/>
                </a:solidFill>
                <a:latin typeface="Calibri"/>
              </a:defRPr>
            </a:pPr>
            <a:r>
              <a:t>Leadership Update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1206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4C16B-05FC-87FD-AC12-32AC50143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654" y="412242"/>
            <a:ext cx="3356211" cy="214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6552"/>
            <a:ext cx="5029200" cy="1722632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4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9472"/>
            <a:ext cx="4572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Sepsis kills </a:t>
            </a:r>
            <a:r>
              <a:rPr lang="en-US" dirty="0"/>
              <a:t>Thousands </a:t>
            </a:r>
            <a:r>
              <a:rPr dirty="0"/>
              <a:t>annually</a:t>
            </a:r>
            <a:br>
              <a:rPr dirty="0"/>
            </a:br>
            <a:r>
              <a:rPr dirty="0"/>
              <a:t>  Every hour of delayed treatment increases mortality </a:t>
            </a:r>
            <a:r>
              <a:rPr lang="en-US" dirty="0"/>
              <a:t>~ </a:t>
            </a:r>
            <a:r>
              <a:rPr dirty="0"/>
              <a:t>7-8%</a:t>
            </a:r>
            <a:br>
              <a:rPr dirty="0"/>
            </a:br>
            <a:r>
              <a:rPr dirty="0"/>
              <a:t>  "Silent Sepsis" — normal vitals hide organ failure</a:t>
            </a:r>
            <a:br>
              <a:rPr dirty="0"/>
            </a:br>
            <a:r>
              <a:rPr dirty="0"/>
              <a:t>  Current alerts are reactive, not predictive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6552"/>
            <a:ext cx="5029200" cy="1759208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4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9472"/>
            <a:ext cx="465429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AI predicts septic shock</a:t>
            </a:r>
            <a:r>
              <a:rPr lang="en-US" dirty="0"/>
              <a:t>,</a:t>
            </a:r>
            <a:r>
              <a:rPr dirty="0"/>
              <a:t> hours</a:t>
            </a:r>
            <a:r>
              <a:rPr lang="en-US" dirty="0"/>
              <a:t>*</a:t>
            </a:r>
            <a:r>
              <a:rPr dirty="0"/>
              <a:t> </a:t>
            </a:r>
            <a:r>
              <a:rPr lang="en-US" dirty="0"/>
              <a:t>in advance</a:t>
            </a:r>
            <a:br>
              <a:rPr dirty="0"/>
            </a:br>
            <a:r>
              <a:rPr dirty="0"/>
              <a:t>  Fuses numeric trends + clinician notes (narrative intelligence)</a:t>
            </a:r>
            <a:br>
              <a:rPr dirty="0"/>
            </a:br>
            <a:r>
              <a:rPr dirty="0"/>
              <a:t>  Deterministic safety guardrails over AI output</a:t>
            </a:r>
            <a:br>
              <a:rPr dirty="0"/>
            </a:br>
            <a:r>
              <a:rPr dirty="0"/>
              <a:t>  Real-time risk scoring at the bedside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18288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Key Differentiator: Silent Sepsis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43400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Traditional systems: Alert only when vitals cross thresholds</a:t>
            </a:r>
            <a:r>
              <a:rPr lang="en-US" dirty="0"/>
              <a:t> or identifies pattern in data</a:t>
            </a:r>
            <a:r>
              <a:rPr dirty="0"/>
              <a:t> (too late)</a:t>
            </a:r>
            <a:br>
              <a:rPr dirty="0"/>
            </a:br>
            <a:r>
              <a:rPr dirty="0"/>
              <a:t>  Our system: AI detects discordance — stable vitals BUT concerning nurse notes (mottled skin, fluid non-response)</a:t>
            </a:r>
            <a:br>
              <a:rPr dirty="0"/>
            </a:br>
            <a:r>
              <a:rPr dirty="0"/>
              <a:t>  Example: BP 115/70 (normal) + Nurse note 'required 2L bolus, skin mottled' → AI flags as compensated shock, risk 75%</a:t>
            </a:r>
            <a:br>
              <a:rPr dirty="0"/>
            </a:br>
            <a:r>
              <a:rPr dirty="0"/>
              <a:t>  This is the gap that costs lives — and exactly what our system is built to catch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18E68-7107-FDE5-D07C-47858011EA7C}"/>
              </a:ext>
            </a:extLst>
          </p:cNvPr>
          <p:cNvSpPr txBox="1"/>
          <p:nvPr/>
        </p:nvSpPr>
        <p:spPr>
          <a:xfrm>
            <a:off x="1216152" y="6035040"/>
            <a:ext cx="9034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i="1" dirty="0">
                <a:effectLst/>
              </a:rPr>
              <a:t>* "Our system is designed to detect early sepsis signals — trend deterioration, clinical note discordance, and sub-threshold organ stress — with the goal of providing a 6-hour early warning. The clinical framework is sound (Sepsis-3, </a:t>
            </a:r>
            <a:r>
              <a:rPr lang="en-IN" sz="800" i="1" dirty="0" err="1">
                <a:effectLst/>
              </a:rPr>
              <a:t>qSOFA</a:t>
            </a:r>
            <a:r>
              <a:rPr lang="en-IN" sz="800" i="1" dirty="0">
                <a:effectLst/>
              </a:rPr>
              <a:t>, SIRS, SOFA), and the AI is applying established medical reasoning. The next step is a clinical validation study with outcome tracking to measure our actual lead time and accuracy."</a:t>
            </a:r>
            <a:br>
              <a:rPr lang="en-IN" sz="800" dirty="0"/>
            </a:b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Our Journey — How the System Evolved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9AAD4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2286000" cy="36576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rPr dirty="0">
                <a:solidFill>
                  <a:schemeClr val="bg1">
                    <a:lumMod val="65000"/>
                  </a:schemeClr>
                </a:solidFill>
              </a:rPr>
              <a:t>Hybrid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XGBoost + GPT-4o (Azure)</a:t>
            </a:r>
            <a:br/>
            <a:r>
              <a:t>Numeric-only prediction</a:t>
            </a:r>
            <a:br/>
            <a:r>
              <a:t>Basic risk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D4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691640"/>
            <a:ext cx="22860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GenAI Narrative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GPT-4o narrative intelligence</a:t>
            </a:r>
            <a:br/>
            <a:r>
              <a:t>Nurse notes fusion</a:t>
            </a:r>
            <a:br/>
            <a:r>
              <a:t>Red Rover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2560320" cy="41148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691640"/>
            <a:ext cx="22860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Safety &amp;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Clinical guardrails</a:t>
            </a:r>
            <a:br/>
            <a:r>
              <a:t>qSOFA/SIRS/SOFA scores</a:t>
            </a:r>
            <a:br/>
            <a:r>
              <a:t>Confidence reasoning</a:t>
            </a:r>
            <a:br/>
            <a:r>
              <a:t>Audit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88720"/>
            <a:ext cx="256032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13258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C93"/>
                </a:solidFill>
                <a:latin typeface="Calibri"/>
              </a:defRPr>
            </a:pPr>
            <a:r>
              <a:rPr lang="en-US" dirty="0"/>
              <a:t>Step</a:t>
            </a:r>
            <a:r>
              <a:rPr dirty="0"/>
              <a:t>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691640"/>
            <a:ext cx="22860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286000"/>
            <a:ext cx="228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Claude Sonnet 4 (Bedrock)</a:t>
            </a:r>
            <a:br>
              <a:rPr dirty="0"/>
            </a:br>
            <a:r>
              <a:rPr dirty="0"/>
              <a:t>EKS deployment</a:t>
            </a:r>
            <a:br>
              <a:rPr dirty="0"/>
            </a:br>
            <a:r>
              <a:rPr dirty="0"/>
              <a:t>Doctor feedback loop</a:t>
            </a:r>
            <a:r>
              <a:rPr lang="en-US" dirty="0"/>
              <a:t> (next)</a:t>
            </a:r>
            <a:br>
              <a:rPr dirty="0"/>
            </a:br>
            <a:r>
              <a:rPr dirty="0"/>
              <a:t>SJSA integration </a:t>
            </a:r>
            <a:r>
              <a:rPr lang="en-US" dirty="0"/>
              <a:t>(</a:t>
            </a:r>
            <a:r>
              <a:rPr dirty="0"/>
              <a:t>next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6C93"/>
                </a:solidFill>
                <a:latin typeface="Calibri"/>
              </a:defRPr>
            </a:pPr>
            <a:r>
              <a:rPr dirty="0"/>
              <a:t>Key Pivot: </a:t>
            </a:r>
            <a:r>
              <a:rPr lang="en-US" dirty="0"/>
              <a:t>Moved from ML to </a:t>
            </a:r>
            <a:r>
              <a:rPr lang="en-US" dirty="0" err="1"/>
              <a:t>GenAI</a:t>
            </a:r>
            <a:r>
              <a:rPr lang="en-US" dirty="0"/>
              <a:t>, </a:t>
            </a:r>
            <a:r>
              <a:rPr lang="en-IN" b="1" i="0" dirty="0">
                <a:solidFill>
                  <a:srgbClr val="7B88A1"/>
                </a:solidFill>
                <a:effectLst/>
                <a:latin typeface="-apple-system"/>
              </a:rPr>
              <a:t>"ML models see only numbers; </a:t>
            </a:r>
            <a:r>
              <a:rPr lang="en-IN" b="1" i="0" dirty="0" err="1">
                <a:solidFill>
                  <a:srgbClr val="7B88A1"/>
                </a:solidFill>
                <a:effectLst/>
                <a:latin typeface="-apple-system"/>
              </a:rPr>
              <a:t>GenAI</a:t>
            </a:r>
            <a:r>
              <a:rPr lang="en-IN" b="1" i="0" dirty="0">
                <a:solidFill>
                  <a:srgbClr val="7B88A1"/>
                </a:solidFill>
                <a:effectLst/>
                <a:latin typeface="-apple-system"/>
              </a:rPr>
              <a:t> reads the nurse's concern and notes, flexible and modern.</a:t>
            </a:r>
          </a:p>
          <a:p>
            <a:pPr algn="l">
              <a:defRPr sz="1400" b="0">
                <a:solidFill>
                  <a:srgbClr val="1E6C93"/>
                </a:solidFill>
                <a:latin typeface="Calibri"/>
              </a:defRPr>
            </a:pPr>
            <a:r>
              <a:rPr dirty="0"/>
              <a:t>Moved from Azure OpenAI GPT-4o → AWS Bedrock Claude Sonnet 4 for better compliance, lower cost, and same-cloud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System Architecture — 3-Stage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231136" cy="30632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37359"/>
            <a:ext cx="1865376" cy="45719"/>
          </a:xfrm>
          <a:prstGeom prst="rect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Preprocessor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0756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Converts raw vitals, labs,</a:t>
            </a:r>
            <a:br/>
            <a:r>
              <a:t>and nurse notes into</a:t>
            </a:r>
            <a:br/>
            <a:r>
              <a:t>clinical narrative prose</a:t>
            </a:r>
            <a:br/>
            <a:r>
              <a:t>for LLM 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234439"/>
            <a:ext cx="2231136" cy="32004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rPr dirty="0"/>
              <a:t>Stage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70732" y="1709927"/>
            <a:ext cx="1929384" cy="54863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82879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rPr dirty="0"/>
              <a:t>LLM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85999"/>
            <a:ext cx="199339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Claude Sonnet 4 analyzes</a:t>
            </a:r>
            <a:br>
              <a:rPr dirty="0"/>
            </a:br>
            <a:r>
              <a:rPr dirty="0"/>
              <a:t>narrative for sepsis risk</a:t>
            </a:r>
            <a:br>
              <a:rPr dirty="0"/>
            </a:br>
            <a:r>
              <a:rPr dirty="0"/>
              <a:t>with confidence reasoning</a:t>
            </a:r>
            <a:br>
              <a:rPr dirty="0"/>
            </a:br>
            <a:r>
              <a:rPr dirty="0"/>
              <a:t>and clinical 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1234439"/>
            <a:ext cx="2130552" cy="32004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4946" y="1348739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rPr dirty="0"/>
              <a:t>Stage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1689874"/>
            <a:ext cx="1700784" cy="4571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182879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rPr dirty="0"/>
              <a:t>Safety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9068" y="2246064"/>
            <a:ext cx="18973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Deterministic validation:</a:t>
            </a:r>
            <a:br>
              <a:rPr dirty="0"/>
            </a:br>
            <a:r>
              <a:rPr dirty="0" err="1"/>
              <a:t>qSOFA</a:t>
            </a:r>
            <a:r>
              <a:rPr dirty="0"/>
              <a:t>, SIRS, SOFA scores</a:t>
            </a:r>
            <a:br>
              <a:rPr dirty="0"/>
            </a:br>
            <a:r>
              <a:rPr dirty="0"/>
              <a:t>Threshold overrides</a:t>
            </a:r>
            <a:br>
              <a:rPr dirty="0"/>
            </a:br>
            <a:r>
              <a:rPr dirty="0"/>
              <a:t>Silent sepsis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3288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6C93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8647" y="24917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6C93"/>
                </a:solidFill>
                <a:latin typeface="Calibri"/>
              </a:defRPr>
            </a:pPr>
            <a:r>
              <a:rPr dirty="0"/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7498080" cy="1655064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API Output (~7.5s response 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637336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Risk Score (0-100)  |  Priority (Critical/High/Standard)  |  6h Sepsis Probability</a:t>
            </a:r>
            <a:br/>
            <a:r>
              <a:t>  Clinical Rationale (LLM-generated explanation for doctors)</a:t>
            </a:r>
            <a:br/>
            <a:r>
              <a:t>  Confidence Level + Reasoning  |  Deterministic qSOFA, SIRS, SOFA scores</a:t>
            </a:r>
            <a:br/>
            <a:r>
              <a:t>  Guardrail Override flags  |  Structured audit trail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09B99E-02B2-38A4-E923-06EED2409B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>
            <a:off x="8469387" y="1202435"/>
            <a:ext cx="3158976" cy="51343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D76E064-67B8-95D7-AAD1-1FE29CEC7468}"/>
              </a:ext>
            </a:extLst>
          </p:cNvPr>
          <p:cNvSpPr txBox="1"/>
          <p:nvPr/>
        </p:nvSpPr>
        <p:spPr>
          <a:xfrm>
            <a:off x="9375738" y="6368795"/>
            <a:ext cx="1414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Preprocessor in action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Model Comparison &amp; Cost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457200"/>
          </a:xfrm>
          <a:prstGeom prst="roundRect">
            <a:avLst/>
          </a:prstGeom>
          <a:solidFill>
            <a:srgbClr val="1E6C93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Azure GPT-4o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Bedrock Sonnet 3.5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Bedrock Sonnet 4 (Current)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~3s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FAILED (throttled)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~7.5s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~$4.50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$3.00 (if working)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$4.50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HIPAA /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BAA required separately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AWS BAA included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rPr dirty="0"/>
              <a:t>AWS BAA included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24612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PHI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Data leaves AWS to 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Stays within AWS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918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Stays within AWS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749039"/>
            <a:ext cx="1051560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Model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794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LEGACY (deprecated)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251960"/>
            <a:ext cx="1051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Sepsis 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29768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rPr dirty="0"/>
              <a:t>Good</a:t>
            </a:r>
            <a:r>
              <a:rPr lang="en-US" dirty="0"/>
              <a:t>*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55778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97680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6C93"/>
                </a:solidFill>
                <a:latin typeface="Calibri"/>
              </a:defRPr>
            </a:pPr>
            <a:r>
              <a:rPr dirty="0"/>
              <a:t>Excellent</a:t>
            </a:r>
            <a:r>
              <a:rPr lang="en-US" dirty="0"/>
              <a:t>*</a:t>
            </a:r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731520" y="4846320"/>
            <a:ext cx="502920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Why We Moved to Claude Sonnet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349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Same-cloud (AWS) — no data leaving to Azure</a:t>
            </a:r>
            <a:br/>
            <a:r>
              <a:t>  AWS BAA covers HIPAA compliance out of the box</a:t>
            </a:r>
            <a:br/>
            <a:r>
              <a:t>  Sonnet 3.5 deprecated by AWS (LEGACY, throttled)</a:t>
            </a:r>
            <a:br/>
            <a:r>
              <a:t>  Sonnet 4 is active, faster, better clinical reasoning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46320"/>
            <a:ext cx="5029200" cy="16459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Cost Breakdown (Usage-Based)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3492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Bedrock: ~$4.50 per 1,000 patients</a:t>
            </a:r>
            <a:br/>
            <a:r>
              <a:t>  EKS Infra: Shared cluster, ~$0 marginal cost</a:t>
            </a:r>
            <a:br/>
            <a:r>
              <a:t>  No idle charges — pay only when API is called</a:t>
            </a:r>
            <a:br/>
            <a:r>
              <a:t>  No model hosting/GPU costs (fully managed)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F77DC4-3AD2-828E-ACA7-C4E932752794}"/>
              </a:ext>
            </a:extLst>
          </p:cNvPr>
          <p:cNvSpPr txBox="1"/>
          <p:nvPr/>
        </p:nvSpPr>
        <p:spPr>
          <a:xfrm>
            <a:off x="2247138" y="6523684"/>
            <a:ext cx="61401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0" i="0" dirty="0">
                <a:solidFill>
                  <a:srgbClr val="7B88A1"/>
                </a:solidFill>
                <a:effectLst/>
                <a:latin typeface="-apple-system"/>
              </a:rPr>
              <a:t>*This is based on our qualitative testing experience, not measured benchmarks. Sonnet 4  brings Richer, more detailed reasoning always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245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Safety, Trust &amp; Clinical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3776" y="1192606"/>
            <a:ext cx="3082359" cy="2735917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32976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Deterministic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695526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qSOFA</a:t>
            </a:r>
            <a:r>
              <a:rPr dirty="0"/>
              <a:t> (0-3) — sepsis screening</a:t>
            </a:r>
            <a:br>
              <a:rPr dirty="0"/>
            </a:br>
            <a:r>
              <a:rPr dirty="0"/>
              <a:t>  SIRS (0-4) — inflammatory response</a:t>
            </a:r>
            <a:br>
              <a:rPr dirty="0"/>
            </a:br>
            <a:r>
              <a:rPr dirty="0"/>
              <a:t>  SOFA (0-24) — organ dysfunction</a:t>
            </a:r>
            <a:br>
              <a:rPr dirty="0"/>
            </a:br>
            <a:r>
              <a:rPr dirty="0"/>
              <a:t>  Sepsis-3 criteria evaluation</a:t>
            </a:r>
            <a:br>
              <a:rPr dirty="0"/>
            </a:br>
            <a:r>
              <a:rPr dirty="0"/>
              <a:t>  Calculated from raw data, not AI</a:t>
            </a:r>
            <a:br>
              <a:rPr dirty="0"/>
            </a:br>
            <a:r>
              <a:rPr dirty="0"/>
              <a:t>  100% reproducible, no 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4177" y="1173914"/>
            <a:ext cx="2831449" cy="2735917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132976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AI Safety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1676834"/>
            <a:ext cx="260285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Confidence level (High/Med/Low)</a:t>
            </a:r>
            <a:br>
              <a:rPr dirty="0"/>
            </a:br>
            <a:r>
              <a:rPr dirty="0"/>
              <a:t>  Confidence reasoning (why)</a:t>
            </a:r>
            <a:br>
              <a:rPr dirty="0"/>
            </a:br>
            <a:r>
              <a:rPr dirty="0"/>
              <a:t>  Clinical rationale (explanation)</a:t>
            </a:r>
            <a:br>
              <a:rPr dirty="0"/>
            </a:br>
            <a:r>
              <a:rPr dirty="0"/>
              <a:t>  Guardrail override when vitals</a:t>
            </a:r>
            <a:br>
              <a:rPr dirty="0"/>
            </a:br>
            <a:r>
              <a:rPr dirty="0"/>
              <a:t>    contradict AI assessment</a:t>
            </a:r>
            <a:br>
              <a:rPr dirty="0"/>
            </a:br>
            <a:r>
              <a:rPr dirty="0"/>
              <a:t>  Silent sepsis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9421" y="1134779"/>
            <a:ext cx="2646838" cy="2735917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76872" y="1344822"/>
            <a:ext cx="2014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AAD4"/>
                </a:solidFill>
                <a:latin typeface="Calibri"/>
              </a:defRPr>
            </a:pPr>
            <a:r>
              <a:rPr dirty="0"/>
              <a:t>Compliance &amp;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4225" y="1712322"/>
            <a:ext cx="28346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Structured JSON audit logging</a:t>
            </a:r>
            <a:br>
              <a:rPr dirty="0"/>
            </a:br>
            <a:r>
              <a:rPr dirty="0"/>
              <a:t>  No PHI in logs (names stripped)</a:t>
            </a:r>
            <a:br>
              <a:rPr dirty="0"/>
            </a:br>
            <a:r>
              <a:rPr dirty="0"/>
              <a:t>  Model version tracking</a:t>
            </a:r>
            <a:br>
              <a:rPr dirty="0"/>
            </a:br>
            <a:r>
              <a:rPr dirty="0"/>
              <a:t>  Every override documented</a:t>
            </a:r>
            <a:br>
              <a:rPr dirty="0"/>
            </a:br>
            <a:r>
              <a:rPr dirty="0"/>
              <a:t>  CloudWatch </a:t>
            </a:r>
            <a:r>
              <a:rPr lang="en-US" dirty="0"/>
              <a:t>ready</a:t>
            </a:r>
            <a:br>
              <a:rPr dirty="0"/>
            </a:br>
            <a:r>
              <a:rPr dirty="0"/>
              <a:t>  Full decision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030" y="4111004"/>
            <a:ext cx="4572000" cy="2371128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1630" y="424816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rPr dirty="0"/>
              <a:t>Doctor Feedback Loop (</a:t>
            </a:r>
            <a:r>
              <a:rPr lang="en-US" dirty="0"/>
              <a:t>Next</a:t>
            </a:r>
            <a:r>
              <a:rPr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613923"/>
            <a:ext cx="421538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Capture: Doctor agrees/disagrees with AI score + actual outcome</a:t>
            </a:r>
            <a:br>
              <a:rPr dirty="0"/>
            </a:br>
            <a:r>
              <a:rPr dirty="0"/>
              <a:t>  Store: MongoDB with structured feedback schema</a:t>
            </a:r>
            <a:br>
              <a:rPr dirty="0"/>
            </a:br>
            <a:r>
              <a:rPr dirty="0"/>
              <a:t>  Analyze: Automated script detects calibration drift</a:t>
            </a:r>
            <a:br>
              <a:rPr dirty="0"/>
            </a:br>
            <a:r>
              <a:rPr dirty="0"/>
              <a:t>  Improve: Insights embedded back into system prompt</a:t>
            </a:r>
            <a:br>
              <a:rPr dirty="0"/>
            </a:br>
            <a:r>
              <a:rPr dirty="0"/>
              <a:t>  Result: System gets smarter with every doctor interaction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9338" y="4078313"/>
            <a:ext cx="4066173" cy="2371128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8721" y="4240943"/>
            <a:ext cx="3651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rPr dirty="0"/>
              <a:t>Guardrail Configuration (SME-Managed)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8722" y="4608664"/>
            <a:ext cx="401961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850+ line clinical guardrail config with rationale</a:t>
            </a:r>
            <a:br>
              <a:rPr dirty="0"/>
            </a:br>
            <a:r>
              <a:rPr dirty="0"/>
              <a:t>  API endpoints for SMEs to view, update, export config</a:t>
            </a:r>
            <a:br>
              <a:rPr dirty="0"/>
            </a:br>
            <a:r>
              <a:rPr dirty="0"/>
              <a:t>  Hot-reload without service restart</a:t>
            </a:r>
            <a:br>
              <a:rPr dirty="0"/>
            </a:br>
            <a:r>
              <a:rPr dirty="0"/>
              <a:t>  In-memory updates for testing, persistent for production</a:t>
            </a:r>
            <a:br>
              <a:rPr dirty="0"/>
            </a:br>
            <a:r>
              <a:rPr dirty="0"/>
              <a:t>  Every threshold has clinical rationale and SME notes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D8D347-AE8F-9B47-C12F-04C35EE389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6000"/>
          </a:blip>
          <a:srcRect r="64015"/>
          <a:stretch/>
        </p:blipFill>
        <p:spPr>
          <a:xfrm>
            <a:off x="9420052" y="1126450"/>
            <a:ext cx="2625785" cy="5348960"/>
          </a:xfrm>
          <a:prstGeom prst="roundRect">
            <a:avLst>
              <a:gd name="adj" fmla="val 1232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6518534-2E3D-78D2-FEA8-4232D02067AA}"/>
              </a:ext>
            </a:extLst>
          </p:cNvPr>
          <p:cNvSpPr txBox="1"/>
          <p:nvPr/>
        </p:nvSpPr>
        <p:spPr>
          <a:xfrm>
            <a:off x="10025853" y="6475410"/>
            <a:ext cx="1414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Guardrail in action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Deployment &amp; Integration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02920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Current Deployment (Live)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57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EKS (</a:t>
            </a:r>
            <a:r>
              <a:rPr dirty="0" err="1"/>
              <a:t>medbeacon</a:t>
            </a:r>
            <a:r>
              <a:rPr dirty="0"/>
              <a:t>-cluster)</a:t>
            </a:r>
            <a:br>
              <a:rPr dirty="0"/>
            </a:br>
            <a:r>
              <a:rPr dirty="0"/>
              <a:t>  ALB with path-based routing, multi-AZ</a:t>
            </a:r>
            <a:br>
              <a:rPr dirty="0"/>
            </a:br>
            <a:r>
              <a:rPr dirty="0"/>
              <a:t>  ECR image: v4.0-sonnet4-fix-throttle</a:t>
            </a:r>
            <a:br>
              <a:rPr dirty="0"/>
            </a:br>
            <a:r>
              <a:rPr dirty="0"/>
              <a:t>  Swagger UI live at ALB endpoint /docs</a:t>
            </a:r>
            <a:br>
              <a:rPr dirty="0"/>
            </a:br>
            <a:r>
              <a:rPr dirty="0"/>
              <a:t>  API key authenticated, CORS enabled</a:t>
            </a:r>
            <a:br>
              <a:rPr dirty="0"/>
            </a:br>
            <a:r>
              <a:rPr dirty="0"/>
              <a:t>  Auto-scaling: 1-4 nodes (t3.medium)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029200" cy="2560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API Endpoints (Production Ready)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5720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POST /classify — Single patient risk assessment</a:t>
            </a:r>
            <a:br/>
            <a:r>
              <a:t>  POST /classify-batch — Batch processing</a:t>
            </a:r>
            <a:br/>
            <a:r>
              <a:t>  GET /health — Lightweight health check (ALB)</a:t>
            </a:r>
            <a:br/>
            <a:r>
              <a:t>  GET /health/deep — Model connectivity test</a:t>
            </a:r>
            <a:br/>
            <a:r>
              <a:t>  GET /guardrail/* — Config management for SMEs</a:t>
            </a:r>
            <a:br/>
            <a:r>
              <a:t>  GET /audit/info — Audit system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rPr dirty="0"/>
              <a:t>Red Rover </a:t>
            </a:r>
            <a:r>
              <a:rPr lang="en-US" dirty="0"/>
              <a:t>Data for SJSA</a:t>
            </a:r>
            <a:r>
              <a:rPr dirty="0"/>
              <a:t> (In Progress)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Preprocessor handles Red Rover nested JSON format</a:t>
            </a:r>
            <a:br>
              <a:rPr dirty="0"/>
            </a:br>
            <a:r>
              <a:rPr dirty="0"/>
              <a:t>  Supports time-series vitals with timestamps</a:t>
            </a:r>
            <a:br>
              <a:rPr dirty="0"/>
            </a:br>
            <a:r>
              <a:rPr dirty="0"/>
              <a:t>  Clinician notes fusion from Red Rover documents API</a:t>
            </a:r>
            <a:br>
              <a:rPr dirty="0"/>
            </a:br>
            <a:r>
              <a:rPr dirty="0"/>
              <a:t>  SJSA alert integration — </a:t>
            </a:r>
            <a:r>
              <a:rPr b="1" dirty="0"/>
              <a:t>awaiting</a:t>
            </a:r>
            <a:r>
              <a:rPr dirty="0"/>
              <a:t> Red Rover sandbox setup</a:t>
            </a:r>
            <a:br>
              <a:rPr dirty="0"/>
            </a:br>
            <a:r>
              <a:rPr dirty="0"/>
              <a:t>  Working with Red Rover team on order/event codes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029200" cy="22860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Infrastructure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1772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All AWS — Bedrock, EKS, ECR, CloudWatch</a:t>
            </a:r>
            <a:br>
              <a:rPr dirty="0"/>
            </a:br>
            <a:r>
              <a:rPr dirty="0"/>
              <a:t>  No data leaves AWS boundary (HIPAA alignment)</a:t>
            </a:r>
            <a:br>
              <a:rPr dirty="0"/>
            </a:br>
            <a:r>
              <a:rPr dirty="0"/>
              <a:t>  Docker containerized, AMD64 cross-compiled</a:t>
            </a:r>
            <a:br>
              <a:rPr dirty="0"/>
            </a:br>
            <a:r>
              <a:rPr dirty="0"/>
              <a:t>  CI/CD managed via EKS</a:t>
            </a:r>
            <a:br>
              <a:rPr dirty="0"/>
            </a:br>
            <a:r>
              <a:rPr dirty="0"/>
              <a:t>  Git repo: sepsis-</a:t>
            </a:r>
            <a:r>
              <a:rPr dirty="0" err="1"/>
              <a:t>genai</a:t>
            </a:r>
            <a:r>
              <a:rPr dirty="0"/>
              <a:t> (GitHub)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Roadmap —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200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53896"/>
            <a:ext cx="3291840" cy="20116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2834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  SJSA alert integration via</a:t>
            </a:r>
            <a:br/>
            <a:r>
              <a:t>    Red Rover orders API</a:t>
            </a:r>
            <a:br/>
            <a:r>
              <a:t>  Doctor feedback capture</a:t>
            </a:r>
            <a:br/>
            <a:r>
              <a:t>    (front-end + MongoDB)</a:t>
            </a:r>
            <a:br/>
            <a:r>
              <a:t>  HTTPS/TLS on ALB</a:t>
            </a:r>
            <a:br/>
            <a:r>
              <a:t>  EKS logging enablement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53896"/>
            <a:ext cx="3291840" cy="2011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C93"/>
                </a:solidFill>
                <a:latin typeface="Calibri"/>
              </a:defRPr>
            </a:pPr>
            <a:r>
              <a:t>Medium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56816"/>
            <a:ext cx="28346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Prompt tuning from doctor</a:t>
            </a:r>
            <a:br>
              <a:rPr dirty="0"/>
            </a:br>
            <a:r>
              <a:rPr dirty="0"/>
              <a:t>    feedback analysis</a:t>
            </a:r>
            <a:endParaRPr lang="en-US" dirty="0"/>
          </a:p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lang="en-IN" dirty="0"/>
              <a:t> Outcome tracking (actual</a:t>
            </a:r>
            <a:br>
              <a:rPr lang="en-IN" dirty="0"/>
            </a:br>
            <a:r>
              <a:rPr lang="en-IN" dirty="0"/>
              <a:t>    sepsis vs. predicted)</a:t>
            </a:r>
            <a:br>
              <a:rPr dirty="0"/>
            </a:b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863840" y="1453896"/>
            <a:ext cx="3291840" cy="20116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5910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AAD4"/>
                </a:solidFill>
                <a:latin typeface="Calibri"/>
              </a:defRPr>
            </a:pPr>
            <a:r>
              <a:t>Long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36284"/>
            <a:ext cx="29260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</a:t>
            </a:r>
            <a:br>
              <a:rPr dirty="0"/>
            </a:br>
            <a:r>
              <a:rPr dirty="0"/>
              <a:t>  Model benchmarking with</a:t>
            </a:r>
            <a:br>
              <a:rPr dirty="0"/>
            </a:br>
            <a:r>
              <a:rPr dirty="0"/>
              <a:t>    clinical validation study</a:t>
            </a:r>
            <a:endParaRPr lang="en-US" dirty="0"/>
          </a:p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lang="en-IN" dirty="0"/>
              <a:t>  Expand Scope as needed</a:t>
            </a:r>
            <a:br>
              <a:rPr dirty="0"/>
            </a:b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515600" cy="1609344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rPr dirty="0"/>
              <a:t>Key </a:t>
            </a:r>
            <a:r>
              <a:rPr lang="en-US" dirty="0"/>
              <a:t>Steps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10195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rPr dirty="0"/>
              <a:t>  1. Red Rover sandbox setup for SJSA data — email sent (</a:t>
            </a:r>
            <a:r>
              <a:rPr lang="en-US" dirty="0"/>
              <a:t>Meeting arranged</a:t>
            </a:r>
            <a:r>
              <a:rPr dirty="0"/>
              <a:t>)</a:t>
            </a:r>
            <a:br>
              <a:rPr dirty="0"/>
            </a:br>
            <a:r>
              <a:rPr dirty="0"/>
              <a:t>  </a:t>
            </a:r>
            <a:r>
              <a:rPr lang="en-US" dirty="0"/>
              <a:t>2</a:t>
            </a:r>
            <a:r>
              <a:rPr dirty="0"/>
              <a:t>. validation study </a:t>
            </a:r>
            <a:r>
              <a:rPr lang="en-US" dirty="0"/>
              <a:t>on larger patients data set through </a:t>
            </a:r>
            <a:r>
              <a:rPr lang="en-US" dirty="0" err="1"/>
              <a:t>RedRover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256032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C343D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6C93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206240"/>
            <a:ext cx="850392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4754880"/>
            <a:ext cx="7589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A6A"/>
                </a:solidFill>
                <a:latin typeface="Calibri"/>
              </a:defRPr>
            </a:pPr>
            <a:r>
              <a:rPr dirty="0"/>
              <a:t>Live Demo: k8s-medbeaconalb-cf9abd09e4-682506655.us-east-1.elb.amazonaws.com/docs</a:t>
            </a:r>
            <a:br>
              <a:rPr dirty="0"/>
            </a:br>
            <a:r>
              <a:rPr dirty="0"/>
              <a:t>Contact: </a:t>
            </a:r>
            <a:r>
              <a:rPr lang="en-US" dirty="0"/>
              <a:t>Prabha and </a:t>
            </a:r>
            <a:r>
              <a:rPr dirty="0"/>
              <a:t>Sachin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9146</TotalTime>
  <Words>1366</Words>
  <Application>Microsoft Macintosh PowerPoint</Application>
  <PresentationFormat>Widescreen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6</cp:revision>
  <dcterms:created xsi:type="dcterms:W3CDTF">2013-01-27T09:14:16Z</dcterms:created>
  <dcterms:modified xsi:type="dcterms:W3CDTF">2026-04-01T13:01:09Z</dcterms:modified>
  <cp:category/>
</cp:coreProperties>
</file>
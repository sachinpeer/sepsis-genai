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C343D"/>
                </a:solidFill>
                <a:latin typeface="Calibri"/>
              </a:defRPr>
            </a:pPr>
            <a:r>
              <a:t>Hospital-Specific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6C93"/>
                </a:solidFill>
                <a:latin typeface="Calibri"/>
              </a:defRPr>
            </a:pPr>
            <a:r>
              <a:t>One AI Engine. Infinite Customization. Every Hospital is Different.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36576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343D"/>
                </a:solidFill>
                <a:latin typeface="Calibri"/>
              </a:defRPr>
            </a:pPr>
            <a:r>
              <a:t>Why one size doesn't fit all: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474720" cy="228600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848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Trauma Center ICU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423160"/>
            <a:ext cx="32004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High-acuity patients with rapid deterioration.</a:t>
            </a:r>
            <a:br/>
            <a:r>
              <a:t>Needs aggressive thresholds, immediate paging.</a:t>
            </a:r>
            <a:br/>
            <a:r>
              <a:t>HR alarm at 130 bpm, not 140.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920240"/>
            <a:ext cx="3474720" cy="22860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01168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799" y="20848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6C93"/>
                </a:solidFill>
                <a:latin typeface="Calibri"/>
              </a:defRPr>
            </a:pPr>
            <a:r>
              <a:t>Community Hospital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423160"/>
            <a:ext cx="320040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5146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General population, mixed acuity.</a:t>
            </a:r>
            <a:br/>
            <a:r>
              <a:t>Standard SEP-1 bundle protocols.</a:t>
            </a:r>
            <a:br/>
            <a:r>
              <a:t>Balanced sensitivity to avoid alert fatigue.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920240"/>
            <a:ext cx="3474720" cy="228600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66760" y="201168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0848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Pediatric Center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423160"/>
            <a:ext cx="32004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5146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Age-adjusted vitals — a child's normal HR is 120.</a:t>
            </a:r>
            <a:br/>
            <a:r>
              <a:t>Adult thresholds would miss every sick child.</a:t>
            </a:r>
            <a:br/>
            <a:r>
              <a:t>Requires pSOFA, not adult SOFA.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10698480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C343D"/>
                </a:solidFill>
                <a:latin typeface="Calibri"/>
              </a:defRPr>
            </a:pPr>
            <a:r>
              <a:t>Our system solves this with a shared AI engine + per-hospital configuration layer. The AI reasoning stays the same.</a:t>
            </a:r>
            <a:br/>
            <a:r>
              <a:t>Only the clinical thresholds, alert rules, and escalation protocols change — managed by each hospital's clinical SME via API.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What stays the same everywhere: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What changes per hospital: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AI model (Sonnet 4.5)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887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3-stage pipeline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08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qSOFA/SIRS/SOFA formulas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32764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Audit logging format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✅  API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6692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Vital sign thresholds (11 organ systems)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8887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Override sensitivity levels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6108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Alert escalation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32764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Scoring priorities (qSOFA vs SIRS vs pSOFA)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65471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  ⚙️  Bundle protocols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— Multi-Hospital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BBCC"/>
                </a:solidFill>
                <a:latin typeface="Calibri"/>
              </a:defRPr>
            </a:pPr>
            <a:r>
              <a:t>Same engine, different settings — loaded at runtime per hospital</a:t>
            </a:r>
          </a:p>
        </p:txBody>
      </p:sp>
      <p:sp>
        <p:nvSpPr>
          <p:cNvPr id="7" name="Hexagon 6"/>
          <p:cNvSpPr/>
          <p:nvPr/>
        </p:nvSpPr>
        <p:spPr>
          <a:xfrm>
            <a:off x="4114800" y="1371600"/>
            <a:ext cx="3931920" cy="2011680"/>
          </a:xfrm>
          <a:prstGeom prst="hexagon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🧠  Sepsis GenAI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57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DDEE"/>
                </a:solidFill>
                <a:latin typeface="Calibri"/>
              </a:defRPr>
            </a:pPr>
            <a:r>
              <a:t>Sonnet 4.5 + 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AABB"/>
                </a:solidFill>
                <a:latin typeface="Calibri"/>
              </a:defRPr>
            </a:pPr>
            <a:r>
              <a:t>Shared across all hospitals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657600"/>
            <a:ext cx="941832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70332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📋  Configuration Layer  —  850+ Parameters  —  API-Managed  —  Hot-Reload  —  No Restart Needed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97880" y="3429000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2286000" y="4206240"/>
            <a:ext cx="365760" cy="32004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3566160" cy="2011680"/>
          </a:xfrm>
          <a:prstGeom prst="roundRect">
            <a:avLst/>
          </a:prstGeom>
          <a:solidFill>
            <a:srgbClr val="3A1A1A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754880"/>
            <a:ext cx="411480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73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Trauma ICU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303520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HR critical: 130 bpm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Lactate alert: 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Override: Aggressive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9846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qSOFA: Primary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996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Escalation: Immediate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008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SJSA weight: High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126480" y="4206240"/>
            <a:ext cx="365760" cy="32004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4663440"/>
            <a:ext cx="3566160" cy="2011680"/>
          </a:xfrm>
          <a:prstGeom prst="roundRect">
            <a:avLst/>
          </a:prstGeom>
          <a:solidFill>
            <a:srgbClr val="1A3D50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09160" y="4754880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773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CD4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60" y="5303520"/>
            <a:ext cx="32918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53949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HR critical: 140 bpm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59612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Lactate alert: 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79729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Override: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99846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SIRS: Primary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61996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Escalation: 15-min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64008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SJSA weight: Medium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9966960" y="4206240"/>
            <a:ext cx="365760" cy="320040"/>
          </a:xfrm>
          <a:prstGeom prst="down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0" y="4663440"/>
            <a:ext cx="3566160" cy="2011680"/>
          </a:xfrm>
          <a:prstGeom prst="roundRect">
            <a:avLst/>
          </a:prstGeom>
          <a:solidFill>
            <a:srgbClr val="2A1A3A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49640" y="4754880"/>
            <a:ext cx="411480" cy="4114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773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Hospital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44AD"/>
                </a:solidFill>
                <a:latin typeface="Calibri"/>
              </a:defRPr>
            </a:pPr>
            <a:r>
              <a:t>Pediatric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5303520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53949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HR critical: Age-adjusted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59612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Lactate alert: 3.0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79729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Override: Conservative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99846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pSOFA: Pediatric scoring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1996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Escalation: Attending + family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64008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Calibri"/>
              </a:defRPr>
            </a:pPr>
            <a:r>
              <a:t>  SJSA weight: Standard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SME Workflow — No Code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Clinical leads manage their hospital's configuration through simple API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03120" cy="2560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463040"/>
            <a:ext cx="502920" cy="502920"/>
          </a:xfrm>
          <a:prstGeom prst="ellipse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9AAD4"/>
                </a:solidFill>
                <a:latin typeface="Calibri"/>
              </a:defRPr>
            </a:pPr>
            <a:r>
              <a:t>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920240" cy="320040"/>
          </a:xfrm>
          <a:prstGeom prst="roundRect">
            <a:avLst/>
          </a:prstGeom>
          <a:solidFill>
            <a:srgbClr val="49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/guardrail/config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See all 850+ thresholds</a:t>
            </a:r>
            <a:br/>
            <a:r>
              <a:t>for your hospital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06040" y="2468880"/>
            <a:ext cx="411480" cy="274320"/>
          </a:xfrm>
          <a:prstGeom prst="rightArrow">
            <a:avLst/>
          </a:prstGeom>
          <a:solidFill>
            <a:srgbClr val="49A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88920" y="1371600"/>
            <a:ext cx="2103120" cy="25603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1463040"/>
            <a:ext cx="502920" cy="502920"/>
          </a:xfrm>
          <a:prstGeom prst="ellipse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6C93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31720"/>
            <a:ext cx="19202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PUT /guardrail/config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743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Change any threshold</a:t>
            </a:r>
            <a:br/>
            <a:r>
              <a:t>e.g., lower lactate to 3.5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2468880"/>
            <a:ext cx="411480" cy="274320"/>
          </a:xfrm>
          <a:prstGeom prst="rightArrow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1371600"/>
            <a:ext cx="2103120" cy="2560320"/>
          </a:xfrm>
          <a:prstGeom prst="roundRect">
            <a:avLst/>
          </a:prstGeom>
          <a:solidFill>
            <a:srgbClr val="FEF5E7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97879" y="1463040"/>
            <a:ext cx="502920" cy="502920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8A00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2331720"/>
            <a:ext cx="1920240" cy="320040"/>
          </a:xfrm>
          <a:prstGeom prst="round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save_to_file: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743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In-memory only — test</a:t>
            </a:r>
            <a:br/>
            <a:r>
              <a:t>without affecting production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9479" y="2468880"/>
            <a:ext cx="411480" cy="274320"/>
          </a:xfrm>
          <a:prstGeom prst="rightArrow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2359" y="1371600"/>
            <a:ext cx="2103120" cy="256032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599" y="14630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79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799" y="2331720"/>
            <a:ext cx="1920240" cy="3200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save_to_file: 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743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Persist changes — active</a:t>
            </a:r>
            <a:br/>
            <a:r>
              <a:t>immediately, no restart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01199" y="2468880"/>
            <a:ext cx="41148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84080" y="1371600"/>
            <a:ext cx="2103120" cy="256032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61319" y="1463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2057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19" y="2331720"/>
            <a:ext cx="19202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2124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.../export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2743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A6A"/>
                </a:solidFill>
                <a:latin typeface="Calibri"/>
              </a:defRPr>
            </a:pPr>
            <a:r>
              <a:t>Download full config JSON</a:t>
            </a:r>
            <a:br/>
            <a:r>
              <a:t>for compliance audit 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343D"/>
                </a:solidFill>
                <a:latin typeface="Calibri"/>
              </a:defRPr>
            </a:pPr>
            <a:r>
              <a:t>What's Inside — 850+ Parameters Across 11 Organ Systems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526280"/>
            <a:ext cx="1069848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4709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754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7823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Hemodynamic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029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SBP, MAP, DBP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3035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77440" y="4709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68880" y="4754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7823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C93"/>
                </a:solidFill>
                <a:latin typeface="Calibri"/>
              </a:defRPr>
            </a:pPr>
            <a:r>
              <a:t>Respiratory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5029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O2Sat, RR, PF ratio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3035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4709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0" y="4754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🌡️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47823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5029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Hypo/Hyperthermia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3035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709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4754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47823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Renal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5029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Creatinine, BUN, UO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3035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8160" y="4709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4754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9640" y="47823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Hepatic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5029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Bili, AST, ALT, INR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53035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58400" y="470916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49840" y="47548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47823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Hematologic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69880" y="50292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Plt, WBC, Hgb, PTT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30352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71500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5760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⚗️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  <a:latin typeface="Calibri"/>
              </a:defRPr>
            </a:pPr>
            <a:r>
              <a:t>Metabolic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pH, Glucose, K+, Na+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3093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377440" y="571500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68880" y="5760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892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Calibri"/>
              </a:defRPr>
            </a:pPr>
            <a:r>
              <a:t>Cardiac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8892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HR, Troponin, BNP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68880" y="63093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97680" y="571500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9A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89120" y="5760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0916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AAD4"/>
                </a:solidFill>
                <a:latin typeface="Calibri"/>
              </a:defRPr>
            </a:pPr>
            <a:r>
              <a:t>Neurologic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0916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Glasgow Coma Scale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9120" y="63093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571500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60" y="5760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2940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8A00"/>
                </a:solidFill>
                <a:latin typeface="Calibri"/>
              </a:defRPr>
            </a:pPr>
            <a:r>
              <a:t>Infection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Procalcitonin, CRP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63093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138160" y="571500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C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29600" y="5760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C343D"/>
                </a:solidFill>
                <a:latin typeface="Calibri"/>
              </a:defRPr>
            </a:pPr>
            <a:r>
              <a:t>Overrides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49640" y="6035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Force scores, priority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630936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BB"/>
                </a:solidFill>
                <a:latin typeface="Calibri"/>
              </a:defRPr>
            </a:pPr>
            <a:r>
              <a:t>Each has: threshold + rationale + SME notes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65760" cy="678484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C343D"/>
                </a:solidFill>
                <a:latin typeface="Calibri"/>
              </a:defRPr>
            </a:pPr>
            <a:r>
              <a:t>Why It Matters — Same Patient, Different Hospitals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3657600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A6A"/>
                </a:solidFill>
                <a:latin typeface="Calibri"/>
              </a:defRPr>
            </a:pPr>
            <a:r>
              <a:t>A real example of how hospital-specific thresholds change the clinical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0058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C343D"/>
                </a:solidFill>
                <a:latin typeface="Calibri"/>
              </a:defRPr>
            </a:pPr>
            <a:r>
              <a:t>📋  Patient Scenario: 62-year-old, post-op Day 2, HR 115, SBP 105, Temp 38.1°C, WBC 13.5, Lactate 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A6A"/>
                </a:solidFill>
                <a:latin typeface="Calibri"/>
              </a:defRPr>
            </a:pPr>
            <a:r>
              <a:t>AI Risk Score: 68  |  Priority: High  |  Confidence: Medium  |  qSOFA: 1  |  SIRS: 3 of 4 criteria met</a:t>
            </a:r>
            <a:br/>
            <a:r>
              <a:t>Clinical Rationale: "Post-surgical tachycardia with low-grade fever and mild lactate elevation — early infection cannot be excluded."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8A00"/>
                </a:solidFill>
                <a:latin typeface="Calibri"/>
              </a:defRPr>
            </a:pPr>
            <a:r>
              <a:t>Same AI output — but the hospital's configuration determines what happens next: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3566160" cy="3566160"/>
          </a:xfrm>
          <a:prstGeom prst="roundRect">
            <a:avLst/>
          </a:prstGeom>
          <a:solidFill>
            <a:srgbClr val="FDEDE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🏥 Trauma ICU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91840"/>
            <a:ext cx="3291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383280"/>
            <a:ext cx="3291840" cy="3200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01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⚡ ALERT: CRITICAL OVERRIDE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Lactate threshold: 2.0 → EXCEEDED (2.1)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50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HR threshold: 110 → EXCEEDED (115)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Override: Aggressive → Force 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628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Action: Immediate physician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188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Blood cultures STAT + antibiotics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Sepsis bundle clock starts NOW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6263640"/>
            <a:ext cx="265176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627278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⏱️ Response: Immediate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971800"/>
            <a:ext cx="3566160" cy="35661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6C93"/>
                </a:solidFill>
                <a:latin typeface="Calibri"/>
              </a:defRPr>
            </a:pPr>
            <a:r>
              <a:t>🏥 Community Hospital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291840"/>
            <a:ext cx="3291840" cy="36576"/>
          </a:xfrm>
          <a:prstGeom prst="rect">
            <a:avLst/>
          </a:prstGeom>
          <a:solidFill>
            <a:srgbClr val="1E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3383280"/>
            <a:ext cx="3291840" cy="320040"/>
          </a:xfrm>
          <a:prstGeom prst="roundRect">
            <a:avLst/>
          </a:prstGeom>
          <a:solidFill>
            <a:srgbClr val="1E6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401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⚠️ ALERT: HIGH PRIORITY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threshold: 4.0 → OK (2.1)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050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threshold: 140 → OK (115)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306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Override: Standard → No override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5628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Action: Close monitoring q1h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8188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Repeat lactate in 2 hours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074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Notify physician within 15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6263640"/>
            <a:ext cx="265176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627278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6C93"/>
                </a:solidFill>
                <a:latin typeface="Calibri"/>
              </a:defRPr>
            </a:pPr>
            <a:r>
              <a:t>⏱️ Response: 15 minutes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2971800"/>
            <a:ext cx="3566160" cy="356616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017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E44AD"/>
                </a:solidFill>
                <a:latin typeface="Calibri"/>
              </a:defRPr>
            </a:pPr>
            <a:r>
              <a:t>👶 Pediatric Center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3291840"/>
            <a:ext cx="329184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75320" y="3383280"/>
            <a:ext cx="32918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3401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📊 ALERT: MONITOR CLOSELY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Lactate threshold: 3.0 → OK (2.1)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050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HR threshold: Age-adjusted → 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306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Override: Conservative → No override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5628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Action: Trending, reassess in 4h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8188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Continue current antibiotics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074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A6A"/>
                </a:solidFill>
                <a:latin typeface="Calibri"/>
              </a:defRPr>
            </a:pPr>
            <a:r>
              <a:t>Discuss with attending at rounds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6263640"/>
            <a:ext cx="265176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1080" y="627278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Calibri"/>
              </a:defRPr>
            </a:pPr>
            <a:r>
              <a:t>⏱️ Response: Next rounds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
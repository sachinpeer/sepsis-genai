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72" r:id="rId4"/>
    <p:sldId id="257" r:id="rId5"/>
    <p:sldId id="258" r:id="rId6"/>
    <p:sldId id="259" r:id="rId7"/>
    <p:sldId id="260" r:id="rId8"/>
    <p:sldId id="274" r:id="rId9"/>
    <p:sldId id="262" r:id="rId10"/>
    <p:sldId id="263" r:id="rId11"/>
    <p:sldId id="264" r:id="rId12"/>
    <p:sldId id="265" r:id="rId13"/>
    <p:sldId id="266" r:id="rId14"/>
    <p:sldId id="267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E8F2EF"/>
    <a:srgbClr val="DEF5FF"/>
    <a:srgbClr val="DCF5FF"/>
    <a:srgbClr val="006EDD"/>
    <a:srgbClr val="C6BED4"/>
    <a:srgbClr val="BBA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1"/>
    <p:restoredTop sz="94649"/>
  </p:normalViewPr>
  <p:slideViewPr>
    <p:cSldViewPr snapToGrid="0" snapToObjects="1">
      <p:cViewPr varScale="1">
        <p:scale>
          <a:sx n="135" d="100"/>
          <a:sy n="135" d="100"/>
        </p:scale>
        <p:origin x="992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EEC14-CFC4-6740-BEFA-6E964D4C55E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707B4-37C3-5E48-A75A-89027B4B7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0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4605-7084-43A7-8D75-DF8E0428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4867E-00AD-1644-847F-CB58CCBC0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7C7CC-8194-0E60-A913-A467F3CB8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A1C58-53F0-6536-6B56-90327401C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45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00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707B4-37C3-5E48-A75A-89027B4B7F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9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psis.org/news/sepsis-alliance-updates-key-number-of-annual-sepsis-casualties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5" Type="http://schemas.microsoft.com/office/2007/relationships/hdphoto" Target="../media/hdphoto5.wdp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Early Prediction System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BCD4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CC"/>
                </a:solidFill>
                <a:latin typeface="Calibri"/>
              </a:defRPr>
            </a:pPr>
            <a:r>
              <a:t>LLM Selection  •  System Architecture  •  Hospital Configurability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40480"/>
            <a:ext cx="3200400" cy="3657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Production: Claude Sonnet 4.5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840480"/>
            <a:ext cx="3200400" cy="365760"/>
          </a:xfrm>
          <a:prstGeom prst="roundRect">
            <a:avLst/>
          </a:prstGeom>
          <a:solidFill>
            <a:srgbClr val="1A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BBCC"/>
                </a:solidFill>
                <a:latin typeface="Calibri"/>
              </a:defRPr>
            </a:pPr>
            <a:r>
              <a:t>Deployed on AWS EKS  •  Apr 8,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99"/>
                </a:solidFill>
                <a:latin typeface="Calibri"/>
              </a:defRPr>
            </a:pPr>
            <a:r>
              <a:rPr dirty="0"/>
              <a:t>Leadership Briefing  •  April 2026  •  Medbeacon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BF8376C2-F9CF-1465-BE28-8595082EB260}"/>
              </a:ext>
            </a:extLst>
          </p:cNvPr>
          <p:cNvSpPr txBox="1"/>
          <p:nvPr/>
        </p:nvSpPr>
        <p:spPr>
          <a:xfrm>
            <a:off x="457200" y="6629400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AI Clinical Intelligence Platform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AD72AF-E5AC-DBBF-D033-689E8AEF5A76}"/>
              </a:ext>
            </a:extLst>
          </p:cNvPr>
          <p:cNvSpPr txBox="1"/>
          <p:nvPr/>
        </p:nvSpPr>
        <p:spPr>
          <a:xfrm>
            <a:off x="9144000" y="6583680"/>
            <a:ext cx="2743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lang="en-US" dirty="0"/>
              <a:t>1</a:t>
            </a:r>
            <a:r>
              <a:rPr dirty="0"/>
              <a:t>/ 13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E17B44-0547-02D3-BBDC-3DF0B03A482E}"/>
              </a:ext>
            </a:extLst>
          </p:cNvPr>
          <p:cNvSpPr txBox="1"/>
          <p:nvPr/>
        </p:nvSpPr>
        <p:spPr>
          <a:xfrm>
            <a:off x="457200" y="182880"/>
            <a:ext cx="82204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Medbeacon Architecture</a:t>
            </a:r>
            <a:r>
              <a:rPr lang="en-US" dirty="0"/>
              <a:t> for Care Management</a:t>
            </a:r>
            <a:endParaRPr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2655045-2AD1-AD6F-ADCB-E0A05171C6A7}"/>
              </a:ext>
            </a:extLst>
          </p:cNvPr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Arial"/>
              </a:defRPr>
            </a:pPr>
            <a:r>
              <a:t>Real-Time Clinical Intelligence Workflow &amp; Security Governance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F84C5DF-2FCC-5285-0988-715C183F0DDA}"/>
              </a:ext>
            </a:extLst>
          </p:cNvPr>
          <p:cNvSpPr/>
          <p:nvPr/>
        </p:nvSpPr>
        <p:spPr>
          <a:xfrm>
            <a:off x="10515600" y="228600"/>
            <a:ext cx="13716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C08DF8-5F24-8C2F-0102-4BFE8BE57330}"/>
              </a:ext>
            </a:extLst>
          </p:cNvPr>
          <p:cNvSpPr txBox="1"/>
          <p:nvPr/>
        </p:nvSpPr>
        <p:spPr>
          <a:xfrm>
            <a:off x="10515600" y="246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F81FF09-25A5-7F3B-0760-536DDC04CA8D}"/>
              </a:ext>
            </a:extLst>
          </p:cNvPr>
          <p:cNvSpPr/>
          <p:nvPr/>
        </p:nvSpPr>
        <p:spPr>
          <a:xfrm>
            <a:off x="457200" y="914400"/>
            <a:ext cx="112471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C9C3BE4E-9224-9B99-0ED9-E4663031C892}"/>
              </a:ext>
            </a:extLst>
          </p:cNvPr>
          <p:cNvSpPr/>
          <p:nvPr/>
        </p:nvSpPr>
        <p:spPr>
          <a:xfrm>
            <a:off x="365760" y="1188720"/>
            <a:ext cx="27432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8ACA8E09-9425-FCE3-3B7F-E60ED2432C4B}"/>
              </a:ext>
            </a:extLst>
          </p:cNvPr>
          <p:cNvSpPr/>
          <p:nvPr/>
        </p:nvSpPr>
        <p:spPr>
          <a:xfrm>
            <a:off x="365760" y="1188720"/>
            <a:ext cx="2743200" cy="320040"/>
          </a:xfrm>
          <a:prstGeom prst="roundRect">
            <a:avLst/>
          </a:prstGeom>
          <a:solidFill>
            <a:srgbClr val="9333EA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E72886-62E5-99DA-502F-DA6CACA365E7}"/>
              </a:ext>
            </a:extLst>
          </p:cNvPr>
          <p:cNvSpPr txBox="1"/>
          <p:nvPr/>
        </p:nvSpPr>
        <p:spPr>
          <a:xfrm>
            <a:off x="502920" y="1216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ZONE 1: HOSPITAL SOURCE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E21A32E-C5E7-3227-6F3B-48D047B3B090}"/>
              </a:ext>
            </a:extLst>
          </p:cNvPr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A31859A-EBF9-B25C-39B6-E439D912A6F6}"/>
              </a:ext>
            </a:extLst>
          </p:cNvPr>
          <p:cNvSpPr txBox="1"/>
          <p:nvPr/>
        </p:nvSpPr>
        <p:spPr>
          <a:xfrm>
            <a:off x="54864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9333EA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F02E64E-4D41-D354-9474-6BD94D9C0137}"/>
              </a:ext>
            </a:extLst>
          </p:cNvPr>
          <p:cNvSpPr txBox="1"/>
          <p:nvPr/>
        </p:nvSpPr>
        <p:spPr>
          <a:xfrm>
            <a:off x="114300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EHR Environment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FD45587-B46A-A6B9-BE13-5EE86347AC4B}"/>
              </a:ext>
            </a:extLst>
          </p:cNvPr>
          <p:cNvSpPr txBox="1"/>
          <p:nvPr/>
        </p:nvSpPr>
        <p:spPr>
          <a:xfrm>
            <a:off x="1143000" y="19019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Epic / Cerner / Meditech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4566D9A-B43D-0A16-236C-999A1323F477}"/>
              </a:ext>
            </a:extLst>
          </p:cNvPr>
          <p:cNvSpPr txBox="1"/>
          <p:nvPr/>
        </p:nvSpPr>
        <p:spPr>
          <a:xfrm>
            <a:off x="594360" y="2240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Vitals (HR, BP, SpO2, Temp)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Lab Results (Lactate, WBC, Creatinine)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Clinician &amp; Nurse Notes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Patient History &amp; Medications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BEE07A-F1E0-4D2F-2912-03ADCD77051E}"/>
              </a:ext>
            </a:extLst>
          </p:cNvPr>
          <p:cNvSpPr/>
          <p:nvPr/>
        </p:nvSpPr>
        <p:spPr>
          <a:xfrm>
            <a:off x="548640" y="3474720"/>
            <a:ext cx="237744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3077D84-6CED-296B-D494-05AF9D5B41DF}"/>
              </a:ext>
            </a:extLst>
          </p:cNvPr>
          <p:cNvSpPr txBox="1"/>
          <p:nvPr/>
        </p:nvSpPr>
        <p:spPr>
          <a:xfrm>
            <a:off x="457200" y="3578860"/>
            <a:ext cx="24993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Data egress via Red Rover EHR Integration Hub</a:t>
            </a:r>
          </a:p>
        </p:txBody>
      </p:sp>
      <p:sp>
        <p:nvSpPr>
          <p:cNvPr id="100" name="Right Arrow 99">
            <a:extLst>
              <a:ext uri="{FF2B5EF4-FFF2-40B4-BE49-F238E27FC236}">
                <a16:creationId xmlns:a16="http://schemas.microsoft.com/office/drawing/2014/main" id="{8524F4BB-0FD1-5199-0BDB-C555B0AA55D4}"/>
              </a:ext>
            </a:extLst>
          </p:cNvPr>
          <p:cNvSpPr/>
          <p:nvPr/>
        </p:nvSpPr>
        <p:spPr>
          <a:xfrm>
            <a:off x="3200400" y="2514600"/>
            <a:ext cx="54864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F076C1B-670C-ED3B-87B5-5ACCBE832CB6}"/>
              </a:ext>
            </a:extLst>
          </p:cNvPr>
          <p:cNvSpPr/>
          <p:nvPr/>
        </p:nvSpPr>
        <p:spPr>
          <a:xfrm>
            <a:off x="3840480" y="1097280"/>
            <a:ext cx="7955279" cy="3108960"/>
          </a:xfrm>
          <a:prstGeom prst="roundRect">
            <a:avLst/>
          </a:prstGeom>
          <a:solidFill>
            <a:srgbClr val="F8FBFF"/>
          </a:solidFill>
          <a:ln w="38100">
            <a:solidFill>
              <a:srgbClr val="60A5F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47CE1ACE-CE15-6622-82E8-3E612C937D63}"/>
              </a:ext>
            </a:extLst>
          </p:cNvPr>
          <p:cNvSpPr/>
          <p:nvPr/>
        </p:nvSpPr>
        <p:spPr>
          <a:xfrm>
            <a:off x="5623559" y="932688"/>
            <a:ext cx="438912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44FE26A-DE4C-9FA1-86F5-FBE28EB54319}"/>
              </a:ext>
            </a:extLst>
          </p:cNvPr>
          <p:cNvSpPr txBox="1"/>
          <p:nvPr/>
        </p:nvSpPr>
        <p:spPr>
          <a:xfrm>
            <a:off x="5623559" y="9509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MEDBEACON HIPAA SECURE BOUNDARY (AWS BAA + Atlas BAA Covered)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B6D70A89-F696-014E-2601-AAB5BB337D19}"/>
              </a:ext>
            </a:extLst>
          </p:cNvPr>
          <p:cNvSpPr/>
          <p:nvPr/>
        </p:nvSpPr>
        <p:spPr>
          <a:xfrm>
            <a:off x="4114800" y="150876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2BED5B-AC41-D774-BEE6-9242B3DDBDF0}"/>
              </a:ext>
            </a:extLst>
          </p:cNvPr>
          <p:cNvSpPr txBox="1"/>
          <p:nvPr/>
        </p:nvSpPr>
        <p:spPr>
          <a:xfrm>
            <a:off x="4297680" y="16002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AI INTELLIGENCE ENGINE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8DAB137-FA7C-4D9E-5A4F-FE226854C5FB}"/>
              </a:ext>
            </a:extLst>
          </p:cNvPr>
          <p:cNvSpPr/>
          <p:nvPr/>
        </p:nvSpPr>
        <p:spPr>
          <a:xfrm>
            <a:off x="4206240" y="19202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8D21AC4-E266-8422-28F6-6F822AFB4293}"/>
              </a:ext>
            </a:extLst>
          </p:cNvPr>
          <p:cNvSpPr txBox="1"/>
          <p:nvPr/>
        </p:nvSpPr>
        <p:spPr>
          <a:xfrm>
            <a:off x="4297680" y="19659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Predictive Modeling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0985043-2508-C26F-2F52-6BC249998FF0}"/>
              </a:ext>
            </a:extLst>
          </p:cNvPr>
          <p:cNvSpPr txBox="1"/>
          <p:nvPr/>
        </p:nvSpPr>
        <p:spPr>
          <a:xfrm>
            <a:off x="4297680" y="21671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Clinical data enriched through SME-defined trend analysis and narrative preprocessing, then passed to GenAI (AWS Bedrock) for deep reasoning.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BA031004-13FC-D653-9A92-975860248D19}"/>
              </a:ext>
            </a:extLst>
          </p:cNvPr>
          <p:cNvSpPr/>
          <p:nvPr/>
        </p:nvSpPr>
        <p:spPr>
          <a:xfrm>
            <a:off x="4206240" y="28346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019119-2D2C-03AC-8FC3-AECD6F4C460B}"/>
              </a:ext>
            </a:extLst>
          </p:cNvPr>
          <p:cNvSpPr txBox="1"/>
          <p:nvPr/>
        </p:nvSpPr>
        <p:spPr>
          <a:xfrm>
            <a:off x="4297680" y="2880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Narrative Rationale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801E3A8-759C-FD90-DA5F-AA6E08C0B822}"/>
              </a:ext>
            </a:extLst>
          </p:cNvPr>
          <p:cNvSpPr txBox="1"/>
          <p:nvPr/>
        </p:nvSpPr>
        <p:spPr>
          <a:xfrm>
            <a:off x="429768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Not just a score: provides "Clinical Rationale" explaining the 'why' behind every alert to increase clinician trust.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F67CB9A-238D-F2ED-FDD6-94824C2D3FAC}"/>
              </a:ext>
            </a:extLst>
          </p:cNvPr>
          <p:cNvSpPr/>
          <p:nvPr/>
        </p:nvSpPr>
        <p:spPr>
          <a:xfrm>
            <a:off x="6949440" y="1508760"/>
            <a:ext cx="2286000" cy="1563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4BFACFA-1145-C30B-270E-E0428687DF44}"/>
              </a:ext>
            </a:extLst>
          </p:cNvPr>
          <p:cNvSpPr txBox="1"/>
          <p:nvPr/>
        </p:nvSpPr>
        <p:spPr>
          <a:xfrm>
            <a:off x="708660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45309"/>
                </a:solidFill>
                <a:latin typeface="Arial"/>
              </a:defRPr>
            </a:pPr>
            <a:r>
              <a:t>MONGODB ATLAS (on AWS)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1EE30544-99E9-7B05-2DE0-A7D7E59BC351}"/>
              </a:ext>
            </a:extLst>
          </p:cNvPr>
          <p:cNvSpPr/>
          <p:nvPr/>
        </p:nvSpPr>
        <p:spPr>
          <a:xfrm>
            <a:off x="7040880" y="1920240"/>
            <a:ext cx="2103120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3EDD9E0-7F55-2904-613C-48D95C6EC287}"/>
              </a:ext>
            </a:extLst>
          </p:cNvPr>
          <p:cNvSpPr txBox="1"/>
          <p:nvPr/>
        </p:nvSpPr>
        <p:spPr>
          <a:xfrm>
            <a:off x="7114032" y="1947672"/>
            <a:ext cx="1956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2400E"/>
                </a:solidFill>
                <a:latin typeface="Arial"/>
              </a:defRPr>
            </a:pPr>
            <a:r>
              <a:t>Stored (Encrypted AES-256):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DB56CDF-1BDC-6997-A05E-895064411FE0}"/>
              </a:ext>
            </a:extLst>
          </p:cNvPr>
          <p:cNvSpPr txBox="1"/>
          <p:nvPr/>
        </p:nvSpPr>
        <p:spPr>
          <a:xfrm>
            <a:off x="7114032" y="2112264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Patient data (temp, till discharge)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Doctor feedback (long-term)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Hospital guardrail configs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Audit logs (long-term, no PHI)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99102908-1B1B-FF90-419C-4F53AF867E41}"/>
              </a:ext>
            </a:extLst>
          </p:cNvPr>
          <p:cNvSpPr/>
          <p:nvPr/>
        </p:nvSpPr>
        <p:spPr>
          <a:xfrm>
            <a:off x="9418320" y="1508760"/>
            <a:ext cx="2103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C28943C-FC39-B7C0-E8A8-272356148E41}"/>
              </a:ext>
            </a:extLst>
          </p:cNvPr>
          <p:cNvSpPr txBox="1"/>
          <p:nvPr/>
        </p:nvSpPr>
        <p:spPr>
          <a:xfrm>
            <a:off x="960120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6A34A"/>
                </a:solidFill>
                <a:latin typeface="Arial"/>
              </a:defRPr>
            </a:pPr>
            <a:r>
              <a:t>CLINICIAN INSIGHTS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5DDC3A5-95D6-9C38-C3E0-37679E33C856}"/>
              </a:ext>
            </a:extLst>
          </p:cNvPr>
          <p:cNvSpPr/>
          <p:nvPr/>
        </p:nvSpPr>
        <p:spPr>
          <a:xfrm>
            <a:off x="9555480" y="194767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4F5E87B-ACBB-BD9C-F620-17054544A26E}"/>
              </a:ext>
            </a:extLst>
          </p:cNvPr>
          <p:cNvSpPr txBox="1"/>
          <p:nvPr/>
        </p:nvSpPr>
        <p:spPr>
          <a:xfrm>
            <a:off x="9692640" y="19202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Early Warning System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50A97165-1462-8378-2446-812C8FB26E1D}"/>
              </a:ext>
            </a:extLst>
          </p:cNvPr>
          <p:cNvSpPr/>
          <p:nvPr/>
        </p:nvSpPr>
        <p:spPr>
          <a:xfrm>
            <a:off x="9555480" y="218541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B5A0B79-1912-5407-F0E0-F89D685AA721}"/>
              </a:ext>
            </a:extLst>
          </p:cNvPr>
          <p:cNvSpPr txBox="1"/>
          <p:nvPr/>
        </p:nvSpPr>
        <p:spPr>
          <a:xfrm>
            <a:off x="9692640" y="215798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Risk Score + Confidence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30E5F4A-2900-5942-34A1-2FCAE226566B}"/>
              </a:ext>
            </a:extLst>
          </p:cNvPr>
          <p:cNvSpPr/>
          <p:nvPr/>
        </p:nvSpPr>
        <p:spPr>
          <a:xfrm>
            <a:off x="9555480" y="2423160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B0831E2-B221-333A-3F65-05BDC55A339D}"/>
              </a:ext>
            </a:extLst>
          </p:cNvPr>
          <p:cNvSpPr txBox="1"/>
          <p:nvPr/>
        </p:nvSpPr>
        <p:spPr>
          <a:xfrm>
            <a:off x="9692640" y="239572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Guardrail Overrides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EBC3673-624C-5392-625F-BB9570817DC6}"/>
              </a:ext>
            </a:extLst>
          </p:cNvPr>
          <p:cNvSpPr/>
          <p:nvPr/>
        </p:nvSpPr>
        <p:spPr>
          <a:xfrm>
            <a:off x="9555480" y="266090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D2E98B5-87F6-36A2-50F6-5463ABCAB452}"/>
              </a:ext>
            </a:extLst>
          </p:cNvPr>
          <p:cNvSpPr txBox="1"/>
          <p:nvPr/>
        </p:nvSpPr>
        <p:spPr>
          <a:xfrm>
            <a:off x="9692640" y="26334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qSOFA / SIRS / SOFA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34EA17E-EDF1-D143-2478-2D3B90AD9E03}"/>
              </a:ext>
            </a:extLst>
          </p:cNvPr>
          <p:cNvSpPr/>
          <p:nvPr/>
        </p:nvSpPr>
        <p:spPr>
          <a:xfrm>
            <a:off x="9555480" y="2898648"/>
            <a:ext cx="91440" cy="9144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18B4B93-CE01-7932-2AF1-DB397098B07A}"/>
              </a:ext>
            </a:extLst>
          </p:cNvPr>
          <p:cNvSpPr txBox="1"/>
          <p:nvPr/>
        </p:nvSpPr>
        <p:spPr>
          <a:xfrm>
            <a:off x="9692640" y="287121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History-Aware Context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B0EEBE7-E5F5-4D00-D242-7F971DEF9C9D}"/>
              </a:ext>
            </a:extLst>
          </p:cNvPr>
          <p:cNvSpPr/>
          <p:nvPr/>
        </p:nvSpPr>
        <p:spPr>
          <a:xfrm>
            <a:off x="9509760" y="3200400"/>
            <a:ext cx="1920240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7C0F6FA-F880-61E5-7D0E-2366A28C5FD0}"/>
              </a:ext>
            </a:extLst>
          </p:cNvPr>
          <p:cNvSpPr txBox="1"/>
          <p:nvPr/>
        </p:nvSpPr>
        <p:spPr>
          <a:xfrm>
            <a:off x="9555480" y="3246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66534"/>
                </a:solidFill>
                <a:latin typeface="Arial"/>
              </a:defRPr>
            </a:pPr>
            <a:r>
              <a:t>IMPACT: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9129A6-123F-8C12-ACBE-728B071D9264}"/>
              </a:ext>
            </a:extLst>
          </p:cNvPr>
          <p:cNvSpPr txBox="1"/>
          <p:nvPr/>
        </p:nvSpPr>
        <p:spPr>
          <a:xfrm>
            <a:off x="955548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15803D"/>
                </a:solidFill>
                <a:latin typeface="Arial"/>
              </a:defRPr>
            </a:pPr>
            <a:r>
              <a:t>360° clinical view. Works even when LLM is unavailable.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E28DC287-CA72-B7BF-3A8E-F2FB41AF45BC}"/>
              </a:ext>
            </a:extLst>
          </p:cNvPr>
          <p:cNvSpPr/>
          <p:nvPr/>
        </p:nvSpPr>
        <p:spPr>
          <a:xfrm>
            <a:off x="365760" y="4434840"/>
            <a:ext cx="5760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A93AA09-C347-947C-AB39-7277C878482C}"/>
              </a:ext>
            </a:extLst>
          </p:cNvPr>
          <p:cNvSpPr txBox="1"/>
          <p:nvPr/>
        </p:nvSpPr>
        <p:spPr>
          <a:xfrm>
            <a:off x="5943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Why We Are Compliance-First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462BE5-2ADB-BC6D-386B-0DC1C394ADA3}"/>
              </a:ext>
            </a:extLst>
          </p:cNvPr>
          <p:cNvSpPr/>
          <p:nvPr/>
        </p:nvSpPr>
        <p:spPr>
          <a:xfrm>
            <a:off x="59436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438D38D-6C52-4DA5-3C6C-9F41B2FCE4E6}"/>
              </a:ext>
            </a:extLst>
          </p:cNvPr>
          <p:cNvSpPr txBox="1"/>
          <p:nvPr/>
        </p:nvSpPr>
        <p:spPr>
          <a:xfrm>
            <a:off x="60350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A40E559-2C7C-24CA-80D1-C8849D7F8940}"/>
              </a:ext>
            </a:extLst>
          </p:cNvPr>
          <p:cNvSpPr txBox="1"/>
          <p:nvPr/>
        </p:nvSpPr>
        <p:spPr>
          <a:xfrm>
            <a:off x="79552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Temporary Data Only: Patient clinical data retained only till discharge, then auto-purged. Encrypted AES-256.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A4861CBF-8DDA-0775-94EE-D5CDAA6D6F35}"/>
              </a:ext>
            </a:extLst>
          </p:cNvPr>
          <p:cNvSpPr/>
          <p:nvPr/>
        </p:nvSpPr>
        <p:spPr>
          <a:xfrm>
            <a:off x="342900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9D101C8-7821-C4CC-E9BE-D2AC025C8035}"/>
              </a:ext>
            </a:extLst>
          </p:cNvPr>
          <p:cNvSpPr txBox="1"/>
          <p:nvPr/>
        </p:nvSpPr>
        <p:spPr>
          <a:xfrm>
            <a:off x="343814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62B8F21-9D0E-57AC-FF73-C1E519C9C588}"/>
              </a:ext>
            </a:extLst>
          </p:cNvPr>
          <p:cNvSpPr txBox="1"/>
          <p:nvPr/>
        </p:nvSpPr>
        <p:spPr>
          <a:xfrm>
            <a:off x="363016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Zero-Training: Amazon Bedrock does NOT store or train on hospital patient data.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AE5E9F16-5618-E1BB-5F03-278A4B4A54E1}"/>
              </a:ext>
            </a:extLst>
          </p:cNvPr>
          <p:cNvSpPr/>
          <p:nvPr/>
        </p:nvSpPr>
        <p:spPr>
          <a:xfrm>
            <a:off x="59436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93DE73B-D7C9-742D-DF2B-0BB3D874B297}"/>
              </a:ext>
            </a:extLst>
          </p:cNvPr>
          <p:cNvSpPr txBox="1"/>
          <p:nvPr/>
        </p:nvSpPr>
        <p:spPr>
          <a:xfrm>
            <a:off x="60350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23EF36D-A64B-7050-AB98-E424706D28BB}"/>
              </a:ext>
            </a:extLst>
          </p:cNvPr>
          <p:cNvSpPr txBox="1"/>
          <p:nvPr/>
        </p:nvSpPr>
        <p:spPr>
          <a:xfrm>
            <a:off x="79552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Full Data Isolation: PHI never leaves the AWS boundary. MongoDB Atlas hosted on AWS us-east-1.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845CEB4-3A3C-0FDD-6FDE-2FACFBAAA857}"/>
              </a:ext>
            </a:extLst>
          </p:cNvPr>
          <p:cNvSpPr/>
          <p:nvPr/>
        </p:nvSpPr>
        <p:spPr>
          <a:xfrm>
            <a:off x="342900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CEB228-AAEC-4177-F9D5-1062DD38823C}"/>
              </a:ext>
            </a:extLst>
          </p:cNvPr>
          <p:cNvSpPr txBox="1"/>
          <p:nvPr/>
        </p:nvSpPr>
        <p:spPr>
          <a:xfrm>
            <a:off x="343814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6E1DF72-17F5-64D6-974C-BE9C073BD4C0}"/>
              </a:ext>
            </a:extLst>
          </p:cNvPr>
          <p:cNvSpPr txBox="1"/>
          <p:nvPr/>
        </p:nvSpPr>
        <p:spPr>
          <a:xfrm>
            <a:off x="363016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Dual BAA Coverage: AWS BAA covers Bedrock, EKS, S3. MongoDB Atlas BAA covers database.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30C32A35-85D5-7638-F68E-777F0396D07B}"/>
              </a:ext>
            </a:extLst>
          </p:cNvPr>
          <p:cNvSpPr/>
          <p:nvPr/>
        </p:nvSpPr>
        <p:spPr>
          <a:xfrm>
            <a:off x="59436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6C66EB0-ED24-D57D-443A-BCA716578796}"/>
              </a:ext>
            </a:extLst>
          </p:cNvPr>
          <p:cNvSpPr txBox="1"/>
          <p:nvPr/>
        </p:nvSpPr>
        <p:spPr>
          <a:xfrm>
            <a:off x="60350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C68F427-35CB-CB2E-C52A-120BD6C4B574}"/>
              </a:ext>
            </a:extLst>
          </p:cNvPr>
          <p:cNvSpPr txBox="1"/>
          <p:nvPr/>
        </p:nvSpPr>
        <p:spPr>
          <a:xfrm>
            <a:off x="79552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No PHI in Logs: Audit logs contain request IDs and scores only — zero patient data.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6A8A6F9-708F-5E97-3819-07A4C656A08F}"/>
              </a:ext>
            </a:extLst>
          </p:cNvPr>
          <p:cNvSpPr/>
          <p:nvPr/>
        </p:nvSpPr>
        <p:spPr>
          <a:xfrm>
            <a:off x="342900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2D11CCA-D375-7625-12A3-57A31CF94ACD}"/>
              </a:ext>
            </a:extLst>
          </p:cNvPr>
          <p:cNvSpPr txBox="1"/>
          <p:nvPr/>
        </p:nvSpPr>
        <p:spPr>
          <a:xfrm>
            <a:off x="343814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8EE0D40-10CF-9994-C26C-60EC6BF623A1}"/>
              </a:ext>
            </a:extLst>
          </p:cNvPr>
          <p:cNvSpPr txBox="1"/>
          <p:nvPr/>
        </p:nvSpPr>
        <p:spPr>
          <a:xfrm>
            <a:off x="363016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Certified Trust: SOC 2 &amp; ISO 27001 infra. Role-based access control on all data stores.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E676830B-FECA-EAB8-258F-805ACAA45EE8}"/>
              </a:ext>
            </a:extLst>
          </p:cNvPr>
          <p:cNvSpPr/>
          <p:nvPr/>
        </p:nvSpPr>
        <p:spPr>
          <a:xfrm>
            <a:off x="6309360" y="4434840"/>
            <a:ext cx="5577840" cy="214884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E3CA061-A81D-CC48-0F58-7339233BEF4C}"/>
              </a:ext>
            </a:extLst>
          </p:cNvPr>
          <p:cNvSpPr txBox="1"/>
          <p:nvPr/>
        </p:nvSpPr>
        <p:spPr>
          <a:xfrm>
            <a:off x="65379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Powerful Clinical Outcomes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44D1722-23C7-6BF4-B68E-586DDC1AD965}"/>
              </a:ext>
            </a:extLst>
          </p:cNvPr>
          <p:cNvSpPr txBox="1"/>
          <p:nvPr/>
        </p:nvSpPr>
        <p:spPr>
          <a:xfrm>
            <a:off x="6537960" y="48188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Arial"/>
              </a:defRPr>
            </a:pPr>
            <a:r>
              <a:t>Medbeacon transitions healthcare from Reactive to Proactive.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25E9221C-0306-D924-5D53-6C44AD1E2961}"/>
              </a:ext>
            </a:extLst>
          </p:cNvPr>
          <p:cNvSpPr/>
          <p:nvPr/>
        </p:nvSpPr>
        <p:spPr>
          <a:xfrm>
            <a:off x="6537960" y="5184648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FDE56B4-A18E-56E4-B402-D45DB035733A}"/>
              </a:ext>
            </a:extLst>
          </p:cNvPr>
          <p:cNvSpPr txBox="1"/>
          <p:nvPr/>
        </p:nvSpPr>
        <p:spPr>
          <a:xfrm>
            <a:off x="6537960" y="52303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25BACA4-7CE0-6FB6-2CB4-5BAEBD659615}"/>
              </a:ext>
            </a:extLst>
          </p:cNvPr>
          <p:cNvSpPr txBox="1"/>
          <p:nvPr/>
        </p:nvSpPr>
        <p:spPr>
          <a:xfrm>
            <a:off x="7040880" y="51846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Sepsis Detection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A95F9F5-4E50-1301-016B-84B1BB444837}"/>
              </a:ext>
            </a:extLst>
          </p:cNvPr>
          <p:cNvSpPr txBox="1"/>
          <p:nvPr/>
        </p:nvSpPr>
        <p:spPr>
          <a:xfrm>
            <a:off x="7040880" y="5367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Targeting the #1 cause of hospital mortality with hours-ahead warning.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820D8C7B-40DA-89EB-81A3-A55F396F5026}"/>
              </a:ext>
            </a:extLst>
          </p:cNvPr>
          <p:cNvSpPr/>
          <p:nvPr/>
        </p:nvSpPr>
        <p:spPr>
          <a:xfrm>
            <a:off x="6537960" y="562356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45C1DA-6BFB-BAD2-F857-477BB9E7B6BE}"/>
              </a:ext>
            </a:extLst>
          </p:cNvPr>
          <p:cNvSpPr txBox="1"/>
          <p:nvPr/>
        </p:nvSpPr>
        <p:spPr>
          <a:xfrm>
            <a:off x="653796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BEE4004-38BF-CDD4-2DC9-474857A64122}"/>
              </a:ext>
            </a:extLst>
          </p:cNvPr>
          <p:cNvSpPr txBox="1"/>
          <p:nvPr/>
        </p:nvSpPr>
        <p:spPr>
          <a:xfrm>
            <a:off x="704088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Scalable Expansion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0CB7687-BF69-45EF-C0EE-0A6C9D15F75B}"/>
              </a:ext>
            </a:extLst>
          </p:cNvPr>
          <p:cNvSpPr txBox="1"/>
          <p:nvPr/>
        </p:nvSpPr>
        <p:spPr>
          <a:xfrm>
            <a:off x="7040880" y="5806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Live for Sepsis; Expandable to AKI, DVT/PE, Cardiac Arrest, and Respiratory Failure.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B5CAE52A-BCBE-4F20-F990-B7AB8EC9AD3A}"/>
              </a:ext>
            </a:extLst>
          </p:cNvPr>
          <p:cNvSpPr/>
          <p:nvPr/>
        </p:nvSpPr>
        <p:spPr>
          <a:xfrm>
            <a:off x="6537960" y="6062472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7502191-DA57-019A-10FC-FBB6ED94F5DB}"/>
              </a:ext>
            </a:extLst>
          </p:cNvPr>
          <p:cNvSpPr txBox="1"/>
          <p:nvPr/>
        </p:nvSpPr>
        <p:spPr>
          <a:xfrm>
            <a:off x="6537960" y="6108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B21D4C5-DD0A-8950-874D-1ED4E6EE52F0}"/>
              </a:ext>
            </a:extLst>
          </p:cNvPr>
          <p:cNvSpPr txBox="1"/>
          <p:nvPr/>
        </p:nvSpPr>
        <p:spPr>
          <a:xfrm>
            <a:off x="7040880" y="6062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Clinician Efficiency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F8B8559-56B9-32E7-9F9F-80294010A12C}"/>
              </a:ext>
            </a:extLst>
          </p:cNvPr>
          <p:cNvSpPr txBox="1"/>
          <p:nvPr/>
        </p:nvSpPr>
        <p:spPr>
          <a:xfrm>
            <a:off x="7040880" y="6245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Reduces "Alert Fatigue" by providing deterministic scores with AI reasoning.</a:t>
            </a:r>
          </a:p>
        </p:txBody>
      </p:sp>
    </p:spTree>
    <p:extLst>
      <p:ext uri="{BB962C8B-B14F-4D97-AF65-F5344CB8AC3E}">
        <p14:creationId xmlns:p14="http://schemas.microsoft.com/office/powerpoint/2010/main" val="390694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B2A4A"/>
                </a:solidFill>
                <a:latin typeface="Calibri"/>
              </a:defRPr>
            </a:pPr>
            <a:r>
              <a:rPr lang="en-US" dirty="0"/>
              <a:t>Focus areas Sepsis : </a:t>
            </a:r>
            <a:r>
              <a:rPr sz="2400" dirty="0"/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738378"/>
            <a:ext cx="1554480" cy="3200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B7E"/>
                </a:solidFill>
                <a:latin typeface="Calibri"/>
              </a:defRPr>
            </a:pPr>
            <a:r>
              <a:rPr dirty="0"/>
              <a:t>Sepsis is a leading c</a:t>
            </a:r>
            <a:r>
              <a:rPr lang="en-IN" dirty="0"/>
              <a:t>au</a:t>
            </a:r>
            <a:r>
              <a:rPr dirty="0"/>
              <a:t>se of preventable hospital deaths worldwide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88720"/>
            <a:ext cx="63093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73152" cy="1097280"/>
          </a:xfrm>
          <a:prstGeom prst="rect">
            <a:avLst/>
          </a:prstGeom>
          <a:solidFill>
            <a:srgbClr val="D4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9EAE"/>
                </a:solidFill>
                <a:latin typeface="Calibri"/>
              </a:defRPr>
            </a:pPr>
            <a:r>
              <a:t>EVERY YEAR IN THE U.S.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5B5B"/>
                </a:solidFill>
                <a:latin typeface="Calibri"/>
              </a:defRPr>
            </a:pPr>
            <a:r>
              <a:rPr dirty="0"/>
              <a:t>270,000+  lives lost to sepsis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7E"/>
                </a:solidFill>
                <a:latin typeface="Calibri"/>
              </a:defRPr>
            </a:pPr>
            <a:r>
              <a:t>Each hour of delayed treatment increases mortality by 7–8%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5B5B"/>
                </a:solidFill>
                <a:latin typeface="Calibri"/>
              </a:defRPr>
            </a:pPr>
            <a:r>
              <a:rPr dirty="0"/>
              <a:t>The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828800" cy="27432"/>
          </a:xfrm>
          <a:prstGeom prst="rect">
            <a:avLst/>
          </a:prstGeom>
          <a:solidFill>
            <a:srgbClr val="F2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303520" cy="96012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64008" cy="960120"/>
          </a:xfrm>
          <a:prstGeom prst="rect">
            <a:avLst/>
          </a:prstGeom>
          <a:solidFill>
            <a:srgbClr val="D4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" y="303580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035808"/>
            <a:ext cx="548640" cy="548640"/>
          </a:xfrm>
          <a:prstGeom prst="ellipse">
            <a:avLst/>
          </a:prstGeom>
          <a:solidFill>
            <a:srgbClr val="FDF0F0"/>
          </a:solidFill>
          <a:ln w="19050">
            <a:solidFill>
              <a:srgbClr val="D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3127248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5B5B"/>
                </a:solidFill>
                <a:latin typeface="Calibri"/>
              </a:defRPr>
            </a:pPr>
            <a:r>
              <a:rPr dirty="0"/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44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5B5B"/>
                </a:solidFill>
                <a:latin typeface="Calibri"/>
              </a:defRPr>
            </a:pPr>
            <a:r>
              <a:t>Late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186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Traditional alerts fire only after</a:t>
            </a:r>
            <a:br/>
            <a:r>
              <a:t>vitals cross critical thresholds —</a:t>
            </a:r>
            <a:br/>
            <a:r>
              <a:t>often too late for effective treatment.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5303520" cy="960120"/>
          </a:xfrm>
          <a:prstGeom prst="roundRect">
            <a:avLst/>
          </a:prstGeom>
          <a:solidFill>
            <a:srgbClr val="FEF6EB"/>
          </a:solidFill>
          <a:ln w="12700">
            <a:solidFill>
              <a:srgbClr val="F0D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64008" cy="960120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FEF6EB"/>
          </a:solidFill>
          <a:ln w="19050">
            <a:solidFill>
              <a:srgbClr val="D4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251960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8B2C"/>
                </a:solidFill>
                <a:latin typeface="Calibri"/>
              </a:defRPr>
            </a:pPr>
            <a:r>
              <a:rPr dirty="0"/>
              <a:t>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2C"/>
                </a:solidFill>
                <a:latin typeface="Calibri"/>
              </a:defRPr>
            </a:pPr>
            <a:r>
              <a:t>Silent Sepsis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159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In ~30% of cases, vitals look normal</a:t>
            </a:r>
            <a:br/>
            <a:r>
              <a:t>while organs quietly fail. Numbers</a:t>
            </a:r>
            <a:br/>
            <a:r>
              <a:t>alone miss the danger.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5303520" cy="9601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0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64008" cy="960120"/>
          </a:xfrm>
          <a:prstGeom prst="rect">
            <a:avLst/>
          </a:prstGeom>
          <a:solidFill>
            <a:srgbClr val="3D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5800" y="5230368"/>
            <a:ext cx="548640" cy="548640"/>
          </a:xfrm>
          <a:prstGeom prst="ellipse">
            <a:avLst/>
          </a:prstGeom>
          <a:solidFill>
            <a:srgbClr val="EEF4FA"/>
          </a:solidFill>
          <a:ln w="19050">
            <a:solidFill>
              <a:srgbClr val="3D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5344668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D506B"/>
                </a:solidFill>
                <a:latin typeface="Calibri"/>
              </a:defRPr>
            </a:pPr>
            <a:r>
              <a:rPr dirty="0"/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38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06B"/>
                </a:solidFill>
                <a:latin typeface="Calibri"/>
              </a:defRPr>
            </a:pPr>
            <a:r>
              <a:t>Data in Silos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132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Vital signs, lab results, and nurse</a:t>
            </a:r>
            <a:br/>
            <a:r>
              <a:t>notes are reviewed separately —</a:t>
            </a:r>
            <a:br/>
            <a:r>
              <a:t>the full picture is never assembled.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9E6C"/>
                </a:solidFill>
                <a:latin typeface="Calibri"/>
              </a:defRPr>
            </a:pPr>
            <a:r>
              <a:rPr dirty="0"/>
              <a:t>Our Solution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651760"/>
            <a:ext cx="1828800" cy="27432"/>
          </a:xfrm>
          <a:prstGeom prst="rect">
            <a:avLst/>
          </a:prstGeom>
          <a:solidFill>
            <a:srgbClr val="C5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09360" y="2834640"/>
            <a:ext cx="5303520" cy="960120"/>
          </a:xfrm>
          <a:prstGeom prst="roundRect">
            <a:avLst/>
          </a:prstGeom>
          <a:solidFill>
            <a:srgbClr val="EFF8F2"/>
          </a:solidFill>
          <a:ln w="12700">
            <a:solidFill>
              <a:srgbClr val="C5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2834640"/>
            <a:ext cx="64008" cy="960120"/>
          </a:xfrm>
          <a:prstGeom prst="rect">
            <a:avLst/>
          </a:prstGeom>
          <a:solidFill>
            <a:srgbClr val="48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37960" y="303580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37960" y="3035808"/>
            <a:ext cx="548640" cy="548640"/>
          </a:xfrm>
          <a:prstGeom prst="ellipse">
            <a:avLst/>
          </a:prstGeom>
          <a:solidFill>
            <a:srgbClr val="EFF8F2"/>
          </a:solidFill>
          <a:ln w="19050">
            <a:solidFill>
              <a:srgbClr val="489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3154680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89E6C"/>
                </a:solidFill>
                <a:latin typeface="Calibri"/>
              </a:defRPr>
            </a:pPr>
            <a:r>
              <a:rPr dirty="0"/>
              <a:t>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2944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89E6C"/>
                </a:solidFill>
                <a:latin typeface="Calibri"/>
              </a:defRPr>
            </a:pPr>
            <a:r>
              <a:t>Predictive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2186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rPr dirty="0"/>
              <a:t>AI reads the full clinical narrative —</a:t>
            </a:r>
            <a:br>
              <a:rPr dirty="0"/>
            </a:br>
            <a:r>
              <a:rPr dirty="0"/>
              <a:t>vitals, trends, and nurse notes together —</a:t>
            </a:r>
            <a:br>
              <a:rPr dirty="0"/>
            </a:br>
            <a:r>
              <a:rPr dirty="0"/>
              <a:t>and predicts hours in advance.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931920"/>
            <a:ext cx="5303520" cy="960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B0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3931920"/>
            <a:ext cx="64008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537960" y="41330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537960" y="4133088"/>
            <a:ext cx="548640" cy="548640"/>
          </a:xfrm>
          <a:prstGeom prst="ellipse">
            <a:avLst/>
          </a:prstGeom>
          <a:solidFill>
            <a:srgbClr val="ECF7F5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4261104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A9D8F"/>
                </a:solidFill>
                <a:latin typeface="Calibri"/>
              </a:defRPr>
            </a:pPr>
            <a:r>
              <a:rPr dirty="0"/>
              <a:t>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9D8F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43159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Catches "Silent Sepsis" by spotting</a:t>
            </a:r>
            <a:br/>
            <a:r>
              <a:t>when nurse notes contradict stable</a:t>
            </a:r>
            <a:br/>
            <a:r>
              <a:t>numbers: mottled skin + normal BP.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029200"/>
            <a:ext cx="5303520" cy="9601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0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09360" y="5029200"/>
            <a:ext cx="64008" cy="960120"/>
          </a:xfrm>
          <a:prstGeom prst="rect">
            <a:avLst/>
          </a:prstGeom>
          <a:solidFill>
            <a:srgbClr val="3B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537960" y="523036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537960" y="5230368"/>
            <a:ext cx="548640" cy="548640"/>
          </a:xfrm>
          <a:prstGeom prst="ellipse">
            <a:avLst/>
          </a:prstGeom>
          <a:solidFill>
            <a:srgbClr val="EEF4FA"/>
          </a:solidFill>
          <a:ln w="19050">
            <a:solidFill>
              <a:srgbClr val="3B8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65392" y="5358384"/>
            <a:ext cx="493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B8"/>
                </a:solidFill>
                <a:latin typeface="Calibri"/>
              </a:defRPr>
            </a:pPr>
            <a:r>
              <a:rPr dirty="0"/>
              <a:t>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5138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B8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4132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rPr dirty="0"/>
              <a:t>Deterministic clinical rules (</a:t>
            </a:r>
            <a:r>
              <a:rPr dirty="0" err="1"/>
              <a:t>qSOFA</a:t>
            </a:r>
            <a:r>
              <a:rPr dirty="0"/>
              <a:t>,</a:t>
            </a:r>
            <a:br>
              <a:rPr dirty="0"/>
            </a:br>
            <a:r>
              <a:rPr dirty="0"/>
              <a:t>SIRS, SOFA) override the AI if vitals</a:t>
            </a:r>
            <a:br>
              <a:rPr dirty="0"/>
            </a:br>
            <a:r>
              <a:rPr dirty="0"/>
              <a:t>cross hard thresholds. </a:t>
            </a:r>
            <a:r>
              <a:rPr b="1" dirty="0"/>
              <a:t>AI never decides alone</a:t>
            </a:r>
            <a:r>
              <a:rPr dirty="0"/>
              <a:t>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126480"/>
            <a:ext cx="111556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9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7200" y="6126480"/>
            <a:ext cx="64008" cy="41148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5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963E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6209109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06B"/>
                </a:solidFill>
                <a:latin typeface="Calibri"/>
              </a:defRPr>
            </a:pPr>
            <a:r>
              <a:rPr dirty="0"/>
              <a:t>Our key differentiator: when vitals look reassuring but clinical notes tell a different story. Traditional systems wait for numbers to crash. We act while there's still time.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E9EAE"/>
                </a:solidFill>
                <a:latin typeface="Calibri"/>
              </a:defRPr>
            </a:pPr>
            <a:r>
              <a:rPr dirty="0"/>
              <a:t>2 / 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55C764-EB63-3B84-5216-9B920D97A406}"/>
              </a:ext>
            </a:extLst>
          </p:cNvPr>
          <p:cNvSpPr txBox="1"/>
          <p:nvPr/>
        </p:nvSpPr>
        <p:spPr>
          <a:xfrm>
            <a:off x="8394192" y="1951684"/>
            <a:ext cx="6766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2"/>
              </a:rPr>
              <a:t>sepsis.org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Selection — How We Got to Sonnet 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100+ LLMs exist. We applied </a:t>
            </a:r>
            <a:r>
              <a:rPr lang="en-IN" dirty="0"/>
              <a:t>3 </a:t>
            </a:r>
            <a:r>
              <a:rPr dirty="0"/>
              <a:t>systematic filters to find the right one for clinical sepsis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1371600"/>
            <a:ext cx="3837750" cy="1005840"/>
          </a:xfrm>
          <a:prstGeom prst="roundRect">
            <a:avLst/>
          </a:prstGeom>
          <a:solidFill>
            <a:srgbClr val="CCDDEE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3767" y="1554480"/>
            <a:ext cx="594360" cy="594360"/>
          </a:xfrm>
          <a:prstGeom prst="ellipse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 dirty="0"/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007" y="14630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5A6A"/>
                </a:solidFill>
                <a:latin typeface="Calibri"/>
              </a:defRPr>
            </a:pPr>
            <a:r>
              <a:t>ALL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175564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GPT-4o, Claude, Gemini, Llama 3,</a:t>
            </a:r>
            <a:br/>
            <a:r>
              <a:t>Mistral, Med-PaLM 2, Cohere...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9607" y="2560320"/>
            <a:ext cx="3942782" cy="10058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26767" y="2743200"/>
            <a:ext cx="594360" cy="59436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~10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07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Filter 1: AWS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007" y="29443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PHI must stay within AWS boundary.</a:t>
            </a:r>
            <a:br>
              <a:rPr dirty="0"/>
            </a:br>
            <a:r>
              <a:rPr dirty="0"/>
              <a:t>Eliminated: GPT-4o, Gemini, Med-</a:t>
            </a:r>
            <a:r>
              <a:rPr dirty="0" err="1"/>
              <a:t>PaLM</a:t>
            </a:r>
            <a:r>
              <a:rPr dirty="0"/>
              <a:t>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2607" y="3749039"/>
            <a:ext cx="4171382" cy="10058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69767" y="393192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7007" y="38404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Filter 2: Managed +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7007" y="4133087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No self-hosting. No LEGACY models.</a:t>
            </a:r>
            <a:br/>
            <a:r>
              <a:t>Eliminated: Llama 3, Mistral, 3.5 Sonnet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5607" y="4937760"/>
            <a:ext cx="3657600" cy="10058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12767" y="5120640"/>
            <a:ext cx="594360" cy="59436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8A00"/>
                </a:solidFill>
                <a:latin typeface="Calibri"/>
              </a:defRPr>
            </a:pPr>
            <a:r>
              <a:t>Filter 3: Clinical Quality +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0007" y="53218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Head-to-head on real patient data.</a:t>
            </a:r>
            <a:br/>
            <a:r>
              <a:t>4 finalists tested with 8 patients × 4 models = 32 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6126480"/>
            <a:ext cx="7589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0" y="61447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 Winner: Claude Sonnet 4.5  —  Deployed to Production Apr 8, 2026  —  Best balance of speed, depth &amp;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2666" y="24886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Head-to-Head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8 patients × 4 models = 32 test runs  |  Same prompt (v3.0)  |  AWS Bedrock us-east-1  |  April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Performance &amp; Cost (Averaged)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72184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72184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4904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472184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59" y="1490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81051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23160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5.0 sec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181051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1828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9.3 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15.8 sec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81051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59" y="182880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18.4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395728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4140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Output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2395728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86200" y="24140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rPr dirty="0"/>
              <a:t>469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2395728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24140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869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688336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27066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Per 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2688336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27066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$0.0127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32120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$0.0176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2688336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5159" y="27066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$0.0312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29809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29992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$10.34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0" y="2980944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86200" y="29992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$12.69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32120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$17.57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2980944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95159" y="29992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$31.16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32735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32918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Monthly (1K/day)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0" y="3273552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86200" y="32918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$381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32120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$527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3273552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95159" y="32918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$935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3685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Clinical Output Quality (Averaged)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4005072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" y="40233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37744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423160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0" y="4005072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86200" y="40233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32120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49440" y="4005072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95159" y="4023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434340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" y="43525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Risk Score (avg)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7744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40480" y="434340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86200" y="43525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32120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49440" y="434340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995159" y="43525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461772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46268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423160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40480" y="461772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886200" y="46268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532120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49440" y="461772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95159" y="46268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" y="489204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77240" y="490118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6h Probability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23160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840480" y="489204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886200" y="490118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Moderate–High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48640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532120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49440" y="489204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95159" y="490118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" y="516636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77240" y="51755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Organ Stress Items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37744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23160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840480" y="516636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886200" y="517550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532120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949440" y="516636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995159" y="51755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" y="544068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7240" y="5449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Missing Data Flagged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7744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423160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40480" y="544068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86200" y="5449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32120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949440" y="544068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995159" y="544982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571500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77240" y="5724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Surgical Context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37744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423160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840480" y="5715000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86200" y="5724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48640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532120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949440" y="5715000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995159" y="57241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Multi-system + time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" y="598932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77240" y="59984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Discordance Detected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37744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423160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840480" y="5989320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886200" y="599846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532120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949440" y="5989320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995159" y="599846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540496" y="1399032"/>
            <a:ext cx="3474720" cy="4846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723376" y="1490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723376" y="1764792"/>
            <a:ext cx="30175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723376" y="19019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All 4 models agree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723376" y="21488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Risk: 72, Priority: High,</a:t>
            </a:r>
            <a:br/>
            <a:r>
              <a:t>qSOFA: 1, Trend: Deteriorating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723376" y="3154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Sonnet 4.5 sweet spot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23376" y="34015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85% better reasoning than 4,</a:t>
            </a:r>
            <a:br/>
            <a:r>
              <a:t>only 23% cost increase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723376" y="41148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Opus 4.6 deepest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23376" y="43616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Only model to estimate</a:t>
            </a:r>
            <a:br/>
            <a:r>
              <a:t>time-to-decompensation (4-6h)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723376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Speed doubles per gen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23376" y="532180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5s → 9s → 16s → 18s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" y="6428232"/>
            <a:ext cx="1115568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★  All 4 models converge on the same core prediction — the difference is depth of clinical reasoning, not accuracy.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6702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15600" y="67025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31520" y="2121408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77240" y="21396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Input Tokens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37744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423160" y="21396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1,885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40480" y="2121408"/>
            <a:ext cx="1554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886200" y="2139696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 sz="1000" dirty="0">
                <a:solidFill>
                  <a:srgbClr val="27AE60"/>
                </a:solidFill>
                <a:latin typeface="Calibri"/>
              </a:rPr>
              <a:t>1,885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48640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532120" y="2139696"/>
            <a:ext cx="1280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1,886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949440" y="212140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995159" y="21396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1,886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06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Clinical Rationale — Quality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patient, same data — how each model explains its assessment (actual LLM outputs)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1234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9728" cy="123444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280160"/>
            <a:ext cx="2560320" cy="22860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8930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Previous Production  •  5.0s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"Post-operative patient with concerning vital trend deterioration (HR rising to 105, SBP dropping to 98, falling O2Sat 96→94) combined with subtle clinical decline and elevated WBC suggesting early sepsis."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→  Concise, fast — but misses surgical-specific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87752"/>
            <a:ext cx="1069848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109728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33472"/>
            <a:ext cx="2560320" cy="228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6426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★  DEPLOYED  •  9.3s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3522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"Concerning discordance between compensating vitals and subtle clinical decompensation. Rising HR (105) with falling MAP (71 calculated) suggests early distributive shock. 'Not quite right' post-op Day 3 is classic for occult intra-abdominal sepsis."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47872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→  Calculates MAP (71), names bile leak risk, identifies Day 3 peak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41064"/>
            <a:ext cx="10698480" cy="1234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941064"/>
            <a:ext cx="109728" cy="12344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867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986784"/>
            <a:ext cx="2560320" cy="22860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Tested  •  15.8s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885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"...widening pulse pressure suggesting early distributive physiology. Lactate at 1.6 is 'normal' but direction unknown. Note-to-data discordance: 'not feeling right' should not be dismissed on Day 3, peak window for anastomotic leak post-cholecystectomy."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→  6 organ stress items, 11 missing flags — but 70% costlier than 4.5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94375"/>
            <a:ext cx="10698480" cy="1234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294375"/>
            <a:ext cx="109728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34009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5340095"/>
            <a:ext cx="2560320" cy="228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534923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Validation Study  •  18.4s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41847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"...velocity of change across multiple organ systems simultaneously — cardiovascular, respiratory, metabolic — strongly suggests early distributive shock in compensatory phase. This patient is likely 4-6 hours from decompensation without intervention."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254495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→  Only model to estimate decompensation timeline — ideal for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371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28600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4754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Deployed to EKS — Apr 8, 2026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Best balance of clinical depth &amp; speed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9.3s response  •  $12.69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Identifies surgical complications (bile leak, anastomotic leak)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Calculates MAP, names post-op Day 3 risk window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85% better reasoning vs Sonnet 4, only 23% more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13716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0" y="1234440"/>
            <a:ext cx="228600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VALIDATION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57400"/>
            <a:ext cx="475488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For retrospective clinical validation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Deepest reasoning — organizes by organ system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18.4s response  •  $31.16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Only model to estimate time-to-decompensation (4-6h)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Rates 6h probability as 'High' vs Sonnets' 'Moderate'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Speed doesn't matter for historical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5303520" cy="9144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37160" cy="9144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NOT 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15.8s — slower than 4.5  •  $17.57/1K — 38% costlier  •  Similar quality to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914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137160" cy="914400"/>
          </a:xfrm>
          <a:prstGeom prst="rect">
            <a:avLst/>
          </a:prstGeom>
          <a:solidFill>
            <a:srgbClr val="D0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5A6A"/>
                </a:solidFill>
                <a:latin typeface="Calibri"/>
              </a:defRPr>
            </a:pPr>
            <a:r>
              <a:t>PREVIOUS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5A6A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Fastest (5s), cheapest ($10.34)  •  Replaced due to shallower clinical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10789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🔄  Easy 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Model change = 1 environment variable update. No code rewrite, no redeployment.</a:t>
            </a:r>
            <a:br/>
            <a:r>
              <a:t>BEDROCK_MODEL_ID=us.anthropic.claude-sonnet-4-5-20250929-v1:0  →  When a better model launches, swap in minutes.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606F-03C9-2FF7-2B82-6AE60BBF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851D38-B25D-93FC-070C-07C4757AC35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457C1-8AE5-7C99-52F1-1FFCFA5DA519}"/>
              </a:ext>
            </a:extLst>
          </p:cNvPr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28ACC-D3C4-265A-8A04-5D3ABB80BB1C}"/>
              </a:ext>
            </a:extLst>
          </p:cNvPr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A6B9EF-1444-4BD5-74CA-14380823D854}"/>
              </a:ext>
            </a:extLst>
          </p:cNvPr>
          <p:cNvSpPr txBox="1"/>
          <p:nvPr/>
        </p:nvSpPr>
        <p:spPr>
          <a:xfrm>
            <a:off x="10515600" y="653796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lang="en-US" dirty="0"/>
              <a:t>6</a:t>
            </a:r>
            <a:r>
              <a:rPr dirty="0"/>
              <a:t> / 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B651AE-A43F-F940-986F-6F7B2F72F7CD}"/>
              </a:ext>
            </a:extLst>
          </p:cNvPr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34CFF6-B214-A56B-902C-3488121A78B9}"/>
              </a:ext>
            </a:extLst>
          </p:cNvPr>
          <p:cNvSpPr txBox="1"/>
          <p:nvPr/>
        </p:nvSpPr>
        <p:spPr>
          <a:xfrm>
            <a:off x="712312" y="229041"/>
            <a:ext cx="10278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0C343D"/>
                </a:solidFill>
                <a:latin typeface="Calibri"/>
              </a:defRPr>
            </a:lvl1pPr>
          </a:lstStyle>
          <a:p>
            <a:r>
              <a:rPr dirty="0"/>
              <a:t>A day in life : How GENAI helps Dr. Priya detect SEPSIS early</a:t>
            </a:r>
          </a:p>
        </p:txBody>
      </p: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2E6D2DBC-5C4D-7CB2-121C-6D7DE4361ED2}"/>
              </a:ext>
            </a:extLst>
          </p:cNvPr>
          <p:cNvGrpSpPr/>
          <p:nvPr/>
        </p:nvGrpSpPr>
        <p:grpSpPr>
          <a:xfrm>
            <a:off x="1374932" y="1415850"/>
            <a:ext cx="9826468" cy="4664910"/>
            <a:chOff x="1510459" y="1712606"/>
            <a:chExt cx="9826468" cy="4664910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0EBF5699-CCC5-E340-FEA7-4A3CCA900685}"/>
                </a:ext>
              </a:extLst>
            </p:cNvPr>
            <p:cNvSpPr/>
            <p:nvPr/>
          </p:nvSpPr>
          <p:spPr>
            <a:xfrm>
              <a:off x="1510459" y="1849766"/>
              <a:ext cx="1276894" cy="2918765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78CE5DD2-F8AF-06C1-8F25-FE8F35DC4A1A}"/>
                </a:ext>
              </a:extLst>
            </p:cNvPr>
            <p:cNvSpPr/>
            <p:nvPr/>
          </p:nvSpPr>
          <p:spPr>
            <a:xfrm>
              <a:off x="1784779" y="1712606"/>
              <a:ext cx="826226" cy="208483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5:55 AM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986B236-0010-65CC-77C1-EBD897E45DB8}"/>
                </a:ext>
              </a:extLst>
            </p:cNvPr>
            <p:cNvSpPr txBox="1"/>
            <p:nvPr/>
          </p:nvSpPr>
          <p:spPr>
            <a:xfrm>
              <a:off x="1601899" y="2947046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THE SYSTEM WAKES UP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FDFFF5-D77D-9105-D6B5-802362F0CA90}"/>
                </a:ext>
              </a:extLst>
            </p:cNvPr>
            <p:cNvSpPr txBox="1"/>
            <p:nvPr/>
          </p:nvSpPr>
          <p:spPr>
            <a:xfrm>
              <a:off x="1601899" y="3587126"/>
              <a:ext cx="1126671" cy="1061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Every 5 Minutes: The Sepsis AI automatically scans the latest vitals, lab results, and nurse notes for all monitored patients.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36BEDE55-6B4B-9B66-66D7-BAC805789541}"/>
                </a:ext>
              </a:extLst>
            </p:cNvPr>
            <p:cNvSpPr/>
            <p:nvPr/>
          </p:nvSpPr>
          <p:spPr>
            <a:xfrm>
              <a:off x="2943389" y="1850744"/>
              <a:ext cx="1276894" cy="2918765"/>
            </a:xfrm>
            <a:prstGeom prst="roundRect">
              <a:avLst/>
            </a:prstGeom>
            <a:solidFill>
              <a:srgbClr val="F0F9FF"/>
            </a:solidFill>
            <a:ln w="19050">
              <a:solidFill>
                <a:srgbClr val="0EA5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D931DFDF-3A46-1862-826C-46385C55D360}"/>
                </a:ext>
              </a:extLst>
            </p:cNvPr>
            <p:cNvSpPr/>
            <p:nvPr/>
          </p:nvSpPr>
          <p:spPr>
            <a:xfrm>
              <a:off x="3217709" y="1713584"/>
              <a:ext cx="826226" cy="208483"/>
            </a:xfrm>
            <a:prstGeom prst="roundRect">
              <a:avLst/>
            </a:prstGeom>
            <a:solidFill>
              <a:srgbClr val="F0F9FF"/>
            </a:solidFill>
            <a:ln>
              <a:solidFill>
                <a:srgbClr val="0EA5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6:01 AM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7EAA6DE-34C6-929D-579B-D5C98D474225}"/>
                </a:ext>
              </a:extLst>
            </p:cNvPr>
            <p:cNvSpPr txBox="1"/>
            <p:nvPr/>
          </p:nvSpPr>
          <p:spPr>
            <a:xfrm>
              <a:off x="3034829" y="2948024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UNCOVERING THE PATTERN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50F8912-0F85-B89A-2D60-7A27246BCE2F}"/>
                </a:ext>
              </a:extLst>
            </p:cNvPr>
            <p:cNvSpPr txBox="1"/>
            <p:nvPr/>
          </p:nvSpPr>
          <p:spPr>
            <a:xfrm>
              <a:off x="3034829" y="3588104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HEART PATTERN </a:t>
              </a:r>
              <a:r>
                <a:rPr lang="en-US" dirty="0"/>
                <a:t>Change</a:t>
              </a:r>
              <a:r>
                <a:rPr dirty="0"/>
                <a:t> (HR 105)</a:t>
              </a:r>
              <a:br>
                <a:rPr dirty="0"/>
              </a:br>
              <a:r>
                <a:rPr dirty="0"/>
                <a:t>BP </a:t>
              </a:r>
              <a:r>
                <a:rPr lang="en-US" dirty="0"/>
                <a:t>Change</a:t>
              </a:r>
              <a:r>
                <a:rPr dirty="0"/>
                <a:t> (BP 98)</a:t>
              </a:r>
              <a:br>
                <a:rPr dirty="0"/>
              </a:br>
              <a:r>
                <a:rPr lang="en-US" dirty="0"/>
                <a:t>Data gets preprocessed</a:t>
              </a:r>
              <a:endParaRPr dirty="0"/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8C89CBA3-23F5-AA47-692C-9D87FB4FFD71}"/>
                </a:ext>
              </a:extLst>
            </p:cNvPr>
            <p:cNvSpPr/>
            <p:nvPr/>
          </p:nvSpPr>
          <p:spPr>
            <a:xfrm>
              <a:off x="4363386" y="1850745"/>
              <a:ext cx="1276894" cy="2918765"/>
            </a:xfrm>
            <a:prstGeom prst="roundRect">
              <a:avLst/>
            </a:prstGeom>
            <a:solidFill>
              <a:srgbClr val="FAF5FF"/>
            </a:solidFill>
            <a:ln w="1905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4" name="Rounded Rectangle 1023">
              <a:extLst>
                <a:ext uri="{FF2B5EF4-FFF2-40B4-BE49-F238E27FC236}">
                  <a16:creationId xmlns:a16="http://schemas.microsoft.com/office/drawing/2014/main" id="{4019992C-5459-5DF6-BC5C-23300AB0BC3C}"/>
                </a:ext>
              </a:extLst>
            </p:cNvPr>
            <p:cNvSpPr/>
            <p:nvPr/>
          </p:nvSpPr>
          <p:spPr>
            <a:xfrm>
              <a:off x="4637706" y="1713585"/>
              <a:ext cx="826226" cy="208483"/>
            </a:xfrm>
            <a:prstGeom prst="roundRect">
              <a:avLst/>
            </a:prstGeom>
            <a:solidFill>
              <a:srgbClr val="FAF5FF"/>
            </a:solidFill>
            <a:ln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6:01 AM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0A66CF14-5901-62A9-8D76-9B60D8B28301}"/>
                </a:ext>
              </a:extLst>
            </p:cNvPr>
            <p:cNvSpPr txBox="1"/>
            <p:nvPr/>
          </p:nvSpPr>
          <p:spPr>
            <a:xfrm>
              <a:off x="4454826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INTELLIGENT ANALYSIS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FC868292-60FE-B0D0-D492-7764573F4904}"/>
                </a:ext>
              </a:extLst>
            </p:cNvPr>
            <p:cNvSpPr txBox="1"/>
            <p:nvPr/>
          </p:nvSpPr>
          <p:spPr>
            <a:xfrm>
              <a:off x="4400136" y="3524306"/>
              <a:ext cx="130136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900">
                  <a:solidFill>
                    <a:srgbClr val="334155"/>
                  </a:solidFill>
                </a:defRPr>
              </a:pPr>
              <a:r>
                <a:rPr dirty="0"/>
                <a:t>GenAI analyzes the situation in 9 seconds. </a:t>
              </a:r>
              <a:endParaRPr lang="en-US" dirty="0"/>
            </a:p>
            <a:p>
              <a:pPr>
                <a:defRPr sz="900">
                  <a:solidFill>
                    <a:srgbClr val="334155"/>
                  </a:solidFill>
                </a:defRPr>
              </a:pPr>
              <a:endParaRPr lang="en-US" dirty="0"/>
            </a:p>
            <a:p>
              <a:pPr>
                <a:defRPr sz="900">
                  <a:solidFill>
                    <a:srgbClr val="334155"/>
                  </a:solidFill>
                </a:defRPr>
              </a:pPr>
              <a:r>
                <a:rPr dirty="0"/>
                <a:t>Finds the concerning truth beyond borderline numbers.</a:t>
              </a:r>
            </a:p>
          </p:txBody>
        </p:sp>
        <p:sp>
          <p:nvSpPr>
            <p:cNvPr id="1028" name="Rounded Rectangle 1027">
              <a:extLst>
                <a:ext uri="{FF2B5EF4-FFF2-40B4-BE49-F238E27FC236}">
                  <a16:creationId xmlns:a16="http://schemas.microsoft.com/office/drawing/2014/main" id="{ADA2BBA4-1816-07BB-F2CF-6EA70389451D}"/>
                </a:ext>
              </a:extLst>
            </p:cNvPr>
            <p:cNvSpPr/>
            <p:nvPr/>
          </p:nvSpPr>
          <p:spPr>
            <a:xfrm>
              <a:off x="5796316" y="1850745"/>
              <a:ext cx="1276894" cy="2918765"/>
            </a:xfrm>
            <a:prstGeom prst="roundRect">
              <a:avLst/>
            </a:prstGeom>
            <a:solidFill>
              <a:srgbClr val="FEF2F2"/>
            </a:solidFill>
            <a:ln w="19050"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9" name="Rounded Rectangle 1028">
              <a:extLst>
                <a:ext uri="{FF2B5EF4-FFF2-40B4-BE49-F238E27FC236}">
                  <a16:creationId xmlns:a16="http://schemas.microsoft.com/office/drawing/2014/main" id="{6B2B60F2-DBCD-09C0-D2A8-A44D95CB4D07}"/>
                </a:ext>
              </a:extLst>
            </p:cNvPr>
            <p:cNvSpPr/>
            <p:nvPr/>
          </p:nvSpPr>
          <p:spPr>
            <a:xfrm>
              <a:off x="6070636" y="1713585"/>
              <a:ext cx="826226" cy="208483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6:02 AM</a:t>
              </a: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88949F6D-9FC8-44DA-66D1-4531DDAE7E7D}"/>
                </a:ext>
              </a:extLst>
            </p:cNvPr>
            <p:cNvSpPr txBox="1"/>
            <p:nvPr/>
          </p:nvSpPr>
          <p:spPr>
            <a:xfrm>
              <a:off x="5887756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HIGH-PRIORITY ALERT</a:t>
              </a: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E459D9C2-C816-5590-EAC1-D5110C6972FC}"/>
                </a:ext>
              </a:extLst>
            </p:cNvPr>
            <p:cNvSpPr txBox="1"/>
            <p:nvPr/>
          </p:nvSpPr>
          <p:spPr>
            <a:xfrm>
              <a:off x="5887756" y="3588105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t>RISK: 72 (HIGH).</a:t>
              </a:r>
              <a:br/>
              <a:r>
                <a:t>MAP 71, bile leak risk</a:t>
              </a:r>
              <a:br/>
              <a:r>
                <a:t>Confidence: Medium</a:t>
              </a:r>
            </a:p>
          </p:txBody>
        </p:sp>
        <p:sp>
          <p:nvSpPr>
            <p:cNvPr id="1032" name="Rounded Rectangle 1031">
              <a:extLst>
                <a:ext uri="{FF2B5EF4-FFF2-40B4-BE49-F238E27FC236}">
                  <a16:creationId xmlns:a16="http://schemas.microsoft.com/office/drawing/2014/main" id="{EA1FDB80-3630-A330-BFDA-2C4C7C663F87}"/>
                </a:ext>
              </a:extLst>
            </p:cNvPr>
            <p:cNvSpPr/>
            <p:nvPr/>
          </p:nvSpPr>
          <p:spPr>
            <a:xfrm>
              <a:off x="7226699" y="1850745"/>
              <a:ext cx="1276894" cy="2918765"/>
            </a:xfrm>
            <a:prstGeom prst="roundRect">
              <a:avLst/>
            </a:prstGeom>
            <a:solidFill>
              <a:srgbClr val="FFFBEB"/>
            </a:solidFill>
            <a:ln w="19050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33" name="Rounded Rectangle 1032">
              <a:extLst>
                <a:ext uri="{FF2B5EF4-FFF2-40B4-BE49-F238E27FC236}">
                  <a16:creationId xmlns:a16="http://schemas.microsoft.com/office/drawing/2014/main" id="{185F8422-3AF4-C60C-210B-EB08AE46799D}"/>
                </a:ext>
              </a:extLst>
            </p:cNvPr>
            <p:cNvSpPr/>
            <p:nvPr/>
          </p:nvSpPr>
          <p:spPr>
            <a:xfrm>
              <a:off x="7501019" y="1713585"/>
              <a:ext cx="826226" cy="208483"/>
            </a:xfrm>
            <a:prstGeom prst="roundRect">
              <a:avLst/>
            </a:prstGeom>
            <a:solidFill>
              <a:srgbClr val="FFFBEB"/>
            </a:solidFill>
            <a:ln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6:05 AM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230DFD82-B924-975C-4725-E2E1160D8EC9}"/>
                </a:ext>
              </a:extLst>
            </p:cNvPr>
            <p:cNvSpPr txBox="1"/>
            <p:nvPr/>
          </p:nvSpPr>
          <p:spPr>
            <a:xfrm>
              <a:off x="7318139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DR. PRIYA REVIEWS</a:t>
              </a:r>
            </a:p>
          </p:txBody>
        </p: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62513D4C-7145-DF57-6E29-19195A80F2B0}"/>
                </a:ext>
              </a:extLst>
            </p:cNvPr>
            <p:cNvSpPr txBox="1"/>
            <p:nvPr/>
          </p:nvSpPr>
          <p:spPr>
            <a:xfrm>
              <a:off x="7216313" y="3597739"/>
              <a:ext cx="112667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lang="en-US" dirty="0"/>
                <a:t>Clinical Rationale provided to doctor along with scores</a:t>
              </a:r>
              <a:endParaRPr dirty="0"/>
            </a:p>
          </p:txBody>
        </p:sp>
        <p:sp>
          <p:nvSpPr>
            <p:cNvPr id="1036" name="Rounded Rectangle 1035">
              <a:extLst>
                <a:ext uri="{FF2B5EF4-FFF2-40B4-BE49-F238E27FC236}">
                  <a16:creationId xmlns:a16="http://schemas.microsoft.com/office/drawing/2014/main" id="{FC8A9E85-B41A-7EF9-C5A2-EFD7FC5D2C19}"/>
                </a:ext>
              </a:extLst>
            </p:cNvPr>
            <p:cNvSpPr/>
            <p:nvPr/>
          </p:nvSpPr>
          <p:spPr>
            <a:xfrm>
              <a:off x="8629650" y="1850745"/>
              <a:ext cx="1276894" cy="2918765"/>
            </a:xfrm>
            <a:prstGeom prst="roundRect">
              <a:avLst/>
            </a:prstGeom>
            <a:solidFill>
              <a:srgbClr val="EFF6FF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7" name="Rounded Rectangle 1036">
              <a:extLst>
                <a:ext uri="{FF2B5EF4-FFF2-40B4-BE49-F238E27FC236}">
                  <a16:creationId xmlns:a16="http://schemas.microsoft.com/office/drawing/2014/main" id="{BEFAE2D4-1100-9FCA-908E-E85EC60618BB}"/>
                </a:ext>
              </a:extLst>
            </p:cNvPr>
            <p:cNvSpPr/>
            <p:nvPr/>
          </p:nvSpPr>
          <p:spPr>
            <a:xfrm>
              <a:off x="8903970" y="1713585"/>
              <a:ext cx="826226" cy="208483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6:15 AM</a:t>
              </a: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1F23981B-D3EF-5B86-6A76-FD4756F43BAD}"/>
                </a:ext>
              </a:extLst>
            </p:cNvPr>
            <p:cNvSpPr txBox="1"/>
            <p:nvPr/>
          </p:nvSpPr>
          <p:spPr>
            <a:xfrm>
              <a:off x="8721090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EARLY INTERVENTION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685BCB2F-97A7-1F70-34D6-1B74B2F5CAFF}"/>
                </a:ext>
              </a:extLst>
            </p:cNvPr>
            <p:cNvSpPr txBox="1"/>
            <p:nvPr/>
          </p:nvSpPr>
          <p:spPr>
            <a:xfrm>
              <a:off x="8721090" y="3588105"/>
              <a:ext cx="112667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t>Orders critical care immediately. Action begins hours BEFORE a typical crash.</a:t>
              </a:r>
            </a:p>
          </p:txBody>
        </p:sp>
        <p:sp>
          <p:nvSpPr>
            <p:cNvPr id="1040" name="Rounded Rectangle 1039">
              <a:extLst>
                <a:ext uri="{FF2B5EF4-FFF2-40B4-BE49-F238E27FC236}">
                  <a16:creationId xmlns:a16="http://schemas.microsoft.com/office/drawing/2014/main" id="{1283BBCC-BAD8-3A1A-B979-C229BF16E84F}"/>
                </a:ext>
              </a:extLst>
            </p:cNvPr>
            <p:cNvSpPr/>
            <p:nvPr/>
          </p:nvSpPr>
          <p:spPr>
            <a:xfrm>
              <a:off x="10060033" y="1850745"/>
              <a:ext cx="1276894" cy="2918765"/>
            </a:xfrm>
            <a:prstGeom prst="roundRect">
              <a:avLst/>
            </a:prstGeom>
            <a:solidFill>
              <a:srgbClr val="F0FDF4"/>
            </a:solidFill>
            <a:ln w="19050"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1" name="Rounded Rectangle 1040">
              <a:extLst>
                <a:ext uri="{FF2B5EF4-FFF2-40B4-BE49-F238E27FC236}">
                  <a16:creationId xmlns:a16="http://schemas.microsoft.com/office/drawing/2014/main" id="{FCFBF34C-3C9C-9442-A601-1B1125289ECF}"/>
                </a:ext>
              </a:extLst>
            </p:cNvPr>
            <p:cNvSpPr/>
            <p:nvPr/>
          </p:nvSpPr>
          <p:spPr>
            <a:xfrm>
              <a:off x="10334353" y="1713585"/>
              <a:ext cx="826226" cy="208483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22C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F172A"/>
                  </a:solidFill>
                </a:defRPr>
              </a:pPr>
              <a:r>
                <a:t>12:00 PM</a:t>
              </a: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A7214C66-D2B6-34FB-EA9A-FD8EB3E92408}"/>
                </a:ext>
              </a:extLst>
            </p:cNvPr>
            <p:cNvSpPr txBox="1"/>
            <p:nvPr/>
          </p:nvSpPr>
          <p:spPr>
            <a:xfrm>
              <a:off x="10151473" y="2948025"/>
              <a:ext cx="11266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PATIENT STABLE</a:t>
              </a:r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1448444A-0A1E-71E8-4344-E1FB70A38292}"/>
                </a:ext>
              </a:extLst>
            </p:cNvPr>
            <p:cNvSpPr txBox="1"/>
            <p:nvPr/>
          </p:nvSpPr>
          <p:spPr>
            <a:xfrm>
              <a:off x="10151473" y="3588105"/>
              <a:ext cx="11266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>
                  <a:solidFill>
                    <a:srgbClr val="334155"/>
                  </a:solidFill>
                </a:defRPr>
              </a:pPr>
              <a:r>
                <a:rPr dirty="0"/>
                <a:t>Blood pressure is healthy (118/75). Early intervention prevented shock.</a:t>
              </a: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BCCAAF5A-F29B-53F9-5FF6-BF3F0EBAF1A9}"/>
                </a:ext>
              </a:extLst>
            </p:cNvPr>
            <p:cNvSpPr txBox="1"/>
            <p:nvPr/>
          </p:nvSpPr>
          <p:spPr>
            <a:xfrm>
              <a:off x="1928077" y="5001846"/>
              <a:ext cx="90133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/>
              </a:pPr>
              <a:r>
                <a:rPr dirty="0"/>
                <a:t>BEHIND THE SCENES END-TO-END DATA FLOW</a:t>
              </a:r>
            </a:p>
          </p:txBody>
        </p:sp>
        <p:sp>
          <p:nvSpPr>
            <p:cNvPr id="1045" name="Rounded Rectangle 1044">
              <a:extLst>
                <a:ext uri="{FF2B5EF4-FFF2-40B4-BE49-F238E27FC236}">
                  <a16:creationId xmlns:a16="http://schemas.microsoft.com/office/drawing/2014/main" id="{D8A32A37-2F0D-F767-25E8-3A72071D226F}"/>
                </a:ext>
              </a:extLst>
            </p:cNvPr>
            <p:cNvSpPr/>
            <p:nvPr/>
          </p:nvSpPr>
          <p:spPr>
            <a:xfrm>
              <a:off x="1773349" y="5384690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1. Bedside Monitors</a:t>
              </a:r>
            </a:p>
          </p:txBody>
        </p:sp>
        <p:sp>
          <p:nvSpPr>
            <p:cNvPr id="1046" name="Rounded Rectangle 1045">
              <a:extLst>
                <a:ext uri="{FF2B5EF4-FFF2-40B4-BE49-F238E27FC236}">
                  <a16:creationId xmlns:a16="http://schemas.microsoft.com/office/drawing/2014/main" id="{8CC4D9E3-BCEB-76A5-A9D2-08413DC7DFE0}"/>
                </a:ext>
              </a:extLst>
            </p:cNvPr>
            <p:cNvSpPr/>
            <p:nvPr/>
          </p:nvSpPr>
          <p:spPr>
            <a:xfrm>
              <a:off x="2960436" y="5393834"/>
              <a:ext cx="1010347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2. Hospital EHR</a:t>
              </a:r>
            </a:p>
          </p:txBody>
        </p:sp>
        <p:sp>
          <p:nvSpPr>
            <p:cNvPr id="1047" name="Rounded Rectangle 1046">
              <a:extLst>
                <a:ext uri="{FF2B5EF4-FFF2-40B4-BE49-F238E27FC236}">
                  <a16:creationId xmlns:a16="http://schemas.microsoft.com/office/drawing/2014/main" id="{C77222F5-E0D7-6329-FA6E-E0907DFCC41B}"/>
                </a:ext>
              </a:extLst>
            </p:cNvPr>
            <p:cNvSpPr/>
            <p:nvPr/>
          </p:nvSpPr>
          <p:spPr>
            <a:xfrm>
              <a:off x="4117250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3. Red Rover API</a:t>
              </a:r>
            </a:p>
          </p:txBody>
        </p:sp>
        <p:sp>
          <p:nvSpPr>
            <p:cNvPr id="1048" name="Rounded Rectangle 1047">
              <a:extLst>
                <a:ext uri="{FF2B5EF4-FFF2-40B4-BE49-F238E27FC236}">
                  <a16:creationId xmlns:a16="http://schemas.microsoft.com/office/drawing/2014/main" id="{0FA26A90-CCD2-3106-B2E8-DDBC76025218}"/>
                </a:ext>
              </a:extLst>
            </p:cNvPr>
            <p:cNvSpPr/>
            <p:nvPr/>
          </p:nvSpPr>
          <p:spPr>
            <a:xfrm>
              <a:off x="5315277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4. </a:t>
              </a:r>
              <a:r>
                <a:rPr lang="en-US" dirty="0"/>
                <a:t>Medbeacon </a:t>
              </a:r>
              <a:r>
                <a:rPr dirty="0"/>
                <a:t>Backend </a:t>
              </a:r>
              <a:r>
                <a:rPr lang="en-US" dirty="0"/>
                <a:t>system</a:t>
              </a:r>
              <a:endParaRPr dirty="0"/>
            </a:p>
          </p:txBody>
        </p:sp>
        <p:sp>
          <p:nvSpPr>
            <p:cNvPr id="1049" name="Rounded Rectangle 1048">
              <a:extLst>
                <a:ext uri="{FF2B5EF4-FFF2-40B4-BE49-F238E27FC236}">
                  <a16:creationId xmlns:a16="http://schemas.microsoft.com/office/drawing/2014/main" id="{33732A2F-2B59-759B-3788-7E5421F38587}"/>
                </a:ext>
              </a:extLst>
            </p:cNvPr>
            <p:cNvSpPr/>
            <p:nvPr/>
          </p:nvSpPr>
          <p:spPr>
            <a:xfrm>
              <a:off x="6502364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5. </a:t>
              </a:r>
              <a:r>
                <a:rPr lang="en-US" dirty="0"/>
                <a:t>Data </a:t>
              </a:r>
              <a:r>
                <a:rPr dirty="0"/>
                <a:t>Preprocessor</a:t>
              </a:r>
            </a:p>
          </p:txBody>
        </p:sp>
        <p:sp>
          <p:nvSpPr>
            <p:cNvPr id="1050" name="Rounded Rectangle 1049">
              <a:extLst>
                <a:ext uri="{FF2B5EF4-FFF2-40B4-BE49-F238E27FC236}">
                  <a16:creationId xmlns:a16="http://schemas.microsoft.com/office/drawing/2014/main" id="{67EF525C-DC37-1E4E-47A3-CA274BF72AA4}"/>
                </a:ext>
              </a:extLst>
            </p:cNvPr>
            <p:cNvSpPr/>
            <p:nvPr/>
          </p:nvSpPr>
          <p:spPr>
            <a:xfrm>
              <a:off x="7689451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6. </a:t>
              </a:r>
              <a:r>
                <a:rPr lang="en-US" dirty="0"/>
                <a:t>AI  Engine</a:t>
              </a:r>
              <a:endParaRPr dirty="0"/>
            </a:p>
          </p:txBody>
        </p:sp>
        <p:sp>
          <p:nvSpPr>
            <p:cNvPr id="1051" name="Rounded Rectangle 1050">
              <a:extLst>
                <a:ext uri="{FF2B5EF4-FFF2-40B4-BE49-F238E27FC236}">
                  <a16:creationId xmlns:a16="http://schemas.microsoft.com/office/drawing/2014/main" id="{33620372-9927-B877-4E66-613103FEF610}"/>
                </a:ext>
              </a:extLst>
            </p:cNvPr>
            <p:cNvSpPr/>
            <p:nvPr/>
          </p:nvSpPr>
          <p:spPr>
            <a:xfrm>
              <a:off x="8865598" y="5393834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rPr dirty="0"/>
                <a:t>7. Guardrails</a:t>
              </a:r>
            </a:p>
          </p:txBody>
        </p:sp>
        <p:sp>
          <p:nvSpPr>
            <p:cNvPr id="1052" name="Rounded Rectangle 1051">
              <a:extLst>
                <a:ext uri="{FF2B5EF4-FFF2-40B4-BE49-F238E27FC236}">
                  <a16:creationId xmlns:a16="http://schemas.microsoft.com/office/drawing/2014/main" id="{645F01DF-5CF8-8727-3853-4209474F9209}"/>
                </a:ext>
              </a:extLst>
            </p:cNvPr>
            <p:cNvSpPr/>
            <p:nvPr/>
          </p:nvSpPr>
          <p:spPr>
            <a:xfrm>
              <a:off x="10063625" y="5384690"/>
              <a:ext cx="1051560" cy="347472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800">
                  <a:solidFill>
                    <a:srgbClr val="0F172A"/>
                  </a:solidFill>
                </a:defRPr>
              </a:pPr>
              <a:r>
                <a:t>8. Dashboard Alert</a:t>
              </a:r>
            </a:p>
          </p:txBody>
        </p:sp>
        <p:sp>
          <p:nvSpPr>
            <p:cNvPr id="1053" name="Rounded Rectangle 1052">
              <a:extLst>
                <a:ext uri="{FF2B5EF4-FFF2-40B4-BE49-F238E27FC236}">
                  <a16:creationId xmlns:a16="http://schemas.microsoft.com/office/drawing/2014/main" id="{162B1E71-65F2-E7B6-2229-D7A34EE7C7E2}"/>
                </a:ext>
              </a:extLst>
            </p:cNvPr>
            <p:cNvSpPr/>
            <p:nvPr/>
          </p:nvSpPr>
          <p:spPr>
            <a:xfrm>
              <a:off x="4443003" y="6103196"/>
              <a:ext cx="3657600" cy="274320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FFFF"/>
                  </a:solidFill>
                </a:defRPr>
              </a:pPr>
              <a:r>
                <a:rPr dirty="0"/>
                <a:t>TOTAL: ~10 SECONDS FROM DATA TO ALERT</a:t>
              </a:r>
              <a:r>
                <a:rPr lang="en-US" dirty="0"/>
                <a:t>     </a:t>
              </a:r>
              <a:endParaRPr dirty="0"/>
            </a:p>
          </p:txBody>
        </p:sp>
        <p:sp>
          <p:nvSpPr>
            <p:cNvPr id="1058" name="Right Arrow 1057">
              <a:extLst>
                <a:ext uri="{FF2B5EF4-FFF2-40B4-BE49-F238E27FC236}">
                  <a16:creationId xmlns:a16="http://schemas.microsoft.com/office/drawing/2014/main" id="{03007162-DAEE-EBDC-43A7-60E03CA411D5}"/>
                </a:ext>
              </a:extLst>
            </p:cNvPr>
            <p:cNvSpPr/>
            <p:nvPr/>
          </p:nvSpPr>
          <p:spPr>
            <a:xfrm>
              <a:off x="2612162" y="1738687"/>
              <a:ext cx="574196" cy="10657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Right Arrow 1058">
              <a:extLst>
                <a:ext uri="{FF2B5EF4-FFF2-40B4-BE49-F238E27FC236}">
                  <a16:creationId xmlns:a16="http://schemas.microsoft.com/office/drawing/2014/main" id="{A16417C5-E84B-2CC6-F7AB-26EC98EA0AE5}"/>
                </a:ext>
              </a:extLst>
            </p:cNvPr>
            <p:cNvSpPr/>
            <p:nvPr/>
          </p:nvSpPr>
          <p:spPr>
            <a:xfrm>
              <a:off x="4049963" y="1763562"/>
              <a:ext cx="574196" cy="10657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Right Arrow 1059">
              <a:extLst>
                <a:ext uri="{FF2B5EF4-FFF2-40B4-BE49-F238E27FC236}">
                  <a16:creationId xmlns:a16="http://schemas.microsoft.com/office/drawing/2014/main" id="{80EC5078-ED2C-7B44-C25E-4F613A6C1153}"/>
                </a:ext>
              </a:extLst>
            </p:cNvPr>
            <p:cNvSpPr/>
            <p:nvPr/>
          </p:nvSpPr>
          <p:spPr>
            <a:xfrm>
              <a:off x="5479405" y="1749584"/>
              <a:ext cx="574196" cy="106570"/>
            </a:xfrm>
            <a:prstGeom prst="rightArrow">
              <a:avLst/>
            </a:prstGeom>
            <a:solidFill>
              <a:srgbClr val="7030A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Right Arrow 1060">
              <a:extLst>
                <a:ext uri="{FF2B5EF4-FFF2-40B4-BE49-F238E27FC236}">
                  <a16:creationId xmlns:a16="http://schemas.microsoft.com/office/drawing/2014/main" id="{2ADB98D3-F0BC-6E43-402B-1E0524BA36F5}"/>
                </a:ext>
              </a:extLst>
            </p:cNvPr>
            <p:cNvSpPr/>
            <p:nvPr/>
          </p:nvSpPr>
          <p:spPr>
            <a:xfrm>
              <a:off x="6899391" y="1761821"/>
              <a:ext cx="574196" cy="10657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Right Arrow 1061">
              <a:extLst>
                <a:ext uri="{FF2B5EF4-FFF2-40B4-BE49-F238E27FC236}">
                  <a16:creationId xmlns:a16="http://schemas.microsoft.com/office/drawing/2014/main" id="{3463A0C1-3E34-519C-5744-5C9513EAB468}"/>
                </a:ext>
              </a:extLst>
            </p:cNvPr>
            <p:cNvSpPr/>
            <p:nvPr/>
          </p:nvSpPr>
          <p:spPr>
            <a:xfrm>
              <a:off x="8329774" y="1761821"/>
              <a:ext cx="574196" cy="10657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ight Arrow 1062">
              <a:extLst>
                <a:ext uri="{FF2B5EF4-FFF2-40B4-BE49-F238E27FC236}">
                  <a16:creationId xmlns:a16="http://schemas.microsoft.com/office/drawing/2014/main" id="{250890FC-374E-8855-7407-0CD43E888794}"/>
                </a:ext>
              </a:extLst>
            </p:cNvPr>
            <p:cNvSpPr/>
            <p:nvPr/>
          </p:nvSpPr>
          <p:spPr>
            <a:xfrm>
              <a:off x="9730196" y="1781570"/>
              <a:ext cx="574196" cy="106570"/>
            </a:xfrm>
            <a:prstGeom prst="rightArrow">
              <a:avLst/>
            </a:prstGeom>
            <a:solidFill>
              <a:srgbClr val="006EDD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Right Arrow 1069">
              <a:extLst>
                <a:ext uri="{FF2B5EF4-FFF2-40B4-BE49-F238E27FC236}">
                  <a16:creationId xmlns:a16="http://schemas.microsoft.com/office/drawing/2014/main" id="{027A73C7-FBEB-4456-59AE-2DB3818798AE}"/>
                </a:ext>
              </a:extLst>
            </p:cNvPr>
            <p:cNvSpPr/>
            <p:nvPr/>
          </p:nvSpPr>
          <p:spPr>
            <a:xfrm>
              <a:off x="2812010" y="5494006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Right Arrow 1070">
              <a:extLst>
                <a:ext uri="{FF2B5EF4-FFF2-40B4-BE49-F238E27FC236}">
                  <a16:creationId xmlns:a16="http://schemas.microsoft.com/office/drawing/2014/main" id="{C0B2317A-1261-2FEF-DF7C-1EFFF63AD518}"/>
                </a:ext>
              </a:extLst>
            </p:cNvPr>
            <p:cNvSpPr/>
            <p:nvPr/>
          </p:nvSpPr>
          <p:spPr>
            <a:xfrm>
              <a:off x="3984506" y="5501107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Right Arrow 1071">
              <a:extLst>
                <a:ext uri="{FF2B5EF4-FFF2-40B4-BE49-F238E27FC236}">
                  <a16:creationId xmlns:a16="http://schemas.microsoft.com/office/drawing/2014/main" id="{B2440AE4-6B1E-0ED2-9425-F58D091F6D63}"/>
                </a:ext>
              </a:extLst>
            </p:cNvPr>
            <p:cNvSpPr/>
            <p:nvPr/>
          </p:nvSpPr>
          <p:spPr>
            <a:xfrm>
              <a:off x="5176701" y="5500460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Right Arrow 1072">
              <a:extLst>
                <a:ext uri="{FF2B5EF4-FFF2-40B4-BE49-F238E27FC236}">
                  <a16:creationId xmlns:a16="http://schemas.microsoft.com/office/drawing/2014/main" id="{A79EA9F9-8827-61B5-5424-9657D18BC319}"/>
                </a:ext>
              </a:extLst>
            </p:cNvPr>
            <p:cNvSpPr/>
            <p:nvPr/>
          </p:nvSpPr>
          <p:spPr>
            <a:xfrm>
              <a:off x="6374171" y="5494006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Right Arrow 1073">
              <a:extLst>
                <a:ext uri="{FF2B5EF4-FFF2-40B4-BE49-F238E27FC236}">
                  <a16:creationId xmlns:a16="http://schemas.microsoft.com/office/drawing/2014/main" id="{AD18E418-6F92-12CF-875F-4E8094DFAE71}"/>
                </a:ext>
              </a:extLst>
            </p:cNvPr>
            <p:cNvSpPr/>
            <p:nvPr/>
          </p:nvSpPr>
          <p:spPr>
            <a:xfrm>
              <a:off x="7545207" y="5512091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Right Arrow 1074">
              <a:extLst>
                <a:ext uri="{FF2B5EF4-FFF2-40B4-BE49-F238E27FC236}">
                  <a16:creationId xmlns:a16="http://schemas.microsoft.com/office/drawing/2014/main" id="{9BD5FE3F-89B5-FF55-40E8-1A0FAE0ABBF5}"/>
                </a:ext>
              </a:extLst>
            </p:cNvPr>
            <p:cNvSpPr/>
            <p:nvPr/>
          </p:nvSpPr>
          <p:spPr>
            <a:xfrm>
              <a:off x="8725394" y="5500459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Right Arrow 1075">
              <a:extLst>
                <a:ext uri="{FF2B5EF4-FFF2-40B4-BE49-F238E27FC236}">
                  <a16:creationId xmlns:a16="http://schemas.microsoft.com/office/drawing/2014/main" id="{8BAC8B13-7844-A337-5AB5-1BDAEE8B8921}"/>
                </a:ext>
              </a:extLst>
            </p:cNvPr>
            <p:cNvSpPr/>
            <p:nvPr/>
          </p:nvSpPr>
          <p:spPr>
            <a:xfrm>
              <a:off x="9919771" y="5486832"/>
              <a:ext cx="137486" cy="17074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8" name="Elbow Connector 1077">
              <a:extLst>
                <a:ext uri="{FF2B5EF4-FFF2-40B4-BE49-F238E27FC236}">
                  <a16:creationId xmlns:a16="http://schemas.microsoft.com/office/drawing/2014/main" id="{67FB1F26-BFA5-CC36-1B97-7C6495022DFB}"/>
                </a:ext>
              </a:extLst>
            </p:cNvPr>
            <p:cNvCxnSpPr>
              <a:stCxn id="1045" idx="1"/>
              <a:endCxn id="1053" idx="1"/>
            </p:cNvCxnSpPr>
            <p:nvPr/>
          </p:nvCxnSpPr>
          <p:spPr>
            <a:xfrm rot="10800000" flipH="1" flipV="1">
              <a:off x="1773349" y="5558426"/>
              <a:ext cx="2669654" cy="681930"/>
            </a:xfrm>
            <a:prstGeom prst="bentConnector3">
              <a:avLst>
                <a:gd name="adj1" fmla="val -856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Elbow Connector 1079">
              <a:extLst>
                <a:ext uri="{FF2B5EF4-FFF2-40B4-BE49-F238E27FC236}">
                  <a16:creationId xmlns:a16="http://schemas.microsoft.com/office/drawing/2014/main" id="{070A4BDE-78EA-A77D-E9BF-02DD6ECB56AD}"/>
                </a:ext>
              </a:extLst>
            </p:cNvPr>
            <p:cNvCxnSpPr>
              <a:cxnSpLocks/>
              <a:stCxn id="1052" idx="3"/>
              <a:endCxn id="1053" idx="3"/>
            </p:cNvCxnSpPr>
            <p:nvPr/>
          </p:nvCxnSpPr>
          <p:spPr>
            <a:xfrm flipH="1">
              <a:off x="8100603" y="5558426"/>
              <a:ext cx="3014582" cy="681930"/>
            </a:xfrm>
            <a:prstGeom prst="bentConnector3">
              <a:avLst>
                <a:gd name="adj1" fmla="val -758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89" name="Picture 1088">
              <a:extLst>
                <a:ext uri="{FF2B5EF4-FFF2-40B4-BE49-F238E27FC236}">
                  <a16:creationId xmlns:a16="http://schemas.microsoft.com/office/drawing/2014/main" id="{0D5C9D8C-4FC3-019C-E4F4-360822DB9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3701" b="44789"/>
            <a:stretch/>
          </p:blipFill>
          <p:spPr>
            <a:xfrm>
              <a:off x="7134849" y="1939313"/>
              <a:ext cx="765269" cy="750468"/>
            </a:xfrm>
            <a:prstGeom prst="rect">
              <a:avLst/>
            </a:prstGeom>
          </p:spPr>
        </p:pic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F670F691-35D7-7E84-8DDE-2A778FE59447}"/>
                </a:ext>
              </a:extLst>
            </p:cNvPr>
            <p:cNvSpPr txBox="1"/>
            <p:nvPr/>
          </p:nvSpPr>
          <p:spPr>
            <a:xfrm>
              <a:off x="7196038" y="4389034"/>
              <a:ext cx="12355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700" dirty="0"/>
                <a:t>Feedback loop ensures continuous improvement</a:t>
              </a:r>
              <a:endParaRPr lang="en-US" sz="700" dirty="0"/>
            </a:p>
          </p:txBody>
        </p:sp>
        <p:pic>
          <p:nvPicPr>
            <p:cNvPr id="2050" name="Picture 2" descr="37,104 Accept Reject Royalty-Free Images, Stock Photos ...">
              <a:extLst>
                <a:ext uri="{FF2B5EF4-FFF2-40B4-BE49-F238E27FC236}">
                  <a16:creationId xmlns:a16="http://schemas.microsoft.com/office/drawing/2014/main" id="{24BE005D-AECD-8E89-D6DD-5F881E90B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500" y1="15175" x2="23167" y2="2762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0978" y="3967295"/>
              <a:ext cx="1593430" cy="68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93" name="Curved Connector 1092">
              <a:extLst>
                <a:ext uri="{FF2B5EF4-FFF2-40B4-BE49-F238E27FC236}">
                  <a16:creationId xmlns:a16="http://schemas.microsoft.com/office/drawing/2014/main" id="{7A76B02A-C829-9D35-7B92-C791880EB46C}"/>
                </a:ext>
              </a:extLst>
            </p:cNvPr>
            <p:cNvCxnSpPr>
              <a:cxnSpLocks/>
              <a:endCxn id="1036" idx="1"/>
            </p:cNvCxnSpPr>
            <p:nvPr/>
          </p:nvCxnSpPr>
          <p:spPr>
            <a:xfrm flipV="1">
              <a:off x="7682693" y="3310128"/>
              <a:ext cx="946957" cy="893135"/>
            </a:xfrm>
            <a:prstGeom prst="curvedConnector3">
              <a:avLst>
                <a:gd name="adj1" fmla="val 76072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Curved Connector 1097">
              <a:extLst>
                <a:ext uri="{FF2B5EF4-FFF2-40B4-BE49-F238E27FC236}">
                  <a16:creationId xmlns:a16="http://schemas.microsoft.com/office/drawing/2014/main" id="{D426B1A4-A76F-1A9B-B294-EBEB15B2A7EE}"/>
                </a:ext>
              </a:extLst>
            </p:cNvPr>
            <p:cNvCxnSpPr>
              <a:cxnSpLocks/>
              <a:endCxn id="1050" idx="0"/>
            </p:cNvCxnSpPr>
            <p:nvPr/>
          </p:nvCxnSpPr>
          <p:spPr>
            <a:xfrm rot="16200000" flipH="1">
              <a:off x="7639820" y="4818423"/>
              <a:ext cx="1146740" cy="4082"/>
            </a:xfrm>
            <a:prstGeom prst="curved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Curved Connector 1102">
              <a:extLst>
                <a:ext uri="{FF2B5EF4-FFF2-40B4-BE49-F238E27FC236}">
                  <a16:creationId xmlns:a16="http://schemas.microsoft.com/office/drawing/2014/main" id="{5308D689-E009-C6C9-E61C-A4F68AC8721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153267" y="4331000"/>
              <a:ext cx="1121646" cy="1005881"/>
            </a:xfrm>
            <a:prstGeom prst="curvedConnector3">
              <a:avLst>
                <a:gd name="adj1" fmla="val 57337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08" name="Picture 1107">
              <a:extLst>
                <a:ext uri="{FF2B5EF4-FFF2-40B4-BE49-F238E27FC236}">
                  <a16:creationId xmlns:a16="http://schemas.microsoft.com/office/drawing/2014/main" id="{4B3133CC-EED8-1D44-1CB7-65070137B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0349" y="1718795"/>
              <a:ext cx="1299574" cy="1299574"/>
            </a:xfrm>
            <a:prstGeom prst="rect">
              <a:avLst/>
            </a:prstGeom>
          </p:spPr>
        </p:pic>
        <p:pic>
          <p:nvPicPr>
            <p:cNvPr id="2052" name="Picture 4" descr="Data Analysis icon concept in blue bold line color 66159912 Vector Art at  Vecteezy">
              <a:extLst>
                <a:ext uri="{FF2B5EF4-FFF2-40B4-BE49-F238E27FC236}">
                  <a16:creationId xmlns:a16="http://schemas.microsoft.com/office/drawing/2014/main" id="{ED2D17C1-13D9-4165-4750-00945535F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DFFFB"/>
                </a:clrFrom>
                <a:clrTo>
                  <a:srgbClr val="FDFFFB">
                    <a:alpha val="0"/>
                  </a:srgbClr>
                </a:clrTo>
              </a:clrChange>
              <a:duotone>
                <a:prstClr val="black"/>
                <a:srgbClr val="4F81BD">
                  <a:lumMod val="20000"/>
                  <a:lumOff val="80000"/>
                  <a:tint val="45000"/>
                  <a:satMod val="400000"/>
                </a:srgbClr>
              </a:duotone>
              <a:alphaModFix amt="87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837" b="96633" l="2449" r="96429">
                          <a14:foregroundMark x1="19592" y1="52245" x2="19592" y2="52245"/>
                          <a14:foregroundMark x1="22041" y1="48571" x2="22041" y2="48571"/>
                          <a14:foregroundMark x1="21633" y1="46939" x2="32041" y2="66122"/>
                          <a14:foregroundMark x1="32041" y1="66122" x2="22143" y2="46429"/>
                          <a14:foregroundMark x1="22143" y1="46429" x2="23265" y2="47347"/>
                          <a14:foregroundMark x1="25714" y1="23367" x2="2551" y2="34388"/>
                          <a14:foregroundMark x1="2551" y1="34388" x2="28469" y2="47959"/>
                          <a14:foregroundMark x1="28469" y1="47959" x2="39286" y2="27041"/>
                          <a14:foregroundMark x1="39286" y1="27041" x2="24490" y2="12347"/>
                          <a14:foregroundMark x1="24082" y1="41633" x2="15204" y2="61735"/>
                          <a14:foregroundMark x1="15204" y1="61735" x2="58980" y2="54898"/>
                          <a14:foregroundMark x1="58980" y1="54898" x2="75306" y2="70918"/>
                          <a14:foregroundMark x1="75306" y1="70918" x2="91122" y2="52449"/>
                          <a14:foregroundMark x1="91122" y1="52449" x2="94490" y2="30306"/>
                          <a14:foregroundMark x1="94490" y1="30306" x2="89082" y2="8878"/>
                          <a14:foregroundMark x1="89082" y1="8878" x2="66122" y2="510"/>
                          <a14:foregroundMark x1="66122" y1="510" x2="42653" y2="3776"/>
                          <a14:foregroundMark x1="42653" y1="3776" x2="25714" y2="17245"/>
                          <a14:foregroundMark x1="25714" y1="17245" x2="14388" y2="35612"/>
                          <a14:foregroundMark x1="14388" y1="35612" x2="18776" y2="46939"/>
                          <a14:foregroundMark x1="31429" y1="37959" x2="13776" y2="24796"/>
                          <a14:foregroundMark x1="13776" y1="24796" x2="25102" y2="42857"/>
                          <a14:foregroundMark x1="25102" y1="42857" x2="27347" y2="37959"/>
                          <a14:foregroundMark x1="44388" y1="22959" x2="43571" y2="21735"/>
                          <a14:foregroundMark x1="53367" y1="11122" x2="47245" y2="11531"/>
                          <a14:foregroundMark x1="58265" y1="38367" x2="57449" y2="37551"/>
                          <a14:foregroundMark x1="61531" y1="22959" x2="62347" y2="21735"/>
                          <a14:foregroundMark x1="37449" y1="31939" x2="31837" y2="57143"/>
                          <a14:foregroundMark x1="31837" y1="57143" x2="43571" y2="37959"/>
                          <a14:foregroundMark x1="43571" y1="37959" x2="41122" y2="30714"/>
                          <a14:foregroundMark x1="56633" y1="39592" x2="66429" y2="58469"/>
                          <a14:foregroundMark x1="66429" y1="58469" x2="55408" y2="40816"/>
                          <a14:foregroundMark x1="60306" y1="24592" x2="56735" y2="45816"/>
                          <a14:foregroundMark x1="56735" y1="45816" x2="64592" y2="25714"/>
                          <a14:foregroundMark x1="64592" y1="25714" x2="60714" y2="23776"/>
                          <a14:foregroundMark x1="65612" y1="23367" x2="69082" y2="52551"/>
                          <a14:foregroundMark x1="69082" y1="52551" x2="78776" y2="71837"/>
                          <a14:foregroundMark x1="78776" y1="71837" x2="89592" y2="52041"/>
                          <a14:foregroundMark x1="89592" y1="52041" x2="92347" y2="28776"/>
                          <a14:foregroundMark x1="92347" y1="28776" x2="71327" y2="23265"/>
                          <a14:foregroundMark x1="71327" y1="23265" x2="64796" y2="27449"/>
                          <a14:foregroundMark x1="77755" y1="25408" x2="70102" y2="4592"/>
                          <a14:foregroundMark x1="70102" y1="4592" x2="78571" y2="22959"/>
                          <a14:foregroundMark x1="83061" y1="22143" x2="76429" y2="1837"/>
                          <a14:foregroundMark x1="76429" y1="1837" x2="81837" y2="21327"/>
                          <a14:foregroundMark x1="50918" y1="80306" x2="63980" y2="62857"/>
                          <a14:foregroundMark x1="63980" y1="62857" x2="42755" y2="65204"/>
                          <a14:foregroundMark x1="42755" y1="65204" x2="57041" y2="79898"/>
                          <a14:foregroundMark x1="81020" y1="96224" x2="84184" y2="67755"/>
                          <a14:foregroundMark x1="84184" y1="67755" x2="67755" y2="54184"/>
                          <a14:foregroundMark x1="67755" y1="54184" x2="45306" y2="60102"/>
                          <a14:foregroundMark x1="45306" y1="60102" x2="47143" y2="82653"/>
                          <a14:foregroundMark x1="47143" y1="82653" x2="66020" y2="93776"/>
                          <a14:foregroundMark x1="66020" y1="93776" x2="79796" y2="96633"/>
                          <a14:foregroundMark x1="88776" y1="28673" x2="67041" y2="27143"/>
                          <a14:foregroundMark x1="67041" y1="27143" x2="58265" y2="50612"/>
                          <a14:foregroundMark x1="58265" y1="50612" x2="72857" y2="69490"/>
                          <a14:foregroundMark x1="72857" y1="69490" x2="93673" y2="58571"/>
                          <a14:foregroundMark x1="93673" y1="58571" x2="96429" y2="36939"/>
                          <a14:foregroundMark x1="96429" y1="36939" x2="85918" y2="27449"/>
                          <a14:foregroundMark x1="70918" y1="28265" x2="66020" y2="72041"/>
                          <a14:foregroundMark x1="66020" y1="72041" x2="85000" y2="58980"/>
                          <a14:foregroundMark x1="85000" y1="58980" x2="89490" y2="36531"/>
                          <a14:foregroundMark x1="89490" y1="36531" x2="69490" y2="29082"/>
                          <a14:foregroundMark x1="69490" y1="29082" x2="69286" y2="29082"/>
                          <a14:foregroundMark x1="35102" y1="15612" x2="16735" y2="27959"/>
                          <a14:foregroundMark x1="16735" y1="27959" x2="38061" y2="43061"/>
                          <a14:foregroundMark x1="38061" y1="43061" x2="65612" y2="42857"/>
                          <a14:foregroundMark x1="65612" y1="42857" x2="75408" y2="23980"/>
                          <a14:foregroundMark x1="75408" y1="23980" x2="56327" y2="9184"/>
                          <a14:foregroundMark x1="56327" y1="9184" x2="34286" y2="6633"/>
                          <a14:foregroundMark x1="34286" y1="6633" x2="27755" y2="17245"/>
                          <a14:foregroundMark x1="57449" y1="37143" x2="70510" y2="16020"/>
                          <a14:foregroundMark x1="70510" y1="16020" x2="52449" y2="2245"/>
                          <a14:foregroundMark x1="52449" y1="2245" x2="31531" y2="7959"/>
                          <a14:foregroundMark x1="31531" y1="7959" x2="38878" y2="32245"/>
                          <a14:foregroundMark x1="38878" y1="32245" x2="58367" y2="46020"/>
                          <a14:foregroundMark x1="58367" y1="46020" x2="67653" y2="32755"/>
                          <a14:foregroundMark x1="38265" y1="33163" x2="34286" y2="56224"/>
                          <a14:foregroundMark x1="34286" y1="56224" x2="52551" y2="38980"/>
                          <a14:foregroundMark x1="52551" y1="38980" x2="34694" y2="33163"/>
                          <a14:foregroundMark x1="35918" y1="55510" x2="7245" y2="56735"/>
                          <a14:foregroundMark x1="7245" y1="56735" x2="15816" y2="78163"/>
                          <a14:foregroundMark x1="15816" y1="78163" x2="42143" y2="77143"/>
                          <a14:foregroundMark x1="42143" y1="77143" x2="35612" y2="56939"/>
                          <a14:foregroundMark x1="35612" y1="56939" x2="34286" y2="55918"/>
                          <a14:foregroundMark x1="74490" y1="78673" x2="65306" y2="56020"/>
                          <a14:foregroundMark x1="65306" y1="56020" x2="42143" y2="55306"/>
                          <a14:foregroundMark x1="42143" y1="55306" x2="47551" y2="81429"/>
                          <a14:foregroundMark x1="47551" y1="81429" x2="70510" y2="83265"/>
                          <a14:foregroundMark x1="70510" y1="83265" x2="77755" y2="71837"/>
                          <a14:foregroundMark x1="58673" y1="63265" x2="57041" y2="63265"/>
                          <a14:foregroundMark x1="55816" y1="58776" x2="52959" y2="57551"/>
                          <a14:foregroundMark x1="84286" y1="22959" x2="87551" y2="20102"/>
                          <a14:foregroundMark x1="88367" y1="19286" x2="88367" y2="15204"/>
                          <a14:foregroundMark x1="87959" y1="9898" x2="85510" y2="9490"/>
                          <a14:foregroundMark x1="52551" y1="10306" x2="51327" y2="8265"/>
                          <a14:foregroundMark x1="46837" y1="12755" x2="46837" y2="12755"/>
                          <a14:foregroundMark x1="44388" y1="18061" x2="44388" y2="18061"/>
                          <a14:foregroundMark x1="43980" y1="4592" x2="43163" y2="23367"/>
                          <a14:foregroundMark x1="53776" y1="13571" x2="50102" y2="25000"/>
                          <a14:foregroundMark x1="30612" y1="18878" x2="40306" y2="26633"/>
                          <a14:foregroundMark x1="53776" y1="20918" x2="41939" y2="26633"/>
                          <a14:foregroundMark x1="82245" y1="29490" x2="77347" y2="44898"/>
                          <a14:foregroundMark x1="39898" y1="21735" x2="54592" y2="36735"/>
                          <a14:foregroundMark x1="35102" y1="8673" x2="41939" y2="15204"/>
                        </a14:backgroundRemoval>
                      </a14:imgEffect>
                      <a14:imgEffect>
                        <a14:colorTemperature colorTemp="4700"/>
                      </a14:imgEffect>
                      <a14:imgEffect>
                        <a14:saturation sat="1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798" y="2077593"/>
              <a:ext cx="866144" cy="866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Brain - Free technology icons">
              <a:extLst>
                <a:ext uri="{FF2B5EF4-FFF2-40B4-BE49-F238E27FC236}">
                  <a16:creationId xmlns:a16="http://schemas.microsoft.com/office/drawing/2014/main" id="{B9E62ECC-3CA6-80CC-F64B-155F0D7273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1294" y="2009251"/>
              <a:ext cx="928111" cy="928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World Organ Donation Day. heart transplantation symbol cartoon illustration  vector 14703918 Vector Art at Vecteezy">
              <a:extLst>
                <a:ext uri="{FF2B5EF4-FFF2-40B4-BE49-F238E27FC236}">
                  <a16:creationId xmlns:a16="http://schemas.microsoft.com/office/drawing/2014/main" id="{E722BC0E-2CF8-080C-27D0-6B1B964E3E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9852" y="2009251"/>
              <a:ext cx="942477" cy="948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Female doctor with a stethoscope. medical professional or therapist.  illustration in cartoon style. vector illustration | Premium Vector">
              <a:extLst>
                <a:ext uri="{FF2B5EF4-FFF2-40B4-BE49-F238E27FC236}">
                  <a16:creationId xmlns:a16="http://schemas.microsoft.com/office/drawing/2014/main" id="{51A84B5A-9705-58F5-D043-414269D4C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26230" y1="23802" x2="28806" y2="2603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2413" y="1970304"/>
              <a:ext cx="782000" cy="1146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Medicine Icon Design, Medicine Icons, Logo Design, Vintage PNG and Vector  with Transparent Background for Free Download">
              <a:extLst>
                <a:ext uri="{FF2B5EF4-FFF2-40B4-BE49-F238E27FC236}">
                  <a16:creationId xmlns:a16="http://schemas.microsoft.com/office/drawing/2014/main" id="{B2AD3E4D-7FB6-F826-3F96-1734F3542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6917" r="90333">
                          <a14:foregroundMark x1="24250" y1="31250" x2="75083" y2="15000"/>
                          <a14:foregroundMark x1="75083" y1="15000" x2="88333" y2="66500"/>
                          <a14:foregroundMark x1="88333" y1="66500" x2="34000" y2="80083"/>
                          <a14:foregroundMark x1="34000" y1="80083" x2="20167" y2="41500"/>
                          <a14:foregroundMark x1="89333" y1="82167" x2="54583" y2="31667"/>
                          <a14:foregroundMark x1="54583" y1="31667" x2="87750" y2="74250"/>
                          <a14:foregroundMark x1="87750" y1="74250" x2="34583" y2="84167"/>
                          <a14:foregroundMark x1="34583" y1="84167" x2="13083" y2="30250"/>
                          <a14:foregroundMark x1="13083" y1="30250" x2="65500" y2="14000"/>
                          <a14:foregroundMark x1="65500" y1="14000" x2="84250" y2="49583"/>
                          <a14:foregroundMark x1="54750" y1="42500" x2="27250" y2="45500"/>
                          <a14:foregroundMark x1="26250" y1="10917" x2="22167" y2="31250"/>
                          <a14:foregroundMark x1="6917" y1="24167" x2="15083" y2="41500"/>
                          <a14:foregroundMark x1="19167" y1="69917" x2="32333" y2="71000"/>
                          <a14:foregroundMark x1="48667" y1="61833" x2="50667" y2="74000"/>
                          <a14:foregroundMark x1="67000" y1="66917" x2="59833" y2="76083"/>
                          <a14:foregroundMark x1="84250" y1="65917" x2="77167" y2="77083"/>
                          <a14:foregroundMark x1="90333" y1="11917" x2="79167" y2="28250"/>
                          <a14:foregroundMark x1="59833" y1="22167" x2="20167" y2="15000"/>
                          <a14:foregroundMark x1="22167" y1="13000" x2="16083" y2="23167"/>
                          <a14:foregroundMark x1="39500" y1="21083" x2="20167" y2="16000"/>
                          <a14:foregroundMark x1="19167" y1="55667" x2="20167" y2="42500"/>
                          <a14:foregroundMark x1="23250" y1="60750" x2="33417" y2="79083"/>
                          <a14:foregroundMark x1="72083" y1="89250" x2="73083" y2="77083"/>
                          <a14:foregroundMark x1="73083" y1="83167" x2="57833" y2="78083"/>
                          <a14:foregroundMark x1="71000" y1="81167" x2="54750" y2="84167"/>
                          <a14:foregroundMark x1="85250" y1="87250" x2="84250" y2="63833"/>
                          <a14:foregroundMark x1="85250" y1="85167" x2="86250" y2="59750"/>
                          <a14:foregroundMark x1="82250" y1="29250" x2="74083" y2="21083"/>
                          <a14:foregroundMark x1="80167" y1="11917" x2="26083" y2="16000"/>
                          <a14:foregroundMark x1="26083" y1="16000" x2="23250" y2="15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3205" y="2068952"/>
              <a:ext cx="898822" cy="898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Patient - Free people icons">
              <a:extLst>
                <a:ext uri="{FF2B5EF4-FFF2-40B4-BE49-F238E27FC236}">
                  <a16:creationId xmlns:a16="http://schemas.microsoft.com/office/drawing/2014/main" id="{02BDBDAB-8FCB-3EA2-0E02-D8407CD6A6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73371" y="1967329"/>
              <a:ext cx="1050217" cy="105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13" name="Curved Connector 1112">
              <a:extLst>
                <a:ext uri="{FF2B5EF4-FFF2-40B4-BE49-F238E27FC236}">
                  <a16:creationId xmlns:a16="http://schemas.microsoft.com/office/drawing/2014/main" id="{DE248204-EC80-B703-0D91-C1520474544C}"/>
                </a:ext>
              </a:extLst>
            </p:cNvPr>
            <p:cNvCxnSpPr>
              <a:cxnSpLocks/>
              <a:stCxn id="1052" idx="2"/>
              <a:endCxn id="1051" idx="2"/>
            </p:cNvCxnSpPr>
            <p:nvPr/>
          </p:nvCxnSpPr>
          <p:spPr>
            <a:xfrm rot="5400000">
              <a:off x="9985820" y="5137721"/>
              <a:ext cx="9144" cy="1198027"/>
            </a:xfrm>
            <a:prstGeom prst="curvedConnector3">
              <a:avLst>
                <a:gd name="adj1" fmla="val 260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Curved Connector 1115">
              <a:extLst>
                <a:ext uri="{FF2B5EF4-FFF2-40B4-BE49-F238E27FC236}">
                  <a16:creationId xmlns:a16="http://schemas.microsoft.com/office/drawing/2014/main" id="{4144B75D-3E7C-0419-898C-829E81644B43}"/>
                </a:ext>
              </a:extLst>
            </p:cNvPr>
            <p:cNvCxnSpPr>
              <a:cxnSpLocks/>
              <a:stCxn id="1052" idx="2"/>
              <a:endCxn id="1050" idx="2"/>
            </p:cNvCxnSpPr>
            <p:nvPr/>
          </p:nvCxnSpPr>
          <p:spPr>
            <a:xfrm rot="5400000">
              <a:off x="9397746" y="4549647"/>
              <a:ext cx="9144" cy="2374174"/>
            </a:xfrm>
            <a:prstGeom prst="curvedConnector3">
              <a:avLst>
                <a:gd name="adj1" fmla="val 3000000"/>
              </a:avLst>
            </a:prstGeom>
            <a:ln w="158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2" name="Rounded Rectangle 1121">
            <a:extLst>
              <a:ext uri="{FF2B5EF4-FFF2-40B4-BE49-F238E27FC236}">
                <a16:creationId xmlns:a16="http://schemas.microsoft.com/office/drawing/2014/main" id="{542DD4C3-5214-D228-9C27-B628AD52FF12}"/>
              </a:ext>
            </a:extLst>
          </p:cNvPr>
          <p:cNvSpPr/>
          <p:nvPr/>
        </p:nvSpPr>
        <p:spPr>
          <a:xfrm>
            <a:off x="5040084" y="4982089"/>
            <a:ext cx="6047977" cy="540887"/>
          </a:xfrm>
          <a:prstGeom prst="roundRect">
            <a:avLst/>
          </a:prstGeom>
          <a:noFill/>
          <a:ln w="15875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047977"/>
                      <a:gd name="connsiteY0" fmla="*/ 90150 h 540887"/>
                      <a:gd name="connsiteX1" fmla="*/ 90150 w 6047977"/>
                      <a:gd name="connsiteY1" fmla="*/ 0 h 540887"/>
                      <a:gd name="connsiteX2" fmla="*/ 794271 w 6047977"/>
                      <a:gd name="connsiteY2" fmla="*/ 0 h 540887"/>
                      <a:gd name="connsiteX3" fmla="*/ 1322362 w 6047977"/>
                      <a:gd name="connsiteY3" fmla="*/ 0 h 540887"/>
                      <a:gd name="connsiteX4" fmla="*/ 1791776 w 6047977"/>
                      <a:gd name="connsiteY4" fmla="*/ 0 h 540887"/>
                      <a:gd name="connsiteX5" fmla="*/ 2437221 w 6047977"/>
                      <a:gd name="connsiteY5" fmla="*/ 0 h 540887"/>
                      <a:gd name="connsiteX6" fmla="*/ 2965312 w 6047977"/>
                      <a:gd name="connsiteY6" fmla="*/ 0 h 540887"/>
                      <a:gd name="connsiteX7" fmla="*/ 3669433 w 6047977"/>
                      <a:gd name="connsiteY7" fmla="*/ 0 h 540887"/>
                      <a:gd name="connsiteX8" fmla="*/ 4138847 w 6047977"/>
                      <a:gd name="connsiteY8" fmla="*/ 0 h 540887"/>
                      <a:gd name="connsiteX9" fmla="*/ 4842968 w 6047977"/>
                      <a:gd name="connsiteY9" fmla="*/ 0 h 540887"/>
                      <a:gd name="connsiteX10" fmla="*/ 5253706 w 6047977"/>
                      <a:gd name="connsiteY10" fmla="*/ 0 h 540887"/>
                      <a:gd name="connsiteX11" fmla="*/ 5957827 w 6047977"/>
                      <a:gd name="connsiteY11" fmla="*/ 0 h 540887"/>
                      <a:gd name="connsiteX12" fmla="*/ 6047977 w 6047977"/>
                      <a:gd name="connsiteY12" fmla="*/ 90150 h 540887"/>
                      <a:gd name="connsiteX13" fmla="*/ 6047977 w 6047977"/>
                      <a:gd name="connsiteY13" fmla="*/ 450737 h 540887"/>
                      <a:gd name="connsiteX14" fmla="*/ 5957827 w 6047977"/>
                      <a:gd name="connsiteY14" fmla="*/ 540887 h 540887"/>
                      <a:gd name="connsiteX15" fmla="*/ 5371059 w 6047977"/>
                      <a:gd name="connsiteY15" fmla="*/ 540887 h 540887"/>
                      <a:gd name="connsiteX16" fmla="*/ 4666938 w 6047977"/>
                      <a:gd name="connsiteY16" fmla="*/ 540887 h 540887"/>
                      <a:gd name="connsiteX17" fmla="*/ 4080170 w 6047977"/>
                      <a:gd name="connsiteY17" fmla="*/ 540887 h 540887"/>
                      <a:gd name="connsiteX18" fmla="*/ 3669433 w 6047977"/>
                      <a:gd name="connsiteY18" fmla="*/ 540887 h 540887"/>
                      <a:gd name="connsiteX19" fmla="*/ 3200019 w 6047977"/>
                      <a:gd name="connsiteY19" fmla="*/ 540887 h 540887"/>
                      <a:gd name="connsiteX20" fmla="*/ 2495898 w 6047977"/>
                      <a:gd name="connsiteY20" fmla="*/ 540887 h 540887"/>
                      <a:gd name="connsiteX21" fmla="*/ 1909130 w 6047977"/>
                      <a:gd name="connsiteY21" fmla="*/ 540887 h 540887"/>
                      <a:gd name="connsiteX22" fmla="*/ 1439716 w 6047977"/>
                      <a:gd name="connsiteY22" fmla="*/ 540887 h 540887"/>
                      <a:gd name="connsiteX23" fmla="*/ 852948 w 6047977"/>
                      <a:gd name="connsiteY23" fmla="*/ 540887 h 540887"/>
                      <a:gd name="connsiteX24" fmla="*/ 90150 w 6047977"/>
                      <a:gd name="connsiteY24" fmla="*/ 540887 h 540887"/>
                      <a:gd name="connsiteX25" fmla="*/ 0 w 6047977"/>
                      <a:gd name="connsiteY25" fmla="*/ 450737 h 540887"/>
                      <a:gd name="connsiteX26" fmla="*/ 0 w 6047977"/>
                      <a:gd name="connsiteY26" fmla="*/ 90150 h 540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6047977" h="540887" extrusionOk="0">
                        <a:moveTo>
                          <a:pt x="0" y="90150"/>
                        </a:moveTo>
                        <a:cubicBezTo>
                          <a:pt x="-8327" y="35226"/>
                          <a:pt x="34100" y="2350"/>
                          <a:pt x="90150" y="0"/>
                        </a:cubicBezTo>
                        <a:cubicBezTo>
                          <a:pt x="329101" y="-42358"/>
                          <a:pt x="515723" y="45023"/>
                          <a:pt x="794271" y="0"/>
                        </a:cubicBezTo>
                        <a:cubicBezTo>
                          <a:pt x="1072819" y="-45023"/>
                          <a:pt x="1058697" y="29378"/>
                          <a:pt x="1322362" y="0"/>
                        </a:cubicBezTo>
                        <a:cubicBezTo>
                          <a:pt x="1586027" y="-29378"/>
                          <a:pt x="1684992" y="12088"/>
                          <a:pt x="1791776" y="0"/>
                        </a:cubicBezTo>
                        <a:cubicBezTo>
                          <a:pt x="1898560" y="-12088"/>
                          <a:pt x="2249725" y="35230"/>
                          <a:pt x="2437221" y="0"/>
                        </a:cubicBezTo>
                        <a:cubicBezTo>
                          <a:pt x="2624718" y="-35230"/>
                          <a:pt x="2818330" y="5722"/>
                          <a:pt x="2965312" y="0"/>
                        </a:cubicBezTo>
                        <a:cubicBezTo>
                          <a:pt x="3112294" y="-5722"/>
                          <a:pt x="3362963" y="63249"/>
                          <a:pt x="3669433" y="0"/>
                        </a:cubicBezTo>
                        <a:cubicBezTo>
                          <a:pt x="3975903" y="-63249"/>
                          <a:pt x="4004518" y="32091"/>
                          <a:pt x="4138847" y="0"/>
                        </a:cubicBezTo>
                        <a:cubicBezTo>
                          <a:pt x="4273176" y="-32091"/>
                          <a:pt x="4617362" y="48663"/>
                          <a:pt x="4842968" y="0"/>
                        </a:cubicBezTo>
                        <a:cubicBezTo>
                          <a:pt x="5068574" y="-48663"/>
                          <a:pt x="5098779" y="36169"/>
                          <a:pt x="5253706" y="0"/>
                        </a:cubicBezTo>
                        <a:cubicBezTo>
                          <a:pt x="5408633" y="-36169"/>
                          <a:pt x="5699883" y="35253"/>
                          <a:pt x="5957827" y="0"/>
                        </a:cubicBezTo>
                        <a:cubicBezTo>
                          <a:pt x="6012050" y="6602"/>
                          <a:pt x="6049038" y="51353"/>
                          <a:pt x="6047977" y="90150"/>
                        </a:cubicBezTo>
                        <a:cubicBezTo>
                          <a:pt x="6076947" y="246594"/>
                          <a:pt x="6009263" y="297893"/>
                          <a:pt x="6047977" y="450737"/>
                        </a:cubicBezTo>
                        <a:cubicBezTo>
                          <a:pt x="6051463" y="496198"/>
                          <a:pt x="5996753" y="536688"/>
                          <a:pt x="5957827" y="540887"/>
                        </a:cubicBezTo>
                        <a:cubicBezTo>
                          <a:pt x="5784212" y="585101"/>
                          <a:pt x="5597159" y="475539"/>
                          <a:pt x="5371059" y="540887"/>
                        </a:cubicBezTo>
                        <a:cubicBezTo>
                          <a:pt x="5144959" y="606235"/>
                          <a:pt x="4899966" y="479014"/>
                          <a:pt x="4666938" y="540887"/>
                        </a:cubicBezTo>
                        <a:cubicBezTo>
                          <a:pt x="4433910" y="602760"/>
                          <a:pt x="4344909" y="495446"/>
                          <a:pt x="4080170" y="540887"/>
                        </a:cubicBezTo>
                        <a:cubicBezTo>
                          <a:pt x="3815431" y="586328"/>
                          <a:pt x="3785123" y="508430"/>
                          <a:pt x="3669433" y="540887"/>
                        </a:cubicBezTo>
                        <a:cubicBezTo>
                          <a:pt x="3553743" y="573344"/>
                          <a:pt x="3417448" y="512083"/>
                          <a:pt x="3200019" y="540887"/>
                        </a:cubicBezTo>
                        <a:cubicBezTo>
                          <a:pt x="2982590" y="569691"/>
                          <a:pt x="2707361" y="529099"/>
                          <a:pt x="2495898" y="540887"/>
                        </a:cubicBezTo>
                        <a:cubicBezTo>
                          <a:pt x="2284435" y="552675"/>
                          <a:pt x="2153655" y="479006"/>
                          <a:pt x="1909130" y="540887"/>
                        </a:cubicBezTo>
                        <a:cubicBezTo>
                          <a:pt x="1664605" y="602768"/>
                          <a:pt x="1553717" y="511170"/>
                          <a:pt x="1439716" y="540887"/>
                        </a:cubicBezTo>
                        <a:cubicBezTo>
                          <a:pt x="1325715" y="570604"/>
                          <a:pt x="1134990" y="491888"/>
                          <a:pt x="852948" y="540887"/>
                        </a:cubicBezTo>
                        <a:cubicBezTo>
                          <a:pt x="570906" y="589886"/>
                          <a:pt x="429671" y="498212"/>
                          <a:pt x="90150" y="540887"/>
                        </a:cubicBezTo>
                        <a:cubicBezTo>
                          <a:pt x="44311" y="528742"/>
                          <a:pt x="8746" y="509982"/>
                          <a:pt x="0" y="450737"/>
                        </a:cubicBezTo>
                        <a:cubicBezTo>
                          <a:pt x="-37597" y="273371"/>
                          <a:pt x="11882" y="176009"/>
                          <a:pt x="0" y="9015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11" name="Picture 16" descr="MedBeacon">
            <a:extLst>
              <a:ext uri="{FF2B5EF4-FFF2-40B4-BE49-F238E27FC236}">
                <a16:creationId xmlns:a16="http://schemas.microsoft.com/office/drawing/2014/main" id="{0B043987-9916-E625-676F-B757B7F92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366" y="4727930"/>
            <a:ext cx="1419741" cy="22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8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AI Capabilities — What Makes This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91440" cy="246888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234439"/>
            <a:ext cx="502920" cy="50292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t>Narrative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33172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Converts raw numbers to clinical</a:t>
            </a:r>
            <a:br/>
            <a:r>
              <a:t>prose: 'HR 105, rising from 80' →</a:t>
            </a:r>
            <a:br/>
            <a:r>
              <a:t>'Tachycardia with concerning trend'</a:t>
            </a:r>
            <a:br/>
            <a:r>
              <a:t>Context a doctor can act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097280"/>
            <a:ext cx="2697480" cy="246888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097280"/>
            <a:ext cx="91440" cy="24688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1234439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1600200"/>
            <a:ext cx="233172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Catches 'Silent Sepsis' when</a:t>
            </a:r>
            <a:br/>
            <a:r>
              <a:t>numbers &amp; notes contradict.</a:t>
            </a:r>
            <a:br/>
            <a:r>
              <a:t>BP stable BUT skin mottled?</a:t>
            </a:r>
            <a:br/>
            <a:r>
              <a:t>→ System escalates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097280"/>
            <a:ext cx="91440" cy="246888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1234439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Clinical Scores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00200"/>
            <a:ext cx="23317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Deterministic (not AI-generated):</a:t>
            </a:r>
            <a:br/>
            <a:r>
              <a:t>qSOFA (0-3) • SIRS (0-4)</a:t>
            </a:r>
            <a:br/>
            <a:r>
              <a:t>SOFA (0-24) • Sepsis-3 criteria</a:t>
            </a:r>
            <a:br/>
            <a:r>
              <a:t>Same math doctors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2697480" cy="24688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91440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3977639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86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Confidence &amp; Transparency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23317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Every prediction includes:</a:t>
            </a:r>
            <a:br/>
            <a:r>
              <a:t>• Confidence level (H/M/L)</a:t>
            </a:r>
            <a:br/>
            <a:r>
              <a:t>• WHY that confidence</a:t>
            </a:r>
            <a:br/>
            <a:r>
              <a:t>• Written rationale</a:t>
            </a:r>
            <a:br/>
            <a:r>
              <a:t>Doctor sees the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18" y="1097280"/>
            <a:ext cx="2697480" cy="246888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89718" y="1097280"/>
            <a:ext cx="91440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72598" y="12344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78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598" y="1600200"/>
            <a:ext cx="2331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598" y="1737360"/>
            <a:ext cx="2331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AI says Low but </a:t>
            </a:r>
            <a:r>
              <a:rPr dirty="0" err="1"/>
              <a:t>qSOFA</a:t>
            </a:r>
            <a:r>
              <a:rPr dirty="0"/>
              <a:t> ≥ 2?</a:t>
            </a:r>
            <a:br>
              <a:rPr dirty="0"/>
            </a:br>
            <a:r>
              <a:rPr dirty="0"/>
              <a:t>→ Guardrail OVERRIDES to High</a:t>
            </a:r>
            <a:br>
              <a:rPr dirty="0"/>
            </a:br>
            <a:r>
              <a:rPr dirty="0"/>
              <a:t>AI never has the final word.</a:t>
            </a:r>
            <a:br>
              <a:rPr dirty="0"/>
            </a:br>
            <a:r>
              <a:rPr lang="en-US" dirty="0"/>
              <a:t>198 </a:t>
            </a:r>
            <a:r>
              <a:rPr dirty="0"/>
              <a:t>clinical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840480"/>
            <a:ext cx="2697480" cy="246888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29000" y="3840480"/>
            <a:ext cx="91440" cy="2468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343400"/>
            <a:ext cx="233172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Doctor agrees/disagrees.</a:t>
            </a:r>
            <a:br/>
            <a:r>
              <a:t>Feedback → MongoDB.</a:t>
            </a:r>
            <a:br/>
            <a:r>
              <a:t>Analysis → Prompt tuning.</a:t>
            </a:r>
            <a:br/>
            <a:r>
              <a:t>System learns over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59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Every prediction logged.</a:t>
            </a:r>
            <a:br>
              <a:rPr dirty="0"/>
            </a:br>
            <a:r>
              <a:rPr dirty="0"/>
              <a:t>Request ID, model version.</a:t>
            </a:r>
            <a:br>
              <a:rPr dirty="0"/>
            </a:br>
            <a:r>
              <a:rPr dirty="0"/>
              <a:t>No PHI in logs (HIPAA safe).</a:t>
            </a:r>
            <a:br>
              <a:rPr dirty="0"/>
            </a:br>
            <a:r>
              <a:rPr dirty="0"/>
              <a:t>CloudWatch via EKS.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598" y="6556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7 / 12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E8CF9D1-D765-6993-17E0-F2F2BFE0FC1A}"/>
              </a:ext>
            </a:extLst>
          </p:cNvPr>
          <p:cNvSpPr/>
          <p:nvPr/>
        </p:nvSpPr>
        <p:spPr>
          <a:xfrm>
            <a:off x="9189718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517617-708D-468D-346A-1FD3579DCA63}"/>
              </a:ext>
            </a:extLst>
          </p:cNvPr>
          <p:cNvSpPr/>
          <p:nvPr/>
        </p:nvSpPr>
        <p:spPr>
          <a:xfrm>
            <a:off x="9189718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1BFA02F-8563-47FD-36FC-D537916CF5CA}"/>
              </a:ext>
            </a:extLst>
          </p:cNvPr>
          <p:cNvSpPr/>
          <p:nvPr/>
        </p:nvSpPr>
        <p:spPr>
          <a:xfrm>
            <a:off x="9372599" y="3977640"/>
            <a:ext cx="502920" cy="502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C4B4D5-F5EF-78DC-96A8-055217A814E2}"/>
              </a:ext>
            </a:extLst>
          </p:cNvPr>
          <p:cNvSpPr txBox="1"/>
          <p:nvPr/>
        </p:nvSpPr>
        <p:spPr>
          <a:xfrm>
            <a:off x="9891061" y="3880395"/>
            <a:ext cx="199613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rPr lang="en-IN" b="0" i="0" dirty="0">
                <a:ln>
                  <a:solidFill>
                    <a:schemeClr val="accent1">
                      <a:shade val="95000"/>
                      <a:satMod val="105000"/>
                    </a:schemeClr>
                  </a:solidFill>
                </a:ln>
                <a:solidFill>
                  <a:schemeClr val="tx2"/>
                </a:solidFill>
                <a:effectLst/>
                <a:latin typeface="-apple-system"/>
              </a:rPr>
              <a:t>Continuous Learning from Discharge summary</a:t>
            </a:r>
            <a:endParaRPr dirty="0">
              <a:ln>
                <a:solidFill>
                  <a:schemeClr val="accent1">
                    <a:shade val="95000"/>
                    <a:satMod val="105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819AFC-519E-4802-2193-5EF78F67348A}"/>
              </a:ext>
            </a:extLst>
          </p:cNvPr>
          <p:cNvSpPr/>
          <p:nvPr/>
        </p:nvSpPr>
        <p:spPr>
          <a:xfrm>
            <a:off x="9372599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8010C0-2633-15D8-D693-D16711160D43}"/>
              </a:ext>
            </a:extLst>
          </p:cNvPr>
          <p:cNvSpPr txBox="1"/>
          <p:nvPr/>
        </p:nvSpPr>
        <p:spPr>
          <a:xfrm>
            <a:off x="9372599" y="4480560"/>
            <a:ext cx="21671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lang="en-IN" sz="1000" dirty="0">
                <a:solidFill>
                  <a:srgbClr val="4A5A6A"/>
                </a:solidFill>
                <a:latin typeface="Calibri"/>
              </a:rPr>
              <a:t>Patient discharge summaries serve as a natural feedback loop for continuous AI improvement. </a:t>
            </a:r>
            <a:endParaRPr sz="1000" dirty="0">
              <a:solidFill>
                <a:srgbClr val="4A5A6A"/>
              </a:solidFill>
              <a:latin typeface="Calibri"/>
            </a:endParaRPr>
          </a:p>
        </p:txBody>
      </p:sp>
      <p:pic>
        <p:nvPicPr>
          <p:cNvPr id="57" name="Graphic 56" descr="Clipboard Ticked with solid fill">
            <a:extLst>
              <a:ext uri="{FF2B5EF4-FFF2-40B4-BE49-F238E27FC236}">
                <a16:creationId xmlns:a16="http://schemas.microsoft.com/office/drawing/2014/main" id="{CE28BA8A-A234-C2BF-9087-F6C184676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037" y="4060114"/>
            <a:ext cx="312724" cy="312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799" y="2580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Hospital-Specific Configuration — Why?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One AI Engine. Infinite Customization. Every hospital is different.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Trauma Center ICU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High-acuity, rapid deterioration.</a:t>
            </a:r>
            <a:br/>
            <a:r>
              <a:t>Aggressive thresholds.</a:t>
            </a:r>
            <a:br/>
            <a:r>
              <a:t>HR alarm at 130, not 140.</a:t>
            </a:r>
            <a:br/>
            <a:r>
              <a:t>Immediate paging.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474720" cy="21031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Community Hospital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83080"/>
            <a:ext cx="32004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General population, mixed acuity.</a:t>
            </a:r>
            <a:br/>
            <a:r>
              <a:t>Standard SEP-1 bundle protocols.</a:t>
            </a:r>
            <a:br/>
            <a:r>
              <a:t>Balanced sensitivity.</a:t>
            </a:r>
            <a:br/>
            <a:r>
              <a:t>Avoid alert fatigue.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21031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66760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Pediatric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783080"/>
            <a:ext cx="32004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Age-adjusted vitals (child HR = 120).</a:t>
            </a:r>
            <a:br/>
            <a:r>
              <a:t>Adult thresholds miss sick children.</a:t>
            </a:r>
            <a:br/>
            <a:r>
              <a:t>pSOFA, not adult SOFA.</a:t>
            </a:r>
            <a:br/>
            <a:r>
              <a:t>Family-centered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C343D"/>
                </a:solidFill>
                <a:latin typeface="Calibri"/>
              </a:defRPr>
            </a:pPr>
            <a:r>
              <a:rPr dirty="0"/>
              <a:t>Solution: Shared AI engine + per-hospital configuration layer. The AI reasoning stays the same.</a:t>
            </a:r>
            <a:br>
              <a:rPr dirty="0"/>
            </a:br>
            <a:r>
              <a:rPr dirty="0"/>
              <a:t>Only clinical thresholds, alert rules</a:t>
            </a:r>
            <a:r>
              <a:rPr lang="en-US" dirty="0"/>
              <a:t> </a:t>
            </a:r>
            <a:r>
              <a:rPr dirty="0"/>
              <a:t>change — managed by each hospital's SME via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Stays the Same Everywhere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Changes Per Hospital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45720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AI model (Sonnet 4.5)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3-stage pipeline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955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qSOFA / SIRS / SOFA formulas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51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Audit logging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076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API contract &amp;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Vital sign thresholds (11 organ systems)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⚙️  Override sensitivity levels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186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⚙️  </a:t>
            </a:r>
            <a:r>
              <a:rPr lang="en-IN" b="0" i="0" dirty="0">
                <a:solidFill>
                  <a:srgbClr val="7B88A1"/>
                </a:solidFill>
                <a:effectLst/>
                <a:latin typeface="-apple-system"/>
              </a:rPr>
              <a:t>Scoring thresholds (</a:t>
            </a:r>
            <a:r>
              <a:rPr lang="en-IN" b="0" i="0" dirty="0" err="1">
                <a:solidFill>
                  <a:srgbClr val="7B88A1"/>
                </a:solidFill>
                <a:effectLst/>
                <a:latin typeface="-apple-system"/>
              </a:rPr>
              <a:t>qSOFA</a:t>
            </a:r>
            <a:r>
              <a:rPr lang="en-IN" b="0" i="0" dirty="0">
                <a:solidFill>
                  <a:srgbClr val="7B88A1"/>
                </a:solidFill>
                <a:effectLst/>
                <a:latin typeface="-apple-system"/>
              </a:rPr>
              <a:t>, SIRS, SOFA</a:t>
            </a:r>
            <a:r>
              <a:rPr dirty="0"/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6207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Multi-Hospital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13232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CC"/>
                </a:solidFill>
                <a:latin typeface="Calibri"/>
              </a:defRPr>
            </a:pPr>
            <a:r>
              <a:rPr b="1" dirty="0">
                <a:solidFill>
                  <a:schemeClr val="tx2"/>
                </a:solidFill>
              </a:rPr>
              <a:t>Same engine, different settings — loaded at runtime per hospital</a:t>
            </a:r>
          </a:p>
        </p:txBody>
      </p:sp>
      <p:sp>
        <p:nvSpPr>
          <p:cNvPr id="7" name="Hexagon 6"/>
          <p:cNvSpPr/>
          <p:nvPr/>
        </p:nvSpPr>
        <p:spPr>
          <a:xfrm>
            <a:off x="4114800" y="1280160"/>
            <a:ext cx="3931920" cy="1828800"/>
          </a:xfrm>
          <a:prstGeom prst="hexagon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Sepsis GenAI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DEE"/>
                </a:solidFill>
                <a:latin typeface="Calibri"/>
              </a:defRPr>
            </a:pPr>
            <a:r>
              <a:t>Sonnet 4.5 +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AABB"/>
                </a:solidFill>
                <a:latin typeface="Calibri"/>
              </a:defRPr>
            </a:pPr>
            <a:r>
              <a:t>Shared across all hospitals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15468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1832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9567" y="3664520"/>
            <a:ext cx="9052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📋  Configuration Layer  —  </a:t>
            </a:r>
            <a:r>
              <a:rPr lang="en-US" dirty="0"/>
              <a:t>198 </a:t>
            </a:r>
            <a:r>
              <a:rPr dirty="0"/>
              <a:t>Parameters  —  API-Managed  —  Hot-Reload  —  No Restart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86000" y="4114800"/>
            <a:ext cx="36576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498848"/>
            <a:ext cx="3566160" cy="20116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590288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Trauma ICU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138928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130 bpm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Aggressive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338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qSOFA: Primary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rPr dirty="0"/>
              <a:t>  Escalation: Immediate page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12967" y="4133088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0" y="4498848"/>
            <a:ext cx="3566160" cy="201168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60" y="4590288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5138928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140 bpm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338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SIRS: Primary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15-min window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9966960" y="4114800"/>
            <a:ext cx="365760" cy="320040"/>
          </a:xfrm>
          <a:prstGeom prst="down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412480" y="4498848"/>
            <a:ext cx="3566160" cy="2011680"/>
          </a:xfrm>
          <a:prstGeom prst="roundRect">
            <a:avLst/>
          </a:prstGeom>
          <a:solidFill>
            <a:srgbClr val="2A1A3A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49640" y="4590288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864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44AD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5138928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52303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Age-adjusted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43153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Conservative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833872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rPr dirty="0"/>
              <a:t>  SOFA: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035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Attending + family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406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SME Workflow — No Code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Clinical leads manage their hospital's configuration through simple API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See all thresholds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604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7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/config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Change any threshold</a:t>
            </a:r>
            <a:br/>
            <a:r>
              <a:t>e.g., lower lactate to 3.5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0" y="1371600"/>
            <a:ext cx="2103120" cy="2377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97879" y="1463040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00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2331720"/>
            <a:ext cx="1920240" cy="32004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save: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In-memory only — test</a:t>
            </a:r>
            <a:br/>
            <a:r>
              <a:t>without affecting production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79" y="2468880"/>
            <a:ext cx="411480" cy="27432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52359" y="1371600"/>
            <a:ext cx="2103120" cy="2377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29599" y="14630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799" y="2331720"/>
            <a:ext cx="192024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Persist changes — active</a:t>
            </a:r>
            <a:br/>
            <a:r>
              <a:t>immediately, no restart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1199" y="2468880"/>
            <a:ext cx="41148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84080" y="1371600"/>
            <a:ext cx="2103120" cy="2377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61319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19" y="2331720"/>
            <a:ext cx="19202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2124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Download full config</a:t>
            </a:r>
            <a:br/>
            <a:r>
              <a:t>for compliance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rPr lang="en-US" dirty="0"/>
              <a:t>198 </a:t>
            </a:r>
            <a:r>
              <a:rPr dirty="0"/>
              <a:t>Parameters Across 11 Organ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297680"/>
            <a:ext cx="106984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Hemodynamic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SBP, MAP, DBP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6888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Respiratory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O2Sat, RR, PF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Hypo/Hyperthermia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threshold + rationale + SME notes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Renal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Creatinine, BUN, UO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4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Hepatic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Bili, AST, ALT, INR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49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Hematologic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Plt, WBC, Hgb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⚗️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Metabolic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pH, Glucose, K+, Na+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6888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892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HR, Troponin, BNP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9768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8912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Neurologic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GCS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0936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Infection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Procalcitonin, CRP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3816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2960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Overrides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Force scores, priority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42440"/>
            <a:ext cx="10451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Same Patient, Different Hospitals — Why Config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child, same data — adult thresholds MISS the danger. Pediatric thresholds CATCH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1362015"/>
            <a:ext cx="103816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rPr sz="1200" dirty="0"/>
              <a:t>📋  11-year-old, post-appendectomy Day 2  •  HR 115  •  SBP 105  •  Temp 38.1°C  •  WBC 13.5  •  Lactate 2.1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rPr dirty="0"/>
              <a:t>These vitals look "borderline normal" by adult standards — but for an 11-year-old, HR 115 is tachycardic and Lactate 2.1 is alarming.</a:t>
            </a:r>
            <a:br>
              <a:rPr dirty="0"/>
            </a:br>
            <a:r>
              <a:rPr dirty="0"/>
              <a:t>Rationale: "Post-surgical tachycardia with low-grade fever and mild lactate elevation — early infection cannot be excluded."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566160" cy="411480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🏥 Trauma ICU (Adult Thresholds)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9748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3291840" cy="320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✅ LOOKS NORMAL — MISSED!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HR 115 &lt; adult threshold 140 → 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SBP 105 &gt; adult threshold 90 →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barely above 2.0 → Noted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System says: Standard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Routine monitoring continues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Child's tachycardia UNDETECTED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⏱️ No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377440"/>
            <a:ext cx="35661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🏥 Community (Adult Thresholds)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697480"/>
            <a:ext cx="32918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34840" y="2788920"/>
            <a:ext cx="32918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✅ LOOKS NORMAL — MISSED!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115 &lt; adult threshold 140 →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 105 &gt; adult threshold 90 → 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&lt; threshold 4.0 →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System says: Standard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Check again at next rounds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Child could deteriorate for HOURS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6C93"/>
                </a:solidFill>
                <a:latin typeface="Calibri"/>
              </a:defRPr>
            </a:pPr>
            <a:r>
              <a:t>⏱️ Next rounds (4h)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77440"/>
            <a:ext cx="3566160" cy="41148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Calibri"/>
              </a:defRPr>
            </a:pPr>
            <a:r>
              <a:t>👶 Pediatric (Age-Adjusted)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69748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2788920"/>
            <a:ext cx="32918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⚡ HIGH PRIORITY — CAUGHT!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115 &gt; peds threshold 100 → ⚠️ FLAG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2.1 &gt; peds threshold 1.5 → ⚠️ FLAG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WBC 13.5 &gt; peds threshold 12 → ⚠️ 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pSOFA used instead of adult SOFA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Immediate attending notification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Blood cultures + IV antibiotics STAT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Calibri"/>
              </a:defRPr>
            </a:pPr>
            <a:r>
              <a:t>⏱️ Immediate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68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✅  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Claude Sonnet 4.5 deployed to production (EKS)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3677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4-model head-to-head comparison (32 runs, 8 patients)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8366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7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3-stage AI pipeline (Preprocess → LLM → Guardrail)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39696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148839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✅  </a:t>
            </a:r>
            <a:r>
              <a:rPr lang="en-IN" dirty="0"/>
              <a:t> 198 Configurable</a:t>
            </a:r>
            <a:r>
              <a:rPr dirty="0"/>
              <a:t> clinical parameters via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95728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0487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Deterministic qSOFA / SIRS / SOFA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66090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Discordance detection (Silent Sepsis)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0779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1693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Audit logging (CloudWatch-ready via EKS)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6382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System prompt v3.0 with confidence +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🔜 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716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91440" cy="4572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389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SJSA Data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910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Red Rover API setup — awaiting sandbox data from Red Rover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2024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91440" cy="45720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938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Frontend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39696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rPr dirty="0"/>
              <a:t>Display AI output to doctors + capture 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46888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2468880"/>
            <a:ext cx="914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4871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Retrospective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88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Run historical patients through Sonnet 4.5 &amp; Opus 4.6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1752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3017520"/>
            <a:ext cx="91440" cy="45720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30358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9AAD4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2369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Deploy configs at 2+ facilities, compare outcomes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56616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566160"/>
            <a:ext cx="914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584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78561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MongoDB storage + analysis script + prompt tuning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274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rPr dirty="0"/>
              <a:t>⏳  External Dependencies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0474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  ⏳  Red Rover — Sandbox data + SJSA API confirmation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852160"/>
            <a:ext cx="10972800" cy="50292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system is live, the AI is proven, the architecture scales.  Next milestone: real patient data from Red Rover + clinician validation.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rPr dirty="0"/>
              <a:t>Sepsis GenAI  |  Medbeacon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D1E84A9-0E33-3A15-82C2-C395D6C3269D}"/>
              </a:ext>
            </a:extLst>
          </p:cNvPr>
          <p:cNvSpPr/>
          <p:nvPr/>
        </p:nvSpPr>
        <p:spPr>
          <a:xfrm>
            <a:off x="6400800" y="41148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E5CC709-CAE6-DB30-19F2-8181ACCEF948}"/>
              </a:ext>
            </a:extLst>
          </p:cNvPr>
          <p:cNvSpPr/>
          <p:nvPr/>
        </p:nvSpPr>
        <p:spPr>
          <a:xfrm>
            <a:off x="6400800" y="4114800"/>
            <a:ext cx="9144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67DB3-C3D1-AD0F-E1FA-72097B34026B}"/>
              </a:ext>
            </a:extLst>
          </p:cNvPr>
          <p:cNvSpPr txBox="1"/>
          <p:nvPr/>
        </p:nvSpPr>
        <p:spPr>
          <a:xfrm>
            <a:off x="6583680" y="4133088"/>
            <a:ext cx="3008376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rPr lang="en-US" dirty="0">
                <a:solidFill>
                  <a:schemeClr val="accent2"/>
                </a:solidFill>
              </a:rPr>
              <a:t>Discharge Summary integration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5A66F-BD0B-BE96-4058-902BAF4320A0}"/>
              </a:ext>
            </a:extLst>
          </p:cNvPr>
          <p:cNvSpPr txBox="1"/>
          <p:nvPr/>
        </p:nvSpPr>
        <p:spPr>
          <a:xfrm>
            <a:off x="6583680" y="4334255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rPr lang="en-IN" sz="900" dirty="0">
                <a:solidFill>
                  <a:srgbClr val="4A5A6A"/>
                </a:solidFill>
                <a:latin typeface="Calibri"/>
              </a:rPr>
              <a:t>Natural feedback loop for continuous AI improvement. 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5FC3BD-42B0-D72B-7FFC-825B83738793}"/>
              </a:ext>
            </a:extLst>
          </p:cNvPr>
          <p:cNvSpPr txBox="1"/>
          <p:nvPr/>
        </p:nvSpPr>
        <p:spPr>
          <a:xfrm>
            <a:off x="777240" y="3886199"/>
            <a:ext cx="448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Ideas for hospital O/B</a:t>
            </a:r>
          </a:p>
          <a:p>
            <a:r>
              <a:rPr lang="en-US" dirty="0"/>
              <a:t>Domain, Auth, Role based access to  guard rail</a:t>
            </a:r>
          </a:p>
          <a:p>
            <a:r>
              <a:rPr lang="en-US" dirty="0"/>
              <a:t>Type of HSP: guardrails type</a:t>
            </a:r>
          </a:p>
          <a:p>
            <a:r>
              <a:rPr lang="en-US" dirty="0"/>
              <a:t>Specific changes</a:t>
            </a:r>
          </a:p>
          <a:p>
            <a:r>
              <a:rPr lang="en-US" dirty="0"/>
              <a:t>Dat for validation and finetuning, refine guardrail, prompt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0936" y="246888"/>
            <a:ext cx="1097280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2400" b="1" dirty="0">
                <a:solidFill>
                  <a:srgbClr val="1E6C93"/>
                </a:solidFill>
                <a:latin typeface="Calibri"/>
              </a:rPr>
              <a:t>Validation — Phase 1B (</a:t>
            </a:r>
            <a:r>
              <a:rPr sz="2400" b="1" dirty="0" err="1">
                <a:solidFill>
                  <a:srgbClr val="1E6C93"/>
                </a:solidFill>
                <a:latin typeface="Calibri"/>
              </a:rPr>
              <a:t>eICU</a:t>
            </a:r>
            <a:r>
              <a:rPr sz="2400" b="1" dirty="0">
                <a:solidFill>
                  <a:srgbClr val="1E6C93"/>
                </a:solidFill>
                <a:latin typeface="Calibri"/>
              </a:rPr>
              <a:t>-CRD Demo, Real Nurse Notes)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556677"/>
                </a:solidFill>
                <a:latin typeface="Calibri"/>
              </a:rPr>
              <a:t>90 ICU patients (30 sepsis + 60 controls) • 186 US hospitals • Open access dataset • Locked R7 system • May 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30352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91440" cy="2240280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Headline Result (locked, byte-reproducible)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73.33%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55.6 – 85.8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1E6C93"/>
                </a:solidFill>
                <a:latin typeface="Calibri"/>
              </a:rPr>
              <a:t>63.33%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38 / 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50.7 – 74.4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dirty="0">
                <a:solidFill>
                  <a:srgbClr val="556677"/>
                </a:solidFill>
                <a:latin typeface="Calibri"/>
              </a:rPr>
              <a:t>NPV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 dirty="0">
                <a:solidFill>
                  <a:srgbClr val="2E7D32"/>
                </a:solidFill>
                <a:latin typeface="Calibri"/>
              </a:rPr>
              <a:t>82.61%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 dirty="0">
                <a:solidFill>
                  <a:srgbClr val="1F2F3F"/>
                </a:solidFill>
                <a:latin typeface="Calibri"/>
              </a:rPr>
              <a:t>38 / 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 dirty="0">
                <a:solidFill>
                  <a:srgbClr val="556677"/>
                </a:solidFill>
                <a:latin typeface="Calibri"/>
              </a:rPr>
              <a:t>95% CI 69.3 – 90.9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1691640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PPV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938528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E65C00"/>
                </a:solidFill>
                <a:latin typeface="Calibri"/>
              </a:rPr>
              <a:t>50.00%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487168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43200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35.8 – 64.2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207008"/>
            <a:ext cx="557784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80760" y="1207008"/>
            <a:ext cx="91440" cy="224028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1280160"/>
            <a:ext cx="534924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Defensible Adjusted 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627632"/>
            <a:ext cx="5212080" cy="292608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1664208"/>
            <a:ext cx="347472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920240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1975104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Audit baseline (no adjustment)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73.3%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63.3%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313432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2368296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Excluding 5 neonates (out-of-scope)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75.9%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64.3%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706624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2761488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+ Reclassify 5 hidden-TP FPs as justifiable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099816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3154680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Production projection (BP/Lactate available)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85-90%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70-75%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8640" y="3584448"/>
            <a:ext cx="91440" cy="2834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C62828"/>
                </a:solidFill>
                <a:latin typeface="Calibri"/>
              </a:rPr>
              <a:t>What pulls the score down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Missing BP + Lactate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8 / 8 false negatives — 100%; LLM stays cautious without anchors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Neonates with adult thresholds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5 of 90 patients age=0; 1 FN, 2 FP, 2 TN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Protocol context invisible to guardrail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Therapeutic hypothermia, post-arrest patients flagged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ICU patients are SIRS-prone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12 of 22 FPs are post-op / COPD meeting 2-of-4 SIRS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ICD-9 sepsis labels (vs Sepsis-3)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Some "controls" may be undocumented sepsis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389120" y="3584448"/>
            <a:ext cx="91440" cy="283464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1E6C93"/>
                </a:solidFill>
                <a:latin typeface="Calibri"/>
              </a:rPr>
              <a:t>Data Quality — what we hit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85716" y="4059936"/>
            <a:ext cx="33832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Missin</a:t>
            </a:r>
            <a:r>
              <a:rPr lang="en-US" sz="1000" b="1" dirty="0" err="1">
                <a:solidFill>
                  <a:srgbClr val="1F2F3F"/>
                </a:solidFill>
                <a:latin typeface="Calibri"/>
              </a:rPr>
              <a:t>z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g</a:t>
            </a:r>
            <a:r>
              <a:rPr sz="1000" b="1" dirty="0">
                <a:solidFill>
                  <a:srgbClr val="1F2F3F"/>
                </a:solidFill>
                <a:latin typeface="Calibri"/>
              </a:rPr>
              <a:t> BP / Lactate per patient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68596" y="42611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Drives every FN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68596" y="43891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 dirty="0">
                <a:solidFill>
                  <a:srgbClr val="E65C00"/>
                </a:solidFill>
                <a:latin typeface="Calibri"/>
              </a:rPr>
              <a:t>◯ Open — production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85716" y="45171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Neonates included (age=0)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68596" y="47183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Adult thresholds inappropriate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68596" y="48463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Calibri"/>
              </a:rPr>
              <a:t>✓ Excluded in adjusted view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85716" y="49743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Note sparsity (17% &lt; 200 chars)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68596" y="51755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Reduces signal for those patients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68596" y="53035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E65C00"/>
                </a:solidFill>
                <a:latin typeface="Calibri"/>
              </a:rPr>
              <a:t>◯ Tolerable for now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229600" y="3584448"/>
            <a:ext cx="91440" cy="2834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1248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Calibri"/>
              </a:rPr>
              <a:t>Levers to push it further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Native EHR vitals (BP / MAP / Lactate)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536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Resolves dominant FN cause; +10-15 sens points expected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Real MD notes &amp; discharge summaries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9536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Captures clinical workup signals (cultures, antibiotics ordered)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Pediatric thresholds (pSOFA, age-bands)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9536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Roadmap U16 — removes neonate confound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8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Sepsis-3 derivation for ground truth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9536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Eliminates ICD-9 "missed coding" controls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1248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Larger n (300+) for tight CIs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9536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Halves the ±15-pt confidence intervals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1520" y="6355080"/>
            <a:ext cx="10972800" cy="25603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68680" y="6373368"/>
            <a:ext cx="1083564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Reproducible • All 29 Phase-1A patients reproduce byte-identically inside n=90 • Data completeness — not model — is the binding constraint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629400"/>
            <a:ext cx="3657600" cy="1828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Sepsis GenAI  |  Medbeacon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7ECC-BC4B-0DDA-A0D2-EDB83B53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0DD80A-5624-4C92-D5B7-53F0FC060747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262176-F4BF-CDD0-D0EB-21979761AF08}"/>
              </a:ext>
            </a:extLst>
          </p:cNvPr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850FA-46F5-D240-A683-05561300DE69}"/>
              </a:ext>
            </a:extLst>
          </p:cNvPr>
          <p:cNvSpPr txBox="1"/>
          <p:nvPr/>
        </p:nvSpPr>
        <p:spPr>
          <a:xfrm>
            <a:off x="630936" y="246888"/>
            <a:ext cx="10972800" cy="405683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2400" b="1" dirty="0">
                <a:solidFill>
                  <a:srgbClr val="1E6C93"/>
                </a:solidFill>
                <a:latin typeface="Calibri"/>
              </a:rPr>
              <a:t>Validation — (</a:t>
            </a:r>
            <a:r>
              <a:rPr sz="2400" b="1" dirty="0" err="1">
                <a:solidFill>
                  <a:srgbClr val="1E6C93"/>
                </a:solidFill>
                <a:latin typeface="Calibri"/>
              </a:rPr>
              <a:t>eICU</a:t>
            </a:r>
            <a:r>
              <a:rPr sz="2400" b="1" dirty="0">
                <a:solidFill>
                  <a:srgbClr val="1E6C93"/>
                </a:solidFill>
                <a:latin typeface="Calibri"/>
              </a:rPr>
              <a:t>-CRD Demo, Real Nurse Notes)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CEE34-40C9-58E2-2D6C-BB7B8D26753B}"/>
              </a:ext>
            </a:extLst>
          </p:cNvPr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E8E76-6D7C-D863-C196-DBBA885EF08C}"/>
              </a:ext>
            </a:extLst>
          </p:cNvPr>
          <p:cNvSpPr txBox="1"/>
          <p:nvPr/>
        </p:nvSpPr>
        <p:spPr>
          <a:xfrm>
            <a:off x="731520" y="841248"/>
            <a:ext cx="1097280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90 ICU patients (30 sepsis + 60 controls) • 186 US hospitals • Open access dataset • May 1,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14C90-F1DD-4600-CA3A-0E4956AE3226}"/>
              </a:ext>
            </a:extLst>
          </p:cNvPr>
          <p:cNvSpPr/>
          <p:nvPr/>
        </p:nvSpPr>
        <p:spPr>
          <a:xfrm>
            <a:off x="548640" y="1207008"/>
            <a:ext cx="530352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C62A71-2143-CE03-29C8-6BE8E0EBA314}"/>
              </a:ext>
            </a:extLst>
          </p:cNvPr>
          <p:cNvSpPr/>
          <p:nvPr/>
        </p:nvSpPr>
        <p:spPr>
          <a:xfrm>
            <a:off x="548640" y="1207008"/>
            <a:ext cx="91440" cy="2240280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11A6B-DD0B-600D-E3BF-1C00F9A83C62}"/>
              </a:ext>
            </a:extLst>
          </p:cNvPr>
          <p:cNvSpPr txBox="1"/>
          <p:nvPr/>
        </p:nvSpPr>
        <p:spPr>
          <a:xfrm>
            <a:off x="777240" y="1280160"/>
            <a:ext cx="502920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Headline Result (locked, byte-reproducible)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9E585-5D02-19E2-DE60-490EA58BD407}"/>
              </a:ext>
            </a:extLst>
          </p:cNvPr>
          <p:cNvSpPr/>
          <p:nvPr/>
        </p:nvSpPr>
        <p:spPr>
          <a:xfrm>
            <a:off x="1581912" y="1600200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6CEDA-9BF2-1958-3928-03F255DB878A}"/>
              </a:ext>
            </a:extLst>
          </p:cNvPr>
          <p:cNvSpPr txBox="1"/>
          <p:nvPr/>
        </p:nvSpPr>
        <p:spPr>
          <a:xfrm>
            <a:off x="1581912" y="1664208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 dirty="0">
                <a:solidFill>
                  <a:srgbClr val="556677"/>
                </a:solidFill>
                <a:latin typeface="Calibri"/>
              </a:rPr>
              <a:t>Sensitivity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EEC18-39F9-7702-9960-7E02A09FE81C}"/>
              </a:ext>
            </a:extLst>
          </p:cNvPr>
          <p:cNvSpPr txBox="1"/>
          <p:nvPr/>
        </p:nvSpPr>
        <p:spPr>
          <a:xfrm>
            <a:off x="1581912" y="1911096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Calibri"/>
              </a:rPr>
              <a:t>73.33%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8A408-1218-EA87-73D4-C434E127F36D}"/>
              </a:ext>
            </a:extLst>
          </p:cNvPr>
          <p:cNvSpPr txBox="1"/>
          <p:nvPr/>
        </p:nvSpPr>
        <p:spPr>
          <a:xfrm>
            <a:off x="1581912" y="2459736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22 / 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2FEF2F-AF77-F592-A241-82264DE3F440}"/>
              </a:ext>
            </a:extLst>
          </p:cNvPr>
          <p:cNvSpPr txBox="1"/>
          <p:nvPr/>
        </p:nvSpPr>
        <p:spPr>
          <a:xfrm>
            <a:off x="1581912" y="2715768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55.6 – 85.8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9AB541-DB6D-B869-C62D-44BCEFB71A0C}"/>
              </a:ext>
            </a:extLst>
          </p:cNvPr>
          <p:cNvSpPr/>
          <p:nvPr/>
        </p:nvSpPr>
        <p:spPr>
          <a:xfrm>
            <a:off x="3749040" y="1627632"/>
            <a:ext cx="12344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57C8B-683C-F437-65E7-036E73AB78B0}"/>
              </a:ext>
            </a:extLst>
          </p:cNvPr>
          <p:cNvSpPr txBox="1"/>
          <p:nvPr/>
        </p:nvSpPr>
        <p:spPr>
          <a:xfrm>
            <a:off x="3771900" y="1719072"/>
            <a:ext cx="1234440" cy="256032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556677"/>
                </a:solidFill>
                <a:latin typeface="Calibri"/>
              </a:rPr>
              <a:t>Specificity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6721ED-2CE9-3E3F-8920-D2DE1B370167}"/>
              </a:ext>
            </a:extLst>
          </p:cNvPr>
          <p:cNvSpPr txBox="1"/>
          <p:nvPr/>
        </p:nvSpPr>
        <p:spPr>
          <a:xfrm>
            <a:off x="3771900" y="1965960"/>
            <a:ext cx="1234440" cy="5029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2200" b="1">
                <a:solidFill>
                  <a:srgbClr val="1E6C93"/>
                </a:solidFill>
                <a:latin typeface="Calibri"/>
              </a:rPr>
              <a:t>63.33%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CEF58C-88E4-15E4-8BCC-51EF67AA652B}"/>
              </a:ext>
            </a:extLst>
          </p:cNvPr>
          <p:cNvSpPr txBox="1"/>
          <p:nvPr/>
        </p:nvSpPr>
        <p:spPr>
          <a:xfrm>
            <a:off x="3771900" y="2514600"/>
            <a:ext cx="123444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900" b="0">
                <a:solidFill>
                  <a:srgbClr val="1F2F3F"/>
                </a:solidFill>
                <a:latin typeface="Calibri"/>
              </a:rPr>
              <a:t>38 / 60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5AF2A-18E8-BFF9-6870-48C3D92B6FF4}"/>
              </a:ext>
            </a:extLst>
          </p:cNvPr>
          <p:cNvSpPr txBox="1"/>
          <p:nvPr/>
        </p:nvSpPr>
        <p:spPr>
          <a:xfrm>
            <a:off x="3771900" y="2770632"/>
            <a:ext cx="1234440" cy="457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800" b="0">
                <a:solidFill>
                  <a:srgbClr val="556677"/>
                </a:solidFill>
                <a:latin typeface="Calibri"/>
              </a:rPr>
              <a:t>95% CI 50.7 – 74.4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D89E89-D2C8-4C0A-68C4-622C7795CEE9}"/>
              </a:ext>
            </a:extLst>
          </p:cNvPr>
          <p:cNvSpPr/>
          <p:nvPr/>
        </p:nvSpPr>
        <p:spPr>
          <a:xfrm>
            <a:off x="6080760" y="1207008"/>
            <a:ext cx="5577840" cy="224028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6210AB-BACA-29CE-CFFA-295B33F76BD7}"/>
              </a:ext>
            </a:extLst>
          </p:cNvPr>
          <p:cNvSpPr/>
          <p:nvPr/>
        </p:nvSpPr>
        <p:spPr>
          <a:xfrm>
            <a:off x="6080760" y="1207008"/>
            <a:ext cx="91440" cy="224028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7C7E88-B3CB-132E-F185-3689B8956A25}"/>
              </a:ext>
            </a:extLst>
          </p:cNvPr>
          <p:cNvSpPr txBox="1"/>
          <p:nvPr/>
        </p:nvSpPr>
        <p:spPr>
          <a:xfrm>
            <a:off x="6309360" y="1280160"/>
            <a:ext cx="534924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300" b="1">
                <a:solidFill>
                  <a:srgbClr val="1E6C93"/>
                </a:solidFill>
                <a:latin typeface="Calibri"/>
              </a:rPr>
              <a:t>Defensible Adjusted Views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51060F-60B1-E570-190C-207D66616BE6}"/>
              </a:ext>
            </a:extLst>
          </p:cNvPr>
          <p:cNvSpPr/>
          <p:nvPr/>
        </p:nvSpPr>
        <p:spPr>
          <a:xfrm>
            <a:off x="6263640" y="1627632"/>
            <a:ext cx="5212080" cy="292608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23B4F4-8A02-3672-6D15-CEA5419B64EC}"/>
              </a:ext>
            </a:extLst>
          </p:cNvPr>
          <p:cNvSpPr txBox="1"/>
          <p:nvPr/>
        </p:nvSpPr>
        <p:spPr>
          <a:xfrm>
            <a:off x="6355080" y="1664208"/>
            <a:ext cx="347472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3982A2-C949-E0CE-188C-B6C9190E10BA}"/>
              </a:ext>
            </a:extLst>
          </p:cNvPr>
          <p:cNvSpPr txBox="1"/>
          <p:nvPr/>
        </p:nvSpPr>
        <p:spPr>
          <a:xfrm>
            <a:off x="973836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2B699-8FE6-57DA-FFC4-840D6C595690}"/>
              </a:ext>
            </a:extLst>
          </p:cNvPr>
          <p:cNvSpPr txBox="1"/>
          <p:nvPr/>
        </p:nvSpPr>
        <p:spPr>
          <a:xfrm>
            <a:off x="10607040" y="1664208"/>
            <a:ext cx="868680" cy="228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5652EC-4066-41E5-1962-2A3A89EE1A55}"/>
              </a:ext>
            </a:extLst>
          </p:cNvPr>
          <p:cNvSpPr/>
          <p:nvPr/>
        </p:nvSpPr>
        <p:spPr>
          <a:xfrm>
            <a:off x="6263640" y="1920240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556E89-9F3C-23B8-0EF9-7172574E8A72}"/>
              </a:ext>
            </a:extLst>
          </p:cNvPr>
          <p:cNvSpPr txBox="1"/>
          <p:nvPr/>
        </p:nvSpPr>
        <p:spPr>
          <a:xfrm>
            <a:off x="6355080" y="1975104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Audit baseline (no adjustment)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2CE601-168C-754A-9EAF-9DB559B92772}"/>
              </a:ext>
            </a:extLst>
          </p:cNvPr>
          <p:cNvSpPr txBox="1"/>
          <p:nvPr/>
        </p:nvSpPr>
        <p:spPr>
          <a:xfrm>
            <a:off x="973836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73.3%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AC8AE4-CA99-81CB-4E84-AC1EDE676FF4}"/>
              </a:ext>
            </a:extLst>
          </p:cNvPr>
          <p:cNvSpPr txBox="1"/>
          <p:nvPr/>
        </p:nvSpPr>
        <p:spPr>
          <a:xfrm>
            <a:off x="10607040" y="1975104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63.3%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193F9-0D1C-9567-F34C-F5DCEAF6EBAD}"/>
              </a:ext>
            </a:extLst>
          </p:cNvPr>
          <p:cNvSpPr/>
          <p:nvPr/>
        </p:nvSpPr>
        <p:spPr>
          <a:xfrm>
            <a:off x="6263640" y="2313432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50F3D4-4206-B251-C85F-28B3420401A7}"/>
              </a:ext>
            </a:extLst>
          </p:cNvPr>
          <p:cNvSpPr txBox="1"/>
          <p:nvPr/>
        </p:nvSpPr>
        <p:spPr>
          <a:xfrm>
            <a:off x="6355080" y="2368296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Excluding 5 neonates (out-of-scope)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FF14CC-CD8B-4CDF-0DDB-349AA4F969E0}"/>
              </a:ext>
            </a:extLst>
          </p:cNvPr>
          <p:cNvSpPr txBox="1"/>
          <p:nvPr/>
        </p:nvSpPr>
        <p:spPr>
          <a:xfrm>
            <a:off x="973836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75.9%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184291-6762-3768-32F1-6FC72CC1447D}"/>
              </a:ext>
            </a:extLst>
          </p:cNvPr>
          <p:cNvSpPr txBox="1"/>
          <p:nvPr/>
        </p:nvSpPr>
        <p:spPr>
          <a:xfrm>
            <a:off x="10607040" y="2368296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64.3%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5CC5B9-B7AD-A288-2802-B6D0C9F595C3}"/>
              </a:ext>
            </a:extLst>
          </p:cNvPr>
          <p:cNvSpPr/>
          <p:nvPr/>
        </p:nvSpPr>
        <p:spPr>
          <a:xfrm>
            <a:off x="6263640" y="2706624"/>
            <a:ext cx="5212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D25D44-E424-E4C2-6014-B7140F16D3ED}"/>
              </a:ext>
            </a:extLst>
          </p:cNvPr>
          <p:cNvSpPr txBox="1"/>
          <p:nvPr/>
        </p:nvSpPr>
        <p:spPr>
          <a:xfrm>
            <a:off x="6355080" y="2761488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0">
                <a:solidFill>
                  <a:srgbClr val="1F2F3F"/>
                </a:solidFill>
                <a:latin typeface="Calibri"/>
              </a:rPr>
              <a:t>+ Reclassify 5 hidden-TP FPs as justifiable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AA30D5-0101-8B5E-09F8-9CFE342F94B6}"/>
              </a:ext>
            </a:extLst>
          </p:cNvPr>
          <p:cNvSpPr txBox="1"/>
          <p:nvPr/>
        </p:nvSpPr>
        <p:spPr>
          <a:xfrm>
            <a:off x="973836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~76%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B7B707-20CF-B559-AC2F-EFA3AE08E821}"/>
              </a:ext>
            </a:extLst>
          </p:cNvPr>
          <p:cNvSpPr txBox="1"/>
          <p:nvPr/>
        </p:nvSpPr>
        <p:spPr>
          <a:xfrm>
            <a:off x="10607040" y="2761488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1F2F3F"/>
                </a:solidFill>
                <a:latin typeface="Calibri"/>
              </a:rPr>
              <a:t>~73%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61D05D8-4DAF-68CD-B3D8-8026220D6C25}"/>
              </a:ext>
            </a:extLst>
          </p:cNvPr>
          <p:cNvSpPr/>
          <p:nvPr/>
        </p:nvSpPr>
        <p:spPr>
          <a:xfrm>
            <a:off x="6263640" y="3099816"/>
            <a:ext cx="5212080" cy="393192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44090E-FAA3-7CA8-C517-B2C96440D420}"/>
              </a:ext>
            </a:extLst>
          </p:cNvPr>
          <p:cNvSpPr txBox="1"/>
          <p:nvPr/>
        </p:nvSpPr>
        <p:spPr>
          <a:xfrm>
            <a:off x="6355080" y="3154680"/>
            <a:ext cx="347472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Production projection (BP/Lactate available)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51D4E2-CD38-5C0A-6D29-6CA7345E8527}"/>
              </a:ext>
            </a:extLst>
          </p:cNvPr>
          <p:cNvSpPr txBox="1"/>
          <p:nvPr/>
        </p:nvSpPr>
        <p:spPr>
          <a:xfrm>
            <a:off x="973836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85-90%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CE11D3-1187-EF25-E0BA-405D7E180CA7}"/>
              </a:ext>
            </a:extLst>
          </p:cNvPr>
          <p:cNvSpPr txBox="1"/>
          <p:nvPr/>
        </p:nvSpPr>
        <p:spPr>
          <a:xfrm>
            <a:off x="10607040" y="3154680"/>
            <a:ext cx="868680" cy="301751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70-75%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FE7C8A-892F-2BB2-AA5F-24D0931500D3}"/>
              </a:ext>
            </a:extLst>
          </p:cNvPr>
          <p:cNvSpPr/>
          <p:nvPr/>
        </p:nvSpPr>
        <p:spPr>
          <a:xfrm>
            <a:off x="54864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E262FC-3D4F-67EF-4266-F15693455EA8}"/>
              </a:ext>
            </a:extLst>
          </p:cNvPr>
          <p:cNvSpPr/>
          <p:nvPr/>
        </p:nvSpPr>
        <p:spPr>
          <a:xfrm>
            <a:off x="548640" y="3584448"/>
            <a:ext cx="91440" cy="2834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8CA43D-AA0D-DD37-6790-A5F67136F49D}"/>
              </a:ext>
            </a:extLst>
          </p:cNvPr>
          <p:cNvSpPr txBox="1"/>
          <p:nvPr/>
        </p:nvSpPr>
        <p:spPr>
          <a:xfrm>
            <a:off x="73152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C62828"/>
                </a:solidFill>
                <a:latin typeface="Calibri"/>
              </a:rPr>
              <a:t>What pulls the score down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E5E894-7C7E-5F85-A7BB-382B79F5BDFB}"/>
              </a:ext>
            </a:extLst>
          </p:cNvPr>
          <p:cNvSpPr txBox="1"/>
          <p:nvPr/>
        </p:nvSpPr>
        <p:spPr>
          <a:xfrm>
            <a:off x="73152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Missing BP + Lactate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381FC9-7015-CDFB-9FEC-0373EC4D1C12}"/>
              </a:ext>
            </a:extLst>
          </p:cNvPr>
          <p:cNvSpPr txBox="1"/>
          <p:nvPr/>
        </p:nvSpPr>
        <p:spPr>
          <a:xfrm>
            <a:off x="91440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8 / 8 false negatives — 100%; LLM stays cautious without anchors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DBEA0A-AF78-F349-E90D-3FB10DA9348A}"/>
              </a:ext>
            </a:extLst>
          </p:cNvPr>
          <p:cNvSpPr txBox="1"/>
          <p:nvPr/>
        </p:nvSpPr>
        <p:spPr>
          <a:xfrm>
            <a:off x="73152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Neonates with adult thresholds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5C5B25-E0F7-5723-6DF0-4FC9B3650104}"/>
              </a:ext>
            </a:extLst>
          </p:cNvPr>
          <p:cNvSpPr txBox="1"/>
          <p:nvPr/>
        </p:nvSpPr>
        <p:spPr>
          <a:xfrm>
            <a:off x="91440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5 of 90 patients age=0; 1 FN, 2 FP, 2 TN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863EB7-1DA4-48B7-8FD9-6DC2D1FB9F95}"/>
              </a:ext>
            </a:extLst>
          </p:cNvPr>
          <p:cNvSpPr txBox="1"/>
          <p:nvPr/>
        </p:nvSpPr>
        <p:spPr>
          <a:xfrm>
            <a:off x="73152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Protocol context invisible to guardrail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F41D96-D18F-C93B-FC6E-5AE28BEA46CC}"/>
              </a:ext>
            </a:extLst>
          </p:cNvPr>
          <p:cNvSpPr txBox="1"/>
          <p:nvPr/>
        </p:nvSpPr>
        <p:spPr>
          <a:xfrm>
            <a:off x="91440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Therapeutic hypothermia, post-arrest patients flagged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FBEC8D-CBE6-FD59-7610-457431FF1F24}"/>
              </a:ext>
            </a:extLst>
          </p:cNvPr>
          <p:cNvSpPr txBox="1"/>
          <p:nvPr/>
        </p:nvSpPr>
        <p:spPr>
          <a:xfrm>
            <a:off x="73152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ICU patients are SIRS-prone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CE47A1-050C-51D6-27D1-58441479B8A3}"/>
              </a:ext>
            </a:extLst>
          </p:cNvPr>
          <p:cNvSpPr txBox="1"/>
          <p:nvPr/>
        </p:nvSpPr>
        <p:spPr>
          <a:xfrm>
            <a:off x="91440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12 of 22 FPs are post-op / COPD meeting 2-of-4 SIRS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21E8BF-3D17-0C63-27DF-269AAE04A7B4}"/>
              </a:ext>
            </a:extLst>
          </p:cNvPr>
          <p:cNvSpPr txBox="1"/>
          <p:nvPr/>
        </p:nvSpPr>
        <p:spPr>
          <a:xfrm>
            <a:off x="73152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ICD-9 sepsis labels (vs Sepsis-3)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1F8D5B-0DCE-BBFA-4595-6F3F59A274AC}"/>
              </a:ext>
            </a:extLst>
          </p:cNvPr>
          <p:cNvSpPr txBox="1"/>
          <p:nvPr/>
        </p:nvSpPr>
        <p:spPr>
          <a:xfrm>
            <a:off x="91440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Some "controls" may be undocumented sepsis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F123E6A-3686-9AC0-638A-E3270ADFF739}"/>
              </a:ext>
            </a:extLst>
          </p:cNvPr>
          <p:cNvSpPr/>
          <p:nvPr/>
        </p:nvSpPr>
        <p:spPr>
          <a:xfrm>
            <a:off x="438912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31AB954-4632-FC1F-191D-70A4698DB6C7}"/>
              </a:ext>
            </a:extLst>
          </p:cNvPr>
          <p:cNvSpPr/>
          <p:nvPr/>
        </p:nvSpPr>
        <p:spPr>
          <a:xfrm>
            <a:off x="4389120" y="3584448"/>
            <a:ext cx="91440" cy="2834640"/>
          </a:xfrm>
          <a:prstGeom prst="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7DC7AF-2FD2-086B-58C1-B3717FC81764}"/>
              </a:ext>
            </a:extLst>
          </p:cNvPr>
          <p:cNvSpPr txBox="1"/>
          <p:nvPr/>
        </p:nvSpPr>
        <p:spPr>
          <a:xfrm>
            <a:off x="457200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1E6C93"/>
                </a:solidFill>
                <a:latin typeface="Calibri"/>
              </a:rPr>
              <a:t>Data Quality — what we hit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EF307E-862F-5642-7F14-3E197667E009}"/>
              </a:ext>
            </a:extLst>
          </p:cNvPr>
          <p:cNvSpPr txBox="1"/>
          <p:nvPr/>
        </p:nvSpPr>
        <p:spPr>
          <a:xfrm>
            <a:off x="4585716" y="4059936"/>
            <a:ext cx="3383280" cy="1902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Missin</a:t>
            </a:r>
            <a:r>
              <a:rPr lang="en-US" sz="1000" b="1" dirty="0" err="1">
                <a:solidFill>
                  <a:srgbClr val="1F2F3F"/>
                </a:solidFill>
                <a:latin typeface="Calibri"/>
              </a:rPr>
              <a:t>z</a:t>
            </a:r>
            <a:r>
              <a:rPr sz="1000" b="1" dirty="0" err="1">
                <a:solidFill>
                  <a:srgbClr val="1F2F3F"/>
                </a:solidFill>
                <a:latin typeface="Calibri"/>
              </a:rPr>
              <a:t>g</a:t>
            </a:r>
            <a:r>
              <a:rPr sz="1000" b="1" dirty="0">
                <a:solidFill>
                  <a:srgbClr val="1F2F3F"/>
                </a:solidFill>
                <a:latin typeface="Calibri"/>
              </a:rPr>
              <a:t> BP / Lactate per patient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A50CB4-FA68-9C17-89D3-E17DC0C82C64}"/>
              </a:ext>
            </a:extLst>
          </p:cNvPr>
          <p:cNvSpPr txBox="1"/>
          <p:nvPr/>
        </p:nvSpPr>
        <p:spPr>
          <a:xfrm>
            <a:off x="4768596" y="42611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Drives every FN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834B39-76F0-CE2F-7EE6-A754688A0CEF}"/>
              </a:ext>
            </a:extLst>
          </p:cNvPr>
          <p:cNvSpPr txBox="1"/>
          <p:nvPr/>
        </p:nvSpPr>
        <p:spPr>
          <a:xfrm>
            <a:off x="4768596" y="43891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 dirty="0">
                <a:solidFill>
                  <a:srgbClr val="E65C00"/>
                </a:solidFill>
                <a:latin typeface="Calibri"/>
              </a:rPr>
              <a:t>◯ Open — production data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06A7F7-5BBC-D63F-D6F1-2D244D873F8C}"/>
              </a:ext>
            </a:extLst>
          </p:cNvPr>
          <p:cNvSpPr txBox="1"/>
          <p:nvPr/>
        </p:nvSpPr>
        <p:spPr>
          <a:xfrm>
            <a:off x="4585716" y="45171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 dirty="0">
                <a:solidFill>
                  <a:srgbClr val="1F2F3F"/>
                </a:solidFill>
                <a:latin typeface="Calibri"/>
              </a:rPr>
              <a:t>•  Neonates included (age=0)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F5CCEF-4290-F960-837C-22AF8C5478AC}"/>
              </a:ext>
            </a:extLst>
          </p:cNvPr>
          <p:cNvSpPr txBox="1"/>
          <p:nvPr/>
        </p:nvSpPr>
        <p:spPr>
          <a:xfrm>
            <a:off x="4768596" y="47183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 dirty="0">
                <a:solidFill>
                  <a:srgbClr val="556677"/>
                </a:solidFill>
                <a:latin typeface="Calibri"/>
              </a:rPr>
              <a:t>Adult thresholds inappropriate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C4DF33-9E97-24CE-B6B7-763CB65F239C}"/>
              </a:ext>
            </a:extLst>
          </p:cNvPr>
          <p:cNvSpPr txBox="1"/>
          <p:nvPr/>
        </p:nvSpPr>
        <p:spPr>
          <a:xfrm>
            <a:off x="4768596" y="48463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Calibri"/>
              </a:rPr>
              <a:t>✓ Excluded in adjusted view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0EA5D0-69E1-8379-902A-093A4EE6D4DD}"/>
              </a:ext>
            </a:extLst>
          </p:cNvPr>
          <p:cNvSpPr txBox="1"/>
          <p:nvPr/>
        </p:nvSpPr>
        <p:spPr>
          <a:xfrm>
            <a:off x="4585716" y="4974336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Note sparsity (17% &lt; 200 chars)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15D95D-9405-195A-33ED-8D3778CDD3DB}"/>
              </a:ext>
            </a:extLst>
          </p:cNvPr>
          <p:cNvSpPr txBox="1"/>
          <p:nvPr/>
        </p:nvSpPr>
        <p:spPr>
          <a:xfrm>
            <a:off x="4768596" y="5175504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Reduces signal for those patients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44548F-6818-63A2-DA06-14777303A2A9}"/>
              </a:ext>
            </a:extLst>
          </p:cNvPr>
          <p:cNvSpPr txBox="1"/>
          <p:nvPr/>
        </p:nvSpPr>
        <p:spPr>
          <a:xfrm>
            <a:off x="4768596" y="5303520"/>
            <a:ext cx="3200400" cy="146304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1">
                <a:solidFill>
                  <a:srgbClr val="E65C00"/>
                </a:solidFill>
                <a:latin typeface="Calibri"/>
              </a:rPr>
              <a:t>◯ Tolerable for now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1A9E29A-1C49-684D-82ED-C5F403EFF89D}"/>
              </a:ext>
            </a:extLst>
          </p:cNvPr>
          <p:cNvSpPr/>
          <p:nvPr/>
        </p:nvSpPr>
        <p:spPr>
          <a:xfrm>
            <a:off x="8229600" y="3584448"/>
            <a:ext cx="3657600" cy="28346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F8BFBB2-A51F-0B55-049A-99883E82CA16}"/>
              </a:ext>
            </a:extLst>
          </p:cNvPr>
          <p:cNvSpPr/>
          <p:nvPr/>
        </p:nvSpPr>
        <p:spPr>
          <a:xfrm>
            <a:off x="8229600" y="3584448"/>
            <a:ext cx="91440" cy="2834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D58EB18-EF2E-774B-D401-54FC39CCB460}"/>
              </a:ext>
            </a:extLst>
          </p:cNvPr>
          <p:cNvSpPr txBox="1"/>
          <p:nvPr/>
        </p:nvSpPr>
        <p:spPr>
          <a:xfrm>
            <a:off x="8412480" y="3657600"/>
            <a:ext cx="3383280" cy="2743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Calibri"/>
              </a:rPr>
              <a:t>Levers to push it further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29CB87-43B6-226B-A14A-60E60F72B3BE}"/>
              </a:ext>
            </a:extLst>
          </p:cNvPr>
          <p:cNvSpPr txBox="1"/>
          <p:nvPr/>
        </p:nvSpPr>
        <p:spPr>
          <a:xfrm>
            <a:off x="8412480" y="39959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Native EHR vitals (BP / MAP / Lactate)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98B3A2-3886-57B1-9C97-4454251BF0AF}"/>
              </a:ext>
            </a:extLst>
          </p:cNvPr>
          <p:cNvSpPr txBox="1"/>
          <p:nvPr/>
        </p:nvSpPr>
        <p:spPr>
          <a:xfrm>
            <a:off x="8595360" y="41970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Resolves dominant FN cause; +10-15 sens points expected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F3BC7F-47A7-46FB-117E-62930185B07F}"/>
              </a:ext>
            </a:extLst>
          </p:cNvPr>
          <p:cNvSpPr txBox="1"/>
          <p:nvPr/>
        </p:nvSpPr>
        <p:spPr>
          <a:xfrm>
            <a:off x="8412480" y="44531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Real MD notes &amp; discharge summaries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AAC3A0-18C5-6B6C-016A-46E52D2432D7}"/>
              </a:ext>
            </a:extLst>
          </p:cNvPr>
          <p:cNvSpPr txBox="1"/>
          <p:nvPr/>
        </p:nvSpPr>
        <p:spPr>
          <a:xfrm>
            <a:off x="8595360" y="46542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Captures clinical workup signals (cultures, antibiotics ordered)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54B3FE-5F63-A992-2831-20802706C194}"/>
              </a:ext>
            </a:extLst>
          </p:cNvPr>
          <p:cNvSpPr txBox="1"/>
          <p:nvPr/>
        </p:nvSpPr>
        <p:spPr>
          <a:xfrm>
            <a:off x="8412480" y="49103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Pediatric thresholds (pSOFA, age-bands)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4062506-C273-704E-8389-0FD437A81326}"/>
              </a:ext>
            </a:extLst>
          </p:cNvPr>
          <p:cNvSpPr txBox="1"/>
          <p:nvPr/>
        </p:nvSpPr>
        <p:spPr>
          <a:xfrm>
            <a:off x="8595360" y="51114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Roadmap U16 — removes neonate confound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103A1F9-8616-C244-B934-EF6AD21E1FC0}"/>
              </a:ext>
            </a:extLst>
          </p:cNvPr>
          <p:cNvSpPr txBox="1"/>
          <p:nvPr/>
        </p:nvSpPr>
        <p:spPr>
          <a:xfrm>
            <a:off x="8412480" y="53675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Sepsis-3 derivation for ground truth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88C950-ECC5-238E-8EB5-AB52CF235F2E}"/>
              </a:ext>
            </a:extLst>
          </p:cNvPr>
          <p:cNvSpPr txBox="1"/>
          <p:nvPr/>
        </p:nvSpPr>
        <p:spPr>
          <a:xfrm>
            <a:off x="8595360" y="55686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Eliminates ICD-9 "missed coding" controls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87D441-31BD-C810-9D35-7A4F97EB55AD}"/>
              </a:ext>
            </a:extLst>
          </p:cNvPr>
          <p:cNvSpPr txBox="1"/>
          <p:nvPr/>
        </p:nvSpPr>
        <p:spPr>
          <a:xfrm>
            <a:off x="8412480" y="5824728"/>
            <a:ext cx="3383280" cy="20116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000" b="1">
                <a:solidFill>
                  <a:srgbClr val="1F2F3F"/>
                </a:solidFill>
                <a:latin typeface="Calibri"/>
              </a:rPr>
              <a:t>•  Larger n (300+) for tight CIs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CEBFCAC-2FFE-2DD9-34D1-2E80928A4600}"/>
              </a:ext>
            </a:extLst>
          </p:cNvPr>
          <p:cNvSpPr txBox="1"/>
          <p:nvPr/>
        </p:nvSpPr>
        <p:spPr>
          <a:xfrm>
            <a:off x="8595360" y="6025896"/>
            <a:ext cx="3200400" cy="292608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Halves the ±15-pt confidence intervals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66D7AFC-82B4-635D-D5B8-7A79CA41D45E}"/>
              </a:ext>
            </a:extLst>
          </p:cNvPr>
          <p:cNvSpPr/>
          <p:nvPr/>
        </p:nvSpPr>
        <p:spPr>
          <a:xfrm>
            <a:off x="731520" y="6355080"/>
            <a:ext cx="10972800" cy="256032"/>
          </a:xfrm>
          <a:prstGeom prst="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1088AA-0C18-B292-6636-334F59C1E85B}"/>
              </a:ext>
            </a:extLst>
          </p:cNvPr>
          <p:cNvSpPr txBox="1"/>
          <p:nvPr/>
        </p:nvSpPr>
        <p:spPr>
          <a:xfrm>
            <a:off x="457200" y="6629400"/>
            <a:ext cx="3657600" cy="1828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900" b="0">
                <a:solidFill>
                  <a:srgbClr val="556677"/>
                </a:solidFill>
                <a:latin typeface="Calibri"/>
              </a:rPr>
              <a:t>Sepsis GenAI  |  Medbeacon</a:t>
            </a:r>
          </a:p>
        </p:txBody>
      </p:sp>
    </p:spTree>
    <p:extLst>
      <p:ext uri="{BB962C8B-B14F-4D97-AF65-F5344CB8AC3E}">
        <p14:creationId xmlns:p14="http://schemas.microsoft.com/office/powerpoint/2010/main" val="97536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27371</TotalTime>
  <Words>3837</Words>
  <Application>Microsoft Macintosh PowerPoint</Application>
  <PresentationFormat>Widescreen</PresentationFormat>
  <Paragraphs>638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-apple-system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45</cp:revision>
  <dcterms:created xsi:type="dcterms:W3CDTF">2013-01-27T09:14:16Z</dcterms:created>
  <dcterms:modified xsi:type="dcterms:W3CDTF">2026-05-07T02:42:47Z</dcterms:modified>
  <cp:category/>
</cp:coreProperties>
</file>
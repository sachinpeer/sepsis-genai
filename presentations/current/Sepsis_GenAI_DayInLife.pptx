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  <a:latin typeface="Calibri"/>
              </a:defRPr>
            </a:pPr>
            <a:r>
              <a:t>HOW GENAI HELPS DRS. TO SAVE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An early warning Sepsis GenAI system, demystifying technical details to simplify for an ordinary, non-technical audience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868680"/>
            <a:ext cx="7589520" cy="36576"/>
          </a:xfrm>
          <a:prstGeom prst="rect">
            <a:avLst/>
          </a:prstGeom>
          <a:solidFill>
            <a:srgbClr val="E8C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1481328" cy="274320"/>
          </a:xfrm>
          <a:prstGeom prst="roundRect">
            <a:avLst/>
          </a:prstGeom>
          <a:solidFill>
            <a:srgbClr val="A8C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69848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5:55 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1481328" cy="2926079"/>
          </a:xfrm>
          <a:prstGeom prst="roundRect">
            <a:avLst/>
          </a:prstGeom>
          <a:solidFill>
            <a:srgbClr val="E8F0E4"/>
          </a:solidFill>
          <a:ln w="19050">
            <a:solidFill>
              <a:srgbClr val="A8C6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3524" y="146303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2057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8C69F"/>
                </a:solidFill>
                <a:latin typeface="Calibri"/>
              </a:defRPr>
            </a:pPr>
            <a:r>
              <a:t>WAKES UP</a:t>
            </a:r>
            <a:br/>
            <a:r>
              <a:t>&amp; BEGINS</a:t>
            </a:r>
            <a:br/>
            <a:r>
              <a:t>CONSTANT</a:t>
            </a:r>
            <a:br/>
            <a:r>
              <a:t>SCANNING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743200"/>
            <a:ext cx="1207008" cy="18288"/>
          </a:xfrm>
          <a:prstGeom prst="rect">
            <a:avLst/>
          </a:prstGeom>
          <a:solidFill>
            <a:srgbClr val="A8C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2834639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A6A"/>
                </a:solidFill>
                <a:latin typeface="Calibri"/>
              </a:defRPr>
            </a:pPr>
            <a:r>
              <a:t>System monitors</a:t>
            </a:r>
            <a:br/>
            <a:r>
              <a:t>all patients</a:t>
            </a:r>
            <a:br/>
            <a:r>
              <a:t>automatically</a:t>
            </a:r>
            <a:br/>
            <a:r>
              <a:t>every 5 minutes.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764792" y="2697480"/>
            <a:ext cx="109728" cy="164592"/>
          </a:xfrm>
          <a:prstGeom prst="rightArrow">
            <a:avLst/>
          </a:prstGeom>
          <a:solidFill>
            <a:srgbClr val="A8C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92807" y="1051560"/>
            <a:ext cx="1481328" cy="274320"/>
          </a:xfrm>
          <a:prstGeom prst="roundRect">
            <a:avLst/>
          </a:prstGeom>
          <a:solidFill>
            <a:srgbClr val="E8C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92807" y="1069848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7:30 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92807" y="1371600"/>
            <a:ext cx="1481328" cy="2926079"/>
          </a:xfrm>
          <a:prstGeom prst="roundRect">
            <a:avLst/>
          </a:prstGeom>
          <a:solidFill>
            <a:srgbClr val="FBF3DB"/>
          </a:solidFill>
          <a:ln w="19050">
            <a:solidFill>
              <a:srgbClr val="E8C5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82012" y="146303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00300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7672" y="2057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C56D"/>
                </a:solidFill>
                <a:latin typeface="Calibri"/>
              </a:defRPr>
            </a:pPr>
            <a:r>
              <a:t>UNCOVERING</a:t>
            </a:r>
            <a:br/>
            <a:r>
              <a:t>THE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9967" y="2743200"/>
            <a:ext cx="1207008" cy="18288"/>
          </a:xfrm>
          <a:prstGeom prst="rect">
            <a:avLst/>
          </a:prstGeom>
          <a:solidFill>
            <a:srgbClr val="E8C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47672" y="2834639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A6A"/>
                </a:solidFill>
                <a:latin typeface="Calibri"/>
              </a:defRPr>
            </a:pPr>
            <a:r>
              <a:t>HEART PATTERN</a:t>
            </a:r>
            <a:br/>
            <a:r>
              <a:t>CHANGE (HR 105)</a:t>
            </a:r>
            <a:br/>
            <a:br/>
            <a:r>
              <a:t>BP CHANGE</a:t>
            </a:r>
            <a:br/>
            <a:r>
              <a:t>(BP 98)</a:t>
            </a:r>
            <a:br/>
            <a:br/>
            <a:r>
              <a:t>NURSE CONCERN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383279" y="2697480"/>
            <a:ext cx="109728" cy="164592"/>
          </a:xfrm>
          <a:prstGeom prst="rightArrow">
            <a:avLst/>
          </a:prstGeom>
          <a:solidFill>
            <a:srgbClr val="E8C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11296" y="1051560"/>
            <a:ext cx="1481328" cy="274320"/>
          </a:xfrm>
          <a:prstGeom prst="roundRect">
            <a:avLst/>
          </a:prstGeom>
          <a:solidFill>
            <a:srgbClr val="9B8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1296" y="1069848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9:00 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11296" y="1371600"/>
            <a:ext cx="1481328" cy="2926079"/>
          </a:xfrm>
          <a:prstGeom prst="roundRect">
            <a:avLst/>
          </a:prstGeom>
          <a:solidFill>
            <a:srgbClr val="ECE8F6"/>
          </a:solidFill>
          <a:ln w="19050">
            <a:solidFill>
              <a:srgbClr val="9B8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00500" y="146303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18787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2057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B8EC7"/>
                </a:solidFill>
                <a:latin typeface="Calibri"/>
              </a:defRPr>
            </a:pPr>
            <a:r>
              <a:t>INTELLIGENT</a:t>
            </a:r>
            <a:br/>
            <a:r>
              <a:t>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48456" y="2743200"/>
            <a:ext cx="1207008" cy="18288"/>
          </a:xfrm>
          <a:prstGeom prst="rect">
            <a:avLst/>
          </a:prstGeom>
          <a:solidFill>
            <a:srgbClr val="9B8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39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A6A"/>
                </a:solidFill>
                <a:latin typeface="Calibri"/>
              </a:defRPr>
            </a:pPr>
            <a:r>
              <a:t>GenAI analyzes</a:t>
            </a:r>
            <a:br/>
            <a:r>
              <a:t>the whole picture.</a:t>
            </a:r>
            <a:br/>
            <a:br/>
            <a:r>
              <a:t>Finds the 'concerning'</a:t>
            </a:r>
            <a:br/>
            <a:r>
              <a:t>truth beyond</a:t>
            </a:r>
            <a:br/>
            <a:r>
              <a:t>borderline numbers.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001768" y="2697480"/>
            <a:ext cx="109728" cy="164592"/>
          </a:xfrm>
          <a:prstGeom prst="rightArrow">
            <a:avLst/>
          </a:prstGeom>
          <a:solidFill>
            <a:srgbClr val="9B8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29784" y="1051560"/>
            <a:ext cx="1481328" cy="274320"/>
          </a:xfrm>
          <a:prstGeom prst="roundRect">
            <a:avLst/>
          </a:prstGeom>
          <a:solidFill>
            <a:srgbClr val="E0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9784" y="1069848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10:00 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9784" y="1371600"/>
            <a:ext cx="1481328" cy="2926079"/>
          </a:xfrm>
          <a:prstGeom prst="roundRect">
            <a:avLst/>
          </a:prstGeom>
          <a:solidFill>
            <a:srgbClr val="FCE8E4"/>
          </a:solidFill>
          <a:ln w="19050">
            <a:solidFill>
              <a:srgbClr val="E06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18988" y="146303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7276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  <a:latin typeface="Calibri"/>
              </a:defRPr>
            </a:pPr>
            <a:r>
              <a:t>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2057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06C5C"/>
                </a:solidFill>
                <a:latin typeface="Calibri"/>
              </a:defRPr>
            </a:pPr>
            <a:r>
              <a:t>HIGH-PRIORITY</a:t>
            </a:r>
            <a:br/>
            <a:r>
              <a:t>ALERT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66944" y="2743200"/>
            <a:ext cx="1207008" cy="1828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84648" y="2834639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A6A"/>
                </a:solidFill>
                <a:latin typeface="Calibri"/>
              </a:defRPr>
            </a:pPr>
            <a:r>
              <a:t>Risk is very high.</a:t>
            </a:r>
            <a:br/>
            <a:br/>
            <a:r>
              <a:t>⚠️ HIGH-PRIORITY</a:t>
            </a:r>
            <a:br/>
            <a:r>
              <a:t>ALERT</a:t>
            </a:r>
            <a:br/>
            <a:br/>
            <a:r>
              <a:t>Doctor notified</a:t>
            </a:r>
            <a:br/>
            <a:r>
              <a:t>immediately.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620256" y="2697480"/>
            <a:ext cx="109728" cy="164592"/>
          </a:xfrm>
          <a:prstGeom prst="rightArrow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748272" y="1051560"/>
            <a:ext cx="1481328" cy="274320"/>
          </a:xfrm>
          <a:prstGeom prst="roundRect">
            <a:avLst/>
          </a:prstGeom>
          <a:solidFill>
            <a:srgbClr val="6BB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2" y="1069848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10:30 AM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48272" y="1371600"/>
            <a:ext cx="1481328" cy="2926079"/>
          </a:xfrm>
          <a:prstGeom prst="roundRect">
            <a:avLst/>
          </a:prstGeom>
          <a:solidFill>
            <a:srgbClr val="E0F0F7"/>
          </a:solidFill>
          <a:ln w="19050">
            <a:solidFill>
              <a:srgbClr val="6B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237476" y="146303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55764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  <a:latin typeface="Calibri"/>
              </a:defRPr>
            </a:pPr>
            <a:r>
              <a:t>👩‍⚕️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03136" y="2057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B3D0"/>
                </a:solidFill>
                <a:latin typeface="Calibri"/>
              </a:defRPr>
            </a:pPr>
            <a:r>
              <a:t>DR. PRIYA</a:t>
            </a:r>
            <a:br/>
            <a:r>
              <a:t>REVIEWS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85432" y="2743200"/>
            <a:ext cx="1207008" cy="18288"/>
          </a:xfrm>
          <a:prstGeom prst="rect">
            <a:avLst/>
          </a:prstGeom>
          <a:solidFill>
            <a:srgbClr val="6BB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03136" y="2834639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A6A"/>
                </a:solidFill>
                <a:latin typeface="Calibri"/>
              </a:defRPr>
            </a:pPr>
            <a:r>
              <a:t>Reviews and agrees</a:t>
            </a:r>
            <a:br/>
            <a:r>
              <a:t>with GenAI's plan.</a:t>
            </a:r>
            <a:br/>
            <a:br/>
            <a:r>
              <a:t>✅  Agreement</a:t>
            </a:r>
            <a:br/>
            <a:br/>
            <a:r>
              <a:t>SIRS/SOFA</a:t>
            </a:r>
            <a:br/>
            <a:r>
              <a:t>4  3  3  4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238744" y="2697480"/>
            <a:ext cx="109728" cy="164592"/>
          </a:xfrm>
          <a:prstGeom prst="rightArrow">
            <a:avLst/>
          </a:prstGeom>
          <a:solidFill>
            <a:srgbClr val="6BB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366760" y="1051560"/>
            <a:ext cx="1481328" cy="274320"/>
          </a:xfrm>
          <a:prstGeom prst="roundRect">
            <a:avLst/>
          </a:prstGeom>
          <a:solidFill>
            <a:srgbClr val="4EA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069848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11:00 AM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66760" y="1371600"/>
            <a:ext cx="1481328" cy="2926079"/>
          </a:xfrm>
          <a:prstGeom prst="roundRect">
            <a:avLst/>
          </a:prstGeom>
          <a:solidFill>
            <a:srgbClr val="DEF0EB"/>
          </a:solidFill>
          <a:ln w="19050">
            <a:solidFill>
              <a:srgbClr val="4EA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855964" y="146303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74252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  <a:latin typeface="Calibri"/>
              </a:defRPr>
            </a:pPr>
            <a:r>
              <a:t>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21624" y="2057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A88F"/>
                </a:solidFill>
                <a:latin typeface="Calibri"/>
              </a:defRPr>
            </a:pPr>
            <a:r>
              <a:t>EARLY</a:t>
            </a:r>
            <a:br/>
            <a:r>
              <a:t>INTERVENTION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2743200"/>
            <a:ext cx="1207008" cy="18288"/>
          </a:xfrm>
          <a:prstGeom prst="rect">
            <a:avLst/>
          </a:prstGeom>
          <a:solidFill>
            <a:srgbClr val="4E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21624" y="2834639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A6A"/>
                </a:solidFill>
                <a:latin typeface="Calibri"/>
              </a:defRPr>
            </a:pPr>
            <a:r>
              <a:t>Orders critical</a:t>
            </a:r>
            <a:br/>
            <a:r>
              <a:t>care immediately.</a:t>
            </a:r>
            <a:br/>
            <a:br/>
            <a:r>
              <a:t>Early intervention</a:t>
            </a:r>
            <a:br/>
            <a:r>
              <a:t>(HOURS saved).</a:t>
            </a:r>
            <a:br/>
            <a:br/>
            <a:r>
              <a:t>4 HOURS</a:t>
            </a:r>
            <a:br/>
            <a:r>
              <a:t>SAVED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9857232" y="2697480"/>
            <a:ext cx="109728" cy="164592"/>
          </a:xfrm>
          <a:prstGeom prst="rightArrow">
            <a:avLst/>
          </a:prstGeom>
          <a:solidFill>
            <a:srgbClr val="4E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985248" y="1051560"/>
            <a:ext cx="1481328" cy="27432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85248" y="1069848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12:00 PM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85248" y="1371600"/>
            <a:ext cx="1481328" cy="2926079"/>
          </a:xfrm>
          <a:prstGeom prst="roundRect">
            <a:avLst/>
          </a:prstGeom>
          <a:solidFill>
            <a:srgbClr val="E6F2D8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474452" y="146303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92740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  <a:latin typeface="Calibri"/>
              </a:defRPr>
            </a:pPr>
            <a:r>
              <a:t>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40112" y="2057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CB342"/>
                </a:solidFill>
                <a:latin typeface="Calibri"/>
              </a:defRPr>
            </a:pPr>
            <a:r>
              <a:t>PATIENT</a:t>
            </a:r>
            <a:br/>
            <a:r>
              <a:t>STABLE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22408" y="2743200"/>
            <a:ext cx="1207008" cy="18288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40112" y="2834639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5A6A"/>
                </a:solidFill>
                <a:latin typeface="Calibri"/>
              </a:defRPr>
            </a:pPr>
            <a:r>
              <a:t>Intervention</a:t>
            </a:r>
            <a:br/>
            <a:r>
              <a:t>prevented crisis.</a:t>
            </a:r>
            <a:br/>
            <a:br/>
            <a:r>
              <a:t>Patient recovers.</a:t>
            </a:r>
            <a:br/>
            <a:r>
              <a:t>Family relieved.</a:t>
            </a:r>
            <a:br/>
            <a:br/>
            <a:r>
              <a:t>✅ Life saved.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74320" y="4709160"/>
            <a:ext cx="11612880" cy="16459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7548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BEHIND THE SCENES: END-TO-END DATA FLOW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10031" y="5120640"/>
            <a:ext cx="117043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C6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0031" y="51663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5751" y="5504688"/>
            <a:ext cx="1078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8C69F"/>
                </a:solidFill>
                <a:latin typeface="Calibri"/>
              </a:defRPr>
            </a:pPr>
            <a:r>
              <a:t>Bedside</a:t>
            </a:r>
            <a:br/>
            <a:r>
              <a:t>Monitors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1898751" y="5468112"/>
            <a:ext cx="146304" cy="146304"/>
          </a:xfrm>
          <a:prstGeom prst="rightArrow">
            <a:avLst/>
          </a:prstGeom>
          <a:solidFill>
            <a:srgbClr val="A8C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2081631" y="5120640"/>
            <a:ext cx="117043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C5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81631" y="51663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27351" y="5504688"/>
            <a:ext cx="1078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C56D"/>
                </a:solidFill>
                <a:latin typeface="Calibri"/>
              </a:defRPr>
            </a:pPr>
            <a:r>
              <a:t>Hospital</a:t>
            </a:r>
            <a:br/>
            <a:r>
              <a:t>EHR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3270351" y="5468112"/>
            <a:ext cx="146304" cy="146304"/>
          </a:xfrm>
          <a:prstGeom prst="rightArrow">
            <a:avLst/>
          </a:prstGeom>
          <a:solidFill>
            <a:srgbClr val="E8C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453231" y="5120640"/>
            <a:ext cx="117043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453231" y="51663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98951" y="5504688"/>
            <a:ext cx="1078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B3D0"/>
                </a:solidFill>
                <a:latin typeface="Calibri"/>
              </a:defRPr>
            </a:pPr>
            <a:r>
              <a:t>Red Rover</a:t>
            </a:r>
            <a:br/>
            <a:r>
              <a:t>API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4641951" y="5468112"/>
            <a:ext cx="146304" cy="146304"/>
          </a:xfrm>
          <a:prstGeom prst="rightArrow">
            <a:avLst/>
          </a:prstGeom>
          <a:solidFill>
            <a:srgbClr val="6BB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824831" y="5120640"/>
            <a:ext cx="117043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B8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24831" y="51663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70551" y="5504688"/>
            <a:ext cx="1078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B8EC7"/>
                </a:solidFill>
                <a:latin typeface="Calibri"/>
              </a:defRPr>
            </a:pPr>
            <a:r>
              <a:t>Backend</a:t>
            </a:r>
            <a:br/>
            <a:r>
              <a:t>EKS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6013551" y="5468112"/>
            <a:ext cx="146304" cy="146304"/>
          </a:xfrm>
          <a:prstGeom prst="rightArrow">
            <a:avLst/>
          </a:prstGeom>
          <a:solidFill>
            <a:srgbClr val="9B8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196431" y="5120640"/>
            <a:ext cx="117043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A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96431" y="51663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42151" y="5504688"/>
            <a:ext cx="1078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A88F"/>
                </a:solidFill>
                <a:latin typeface="Calibri"/>
              </a:defRPr>
            </a:pPr>
            <a:r>
              <a:t>Preproc-</a:t>
            </a:r>
            <a:br/>
            <a:r>
              <a:t>essor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7385151" y="5468112"/>
            <a:ext cx="146304" cy="146304"/>
          </a:xfrm>
          <a:prstGeom prst="rightArrow">
            <a:avLst/>
          </a:prstGeom>
          <a:solidFill>
            <a:srgbClr val="4E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568031" y="5120640"/>
            <a:ext cx="117043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568031" y="51663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13751" y="5504688"/>
            <a:ext cx="1078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06C5C"/>
                </a:solidFill>
                <a:latin typeface="Calibri"/>
              </a:defRPr>
            </a:pPr>
            <a:r>
              <a:t>Sonnet 4.5</a:t>
            </a:r>
            <a:br/>
            <a:r>
              <a:t>GenAI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8756751" y="5468112"/>
            <a:ext cx="146304" cy="146304"/>
          </a:xfrm>
          <a:prstGeom prst="rightArrow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939631" y="5120640"/>
            <a:ext cx="117043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B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39631" y="51663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5351" y="5504688"/>
            <a:ext cx="1078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B3D0"/>
                </a:solidFill>
                <a:latin typeface="Calibri"/>
              </a:defRPr>
            </a:pPr>
            <a:r>
              <a:t>Guardrail</a:t>
            </a:r>
          </a:p>
        </p:txBody>
      </p:sp>
      <p:sp>
        <p:nvSpPr>
          <p:cNvPr id="96" name="Right Arrow 95"/>
          <p:cNvSpPr/>
          <p:nvPr/>
        </p:nvSpPr>
        <p:spPr>
          <a:xfrm>
            <a:off x="10128351" y="5468112"/>
            <a:ext cx="146304" cy="146304"/>
          </a:xfrm>
          <a:prstGeom prst="rightArrow">
            <a:avLst/>
          </a:prstGeom>
          <a:solidFill>
            <a:srgbClr val="6BB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311231" y="5120640"/>
            <a:ext cx="117043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311231" y="51663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56951" y="5504688"/>
            <a:ext cx="1078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CB342"/>
                </a:solidFill>
                <a:latin typeface="Calibri"/>
              </a:defRPr>
            </a:pPr>
            <a:r>
              <a:t>Dashboard</a:t>
            </a:r>
            <a:br/>
            <a:r>
              <a:t>Alert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114800" y="6062472"/>
            <a:ext cx="3931920" cy="274320"/>
          </a:xfrm>
          <a:prstGeom prst="roundRect">
            <a:avLst/>
          </a:prstGeom>
          <a:solidFill>
            <a:srgbClr val="E8C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14800" y="607161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TOTAL PROCESS:  &lt; 10 SECONDS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A7A8A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4400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A7A8A"/>
                </a:solidFill>
                <a:latin typeface="Calibri"/>
              </a:defRPr>
            </a:pPr>
            <a:r>
              <a:t>Page 6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
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F172A"/>
                </a:solidFill>
                <a:latin typeface="Arial"/>
              </a:defRPr>
            </a:pPr>
            <a:r>
              <a:t>Medbeacon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Arial"/>
              </a:defRPr>
            </a:pPr>
            <a:r>
              <a:t>Real-Time Clinical Intelligence Workflow &amp; Security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228600"/>
            <a:ext cx="13716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46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27432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2743200" cy="320040"/>
          </a:xfrm>
          <a:prstGeom prst="roundRect">
            <a:avLst/>
          </a:prstGeom>
          <a:solidFill>
            <a:srgbClr val="9333EA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16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ZONE 1: HOSPITAL SOURCE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9333EA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EHR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9019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Epic / Cerner / Meditech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40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Vitals (HR, BP, SpO2, Temp)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Lab Results (Lactate, WBC, Creatinine)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Clinician &amp; Nurse Notes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• Patient History &amp; Medications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237744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94A3B8"/>
                </a:solidFill>
                <a:latin typeface="Arial"/>
              </a:defRPr>
            </a:pPr>
            <a:r>
              <a:t>Data egress via Red Rover EHR Integration Hub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00400" y="2514600"/>
            <a:ext cx="54864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1097280"/>
            <a:ext cx="7955279" cy="3108960"/>
          </a:xfrm>
          <a:prstGeom prst="roundRect">
            <a:avLst/>
          </a:prstGeom>
          <a:solidFill>
            <a:srgbClr val="F8FBFF"/>
          </a:solidFill>
          <a:ln w="38100">
            <a:solidFill>
              <a:srgbClr val="60A5F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59" y="932688"/>
            <a:ext cx="438912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59" y="9509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MEDBEACON HIPAA SECURE BOUNDARY (AWS BAA + Atlas BAA Covered)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1508760"/>
            <a:ext cx="2651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002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rial"/>
              </a:defRPr>
            </a:pPr>
            <a:r>
              <a:t>AI INTELLIGENCE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1920240"/>
            <a:ext cx="24688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9659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  <a:latin typeface="Arial"/>
              </a:defRPr>
            </a:pPr>
            <a:r>
              <a:t>Predictive Modeling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1671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Clinical data enriched through SME-defined trend analysis and narrative preprocessing, then passed to GenAI (AWS Bedrock) for deep reasoning.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2834640"/>
            <a:ext cx="24688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880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  <a:latin typeface="Arial"/>
              </a:defRPr>
            </a:pPr>
            <a:r>
              <a:t>Narrative Rationale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0815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Not just a score: provides "Clinical Rationale" explaining the 'why' behind every alert to increase clinician trust.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1508760"/>
            <a:ext cx="2286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B45309"/>
                </a:solidFill>
                <a:latin typeface="Arial"/>
              </a:defRPr>
            </a:pPr>
            <a:r>
              <a:t>MONGODB ATLAS (on AWS)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1920240"/>
            <a:ext cx="2103120" cy="1051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1947672"/>
            <a:ext cx="1956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2400E"/>
                </a:solidFill>
                <a:latin typeface="Arial"/>
              </a:defRPr>
            </a:pPr>
            <a:r>
              <a:t>Stored (Encrypted AES-256):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2112264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Patient demographics (temp, till discharge)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Vitals, labs, notes (temp, till discharge)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Doctor feedback (long-term)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Guardrail configs &amp; audit logs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3108960"/>
            <a:ext cx="2103120" cy="685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3136392"/>
            <a:ext cx="1956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66534"/>
                </a:solidFill>
                <a:latin typeface="Arial"/>
              </a:defRPr>
            </a:pPr>
            <a:r>
              <a:t>PHI Safeguards: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3300984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Auto-purged on discharge</a:t>
            </a:r>
          </a:p>
          <a:p>
            <a:pPr>
              <a:spcBef>
                <a:spcPts val="300"/>
              </a:spcBef>
              <a:defRPr sz="750">
                <a:solidFill>
                  <a:srgbClr val="475569"/>
                </a:solidFill>
                <a:latin typeface="Arial"/>
              </a:defRPr>
            </a:pPr>
            <a:r>
              <a:t>• LLM never stores patient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1508760"/>
            <a:ext cx="21031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6A34A"/>
                </a:solidFill>
                <a:latin typeface="Arial"/>
              </a:defRPr>
            </a:pPr>
            <a:r>
              <a:t>CLINICIAN INSIGHTS</a:t>
            </a:r>
          </a:p>
        </p:txBody>
      </p:sp>
      <p:sp>
        <p:nvSpPr>
          <p:cNvPr id="39" name="Oval 38"/>
          <p:cNvSpPr/>
          <p:nvPr/>
        </p:nvSpPr>
        <p:spPr>
          <a:xfrm>
            <a:off x="9555480" y="194767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192024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Early Warning System</a:t>
            </a:r>
          </a:p>
        </p:txBody>
      </p:sp>
      <p:sp>
        <p:nvSpPr>
          <p:cNvPr id="41" name="Oval 40"/>
          <p:cNvSpPr/>
          <p:nvPr/>
        </p:nvSpPr>
        <p:spPr>
          <a:xfrm>
            <a:off x="9555480" y="218541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215798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Risk Score + Confidence</a:t>
            </a:r>
          </a:p>
        </p:txBody>
      </p:sp>
      <p:sp>
        <p:nvSpPr>
          <p:cNvPr id="43" name="Oval 42"/>
          <p:cNvSpPr/>
          <p:nvPr/>
        </p:nvSpPr>
        <p:spPr>
          <a:xfrm>
            <a:off x="9555480" y="2423160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239572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Guardrail Overrides</a:t>
            </a:r>
          </a:p>
        </p:txBody>
      </p:sp>
      <p:sp>
        <p:nvSpPr>
          <p:cNvPr id="45" name="Oval 44"/>
          <p:cNvSpPr/>
          <p:nvPr/>
        </p:nvSpPr>
        <p:spPr>
          <a:xfrm>
            <a:off x="9555480" y="2660904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26334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qSOFA / SIRS / SOFA</a:t>
            </a:r>
          </a:p>
        </p:txBody>
      </p:sp>
      <p:sp>
        <p:nvSpPr>
          <p:cNvPr id="47" name="Oval 46"/>
          <p:cNvSpPr/>
          <p:nvPr/>
        </p:nvSpPr>
        <p:spPr>
          <a:xfrm>
            <a:off x="9555480" y="2898648"/>
            <a:ext cx="91440" cy="9144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2871216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History-Aware Context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3200400"/>
            <a:ext cx="1920240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5480" y="32461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66534"/>
                </a:solidFill>
                <a:latin typeface="Arial"/>
              </a:defRPr>
            </a:pPr>
            <a:r>
              <a:t>IMPACT: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15803D"/>
                </a:solidFill>
                <a:latin typeface="Arial"/>
              </a:defRPr>
            </a:pPr>
            <a:r>
              <a:t>360° clinical view. Works even when LLM is unavailable.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4434840"/>
            <a:ext cx="5760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Why We Are Compliance-First</a:t>
            </a:r>
          </a:p>
        </p:txBody>
      </p:sp>
      <p:sp>
        <p:nvSpPr>
          <p:cNvPr id="54" name="Oval 53"/>
          <p:cNvSpPr/>
          <p:nvPr/>
        </p:nvSpPr>
        <p:spPr>
          <a:xfrm>
            <a:off x="594360" y="491947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" y="490118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8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Temporary Data Only: Patient clinical data retained only till discharge, then auto-purged. Encrypted AES-256.</a:t>
            </a:r>
          </a:p>
        </p:txBody>
      </p:sp>
      <p:sp>
        <p:nvSpPr>
          <p:cNvPr id="57" name="Oval 56"/>
          <p:cNvSpPr/>
          <p:nvPr/>
        </p:nvSpPr>
        <p:spPr>
          <a:xfrm>
            <a:off x="3429000" y="491947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38144" y="490118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30168" y="4892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Zero-Training: Amazon Bedrock does NOT store or train on hospital patient data.</a:t>
            </a:r>
          </a:p>
        </p:txBody>
      </p:sp>
      <p:sp>
        <p:nvSpPr>
          <p:cNvPr id="60" name="Oval 59"/>
          <p:cNvSpPr/>
          <p:nvPr/>
        </p:nvSpPr>
        <p:spPr>
          <a:xfrm>
            <a:off x="594360" y="542239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" y="540410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8" y="5394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Full Data Isolation: PHI never leaves the AWS boundary. MongoDB Atlas hosted on AWS us-east-1.</a:t>
            </a:r>
          </a:p>
        </p:txBody>
      </p:sp>
      <p:sp>
        <p:nvSpPr>
          <p:cNvPr id="63" name="Oval 62"/>
          <p:cNvSpPr/>
          <p:nvPr/>
        </p:nvSpPr>
        <p:spPr>
          <a:xfrm>
            <a:off x="3429000" y="542239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38144" y="540410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30168" y="5394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Dual BAA Coverage: AWS BAA covers Bedrock, EKS, CloudWatch. MongoDB Atlas BAA covers database.</a:t>
            </a:r>
          </a:p>
        </p:txBody>
      </p:sp>
      <p:sp>
        <p:nvSpPr>
          <p:cNvPr id="66" name="Oval 65"/>
          <p:cNvSpPr/>
          <p:nvPr/>
        </p:nvSpPr>
        <p:spPr>
          <a:xfrm>
            <a:off x="594360" y="592531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" y="590702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8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No PHI in Logs: Audit logs contain request IDs and scores only — zero patient data.</a:t>
            </a:r>
          </a:p>
        </p:txBody>
      </p:sp>
      <p:sp>
        <p:nvSpPr>
          <p:cNvPr id="69" name="Oval 68"/>
          <p:cNvSpPr/>
          <p:nvPr/>
        </p:nvSpPr>
        <p:spPr>
          <a:xfrm>
            <a:off x="3429000" y="5925312"/>
            <a:ext cx="146304" cy="14630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38144" y="5907024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6A34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30168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Certified Trust: SOC 2 &amp; ISO 27001 infra. Role-based access control on all data stores.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09360" y="4434840"/>
            <a:ext cx="557784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379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Powerful Clinical Outcomes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37960" y="48188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Arial"/>
              </a:defRPr>
            </a:pPr>
            <a:r>
              <a:t>Medbeacon transitions healthcare from Reactive to Proactive.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37960" y="5184648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52303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40880" y="51846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Sepsis Detection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0" y="5367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Targeting the #1 cause of hospital mortality with hours-ahead warning.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37960" y="562356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37960" y="5669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0880" y="5623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Scalable Expansion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40880" y="5806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Live for Sepsis; Expandable to AKI, DVT/PE, Cardiac Arrest, and Respiratory Failure.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537960" y="6062472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37960" y="6108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0A5F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40880" y="6062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Clinician Efficiency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40880" y="6245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CBD5E1"/>
                </a:solidFill>
                <a:latin typeface="Arial"/>
              </a:defRPr>
            </a:pPr>
            <a:r>
              <a:t>Reduces "Alert Fatigue" by providing deterministic scores with AI reasoning.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62940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Medbeacon Inc.  |  www.medbeacon.in  |  AI Clinical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
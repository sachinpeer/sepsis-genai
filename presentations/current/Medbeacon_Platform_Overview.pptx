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60"/>
    <p:restoredTop sz="94700"/>
  </p:normalViewPr>
  <p:slideViewPr>
    <p:cSldViewPr snapToGrid="0" snapToObjects="1">
      <p:cViewPr varScale="1">
        <p:scale>
          <a:sx n="141" d="100"/>
          <a:sy n="141" d="100"/>
        </p:scale>
        <p:origin x="51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C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Medbeacon  |  AI-Powered Clinical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B0D4E8"/>
                </a:solidFill>
              </a:defRPr>
            </a:pPr>
            <a:r>
              <a:t>Predictive Healthcare Analytics  —  Starting with Sepsis, Expandable to AKI, Cardiac Arrest &amp;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200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FFCC00"/>
                </a:solidFill>
              </a:defRPr>
            </a:pPr>
            <a:r>
              <a:t>CONFIDENTIAL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11430000" cy="594360"/>
          </a:xfrm>
          <a:prstGeom prst="roundRect">
            <a:avLst/>
          </a:prstGeom>
          <a:solidFill>
            <a:srgbClr val="15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FFFFFF"/>
                </a:solidFill>
              </a:defRPr>
            </a:pPr>
            <a:r>
              <a:t>Medbeacon is a medical care technology company that fetches real-time clinical data from hospital EHRs, applies advanced GenAI for early prediction of life-threatening conditions, and delivers actionable insights to clinicians — all within a HIPAA-compliant AWS boundary.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C3B5E"/>
                </a:solidFill>
              </a:defRPr>
            </a:pPr>
            <a:r>
              <a:t>END-TO-END DATA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286000"/>
            <a:ext cx="20116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170432" y="2359152"/>
            <a:ext cx="402336" cy="402336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8E44AD"/>
                </a:solidFill>
              </a:defRPr>
            </a:pPr>
            <a:r>
              <a:t>HOSPITAL EHR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035808"/>
            <a:ext cx="18653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Cerner / Epic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Patient vitals, labs,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nurse notes, orders,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SJSA sepsis alerts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23160" y="3063240"/>
            <a:ext cx="411480" cy="228600"/>
          </a:xfrm>
          <a:prstGeom prst="rightArrow">
            <a:avLst/>
          </a:prstGeom>
          <a:solidFill>
            <a:srgbClr val="1A8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0360" y="2286000"/>
            <a:ext cx="20116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64A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85032" y="2359152"/>
            <a:ext cx="402336" cy="402336"/>
          </a:xfrm>
          <a:prstGeom prst="ellipse">
            <a:avLst/>
          </a:prstGeom>
          <a:solidFill>
            <a:srgbClr val="E64A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78892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64A19"/>
                </a:solidFill>
              </a:defRPr>
            </a:pPr>
            <a:r>
              <a:t>RED ROVER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035808"/>
            <a:ext cx="186537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EHR Integration Hub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OAuth2 secured API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Real-time data feed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IP whitelisted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937760" y="3063240"/>
            <a:ext cx="411480" cy="228600"/>
          </a:xfrm>
          <a:prstGeom prst="rightArrow">
            <a:avLst/>
          </a:prstGeom>
          <a:solidFill>
            <a:srgbClr val="1A8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349240" y="2148840"/>
            <a:ext cx="6537960" cy="2194560"/>
          </a:xfrm>
          <a:prstGeom prst="roundRect">
            <a:avLst/>
          </a:prstGeom>
          <a:solidFill>
            <a:srgbClr val="FDF2E3"/>
          </a:solidFill>
          <a:ln w="31750">
            <a:solidFill>
              <a:srgbClr val="FF9900"/>
            </a:solidFill>
            <a:prstDash val="sys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0" y="2176272"/>
            <a:ext cx="2743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FF9900"/>
                </a:solidFill>
              </a:defRPr>
            </a:pPr>
            <a:r>
              <a:t>AWS HIPAA BOUNDARY (BAA Covered)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39" y="2354580"/>
            <a:ext cx="18288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5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291071" y="2427732"/>
            <a:ext cx="402336" cy="402336"/>
          </a:xfrm>
          <a:prstGeom prst="ellipse">
            <a:avLst/>
          </a:prstGeom>
          <a:solidFill>
            <a:srgbClr val="156B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59" y="2857500"/>
            <a:ext cx="17373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56B8A"/>
                </a:solidFill>
              </a:defRPr>
            </a:pPr>
            <a:r>
              <a:rPr lang="en-IN" dirty="0" err="1"/>
              <a:t>Medbeacon</a:t>
            </a:r>
            <a:r>
              <a:rPr lang="en-IN" dirty="0"/>
              <a:t> BACKEND</a:t>
            </a:r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5650991" y="3104388"/>
            <a:ext cx="168249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dirty="0" err="1"/>
              <a:t>Medbeacon</a:t>
            </a:r>
            <a:r>
              <a:rPr dirty="0"/>
              <a:t> API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dirty="0"/>
              <a:t>Preprocessor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dirty="0"/>
              <a:t>(Narrative Builder)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dirty="0"/>
              <a:t>Guardrail Engine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452359" y="3131820"/>
            <a:ext cx="320040" cy="228600"/>
          </a:xfrm>
          <a:prstGeom prst="rightArrow">
            <a:avLst/>
          </a:prstGeom>
          <a:solidFill>
            <a:srgbClr val="1A8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818119" y="2354580"/>
            <a:ext cx="18288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71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531351" y="2427732"/>
            <a:ext cx="402336" cy="402336"/>
          </a:xfrm>
          <a:prstGeom prst="ellipse">
            <a:avLst/>
          </a:prstGeom>
          <a:solidFill>
            <a:srgbClr val="2771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39" y="28575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71B8"/>
                </a:solidFill>
              </a:defRPr>
            </a:pPr>
            <a:r>
              <a:t>AI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91271" y="3104388"/>
            <a:ext cx="1682496" cy="623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dirty="0"/>
              <a:t>AWS Bedrock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lang="en-US" dirty="0"/>
              <a:t>LLM of choice</a:t>
            </a:r>
            <a:endParaRPr dirty="0"/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lang="en-US" dirty="0"/>
              <a:t>Early </a:t>
            </a:r>
            <a:r>
              <a:rPr dirty="0"/>
              <a:t>prediction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rPr dirty="0"/>
              <a:t>Narrative reasoning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692639" y="3131820"/>
            <a:ext cx="320040" cy="228600"/>
          </a:xfrm>
          <a:prstGeom prst="rightArrow">
            <a:avLst/>
          </a:prstGeom>
          <a:solidFill>
            <a:srgbClr val="1A8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058399" y="2354580"/>
            <a:ext cx="169164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703051" y="2427732"/>
            <a:ext cx="402336" cy="402336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DB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4119" y="285750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27AE60"/>
                </a:solidFill>
              </a:defRPr>
            </a:pPr>
            <a:r>
              <a:t>DATA STORE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131551" y="3104388"/>
            <a:ext cx="154533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MongoDB (AWS)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Doctor feedback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Guardrail configs</a:t>
            </a:r>
          </a:p>
          <a:p>
            <a:pPr algn="ctr">
              <a:spcBef>
                <a:spcPts val="100"/>
              </a:spcBef>
              <a:defRPr sz="800">
                <a:solidFill>
                  <a:srgbClr val="5D6D7E"/>
                </a:solidFill>
              </a:defRPr>
            </a:pPr>
            <a:r>
              <a:t>No raw PHI stored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5262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" y="45994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3B5E"/>
                </a:solidFill>
              </a:defRPr>
            </a:pPr>
            <a:r>
              <a:t>WHAT DATA FLOWS THROUGH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8465" y="4823460"/>
            <a:ext cx="3367735" cy="178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00" b="1">
                <a:solidFill>
                  <a:srgbClr val="0C3B5E"/>
                </a:solidFill>
              </a:defRPr>
            </a:pPr>
            <a:r>
              <a:rPr dirty="0"/>
              <a:t>IN from Hospital: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Vital signs (HR, BP, Temp, SpO2, RR)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Lab results (Lactate, WBC, Creatinine, etc.)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Clinician notes (nurse assessments)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Patient age, gender, medical history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900" b="1">
                <a:solidFill>
                  <a:srgbClr val="0C3B5E"/>
                </a:solidFill>
              </a:defRPr>
            </a:pPr>
            <a:r>
              <a:rPr dirty="0"/>
              <a:t>OUT to Clinician Dashboard: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Risk score (0–100), Priority, Alert level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Clinical rationale &amp; confidence reasoning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Deterministic scores (</a:t>
            </a:r>
            <a:r>
              <a:rPr dirty="0" err="1"/>
              <a:t>qSOFA</a:t>
            </a:r>
            <a:r>
              <a:rPr dirty="0"/>
              <a:t>, SIRS, SOFA)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Early warnings &amp; guardrail override flags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4526280"/>
            <a:ext cx="36576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343400" y="45994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C3B5E"/>
                </a:solidFill>
              </a:defRPr>
            </a:pPr>
            <a:r>
              <a:t>WHAT WE STORE (MongoDB on AWS)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43400" y="4873752"/>
            <a:ext cx="3252457" cy="1782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900" b="1">
                <a:solidFill>
                  <a:srgbClr val="0C3B5E"/>
                </a:solidFill>
              </a:defRPr>
            </a:pPr>
            <a:r>
              <a:rPr dirty="0"/>
              <a:t>We Store: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Doctor feedback (agree/disagree with AI)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Hospital-specific guardrail configurations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Audit logs (request ID, scores, timestamps)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Model performance metrics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endParaRPr dirty="0"/>
          </a:p>
          <a:p>
            <a:pPr>
              <a:spcBef>
                <a:spcPts val="400"/>
              </a:spcBef>
              <a:defRPr sz="900" b="1">
                <a:solidFill>
                  <a:srgbClr val="E74C3C"/>
                </a:solidFill>
              </a:defRPr>
            </a:pPr>
            <a:r>
              <a:rPr dirty="0"/>
              <a:t>We Do NOT Store: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Patient vitals, labs, or nurse notes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Patient names, DOB, or medical records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Raw EHR data — processed in-memory only</a:t>
            </a:r>
          </a:p>
          <a:p>
            <a:pPr>
              <a:spcBef>
                <a:spcPts val="100"/>
              </a:spcBef>
              <a:defRPr sz="900" b="0">
                <a:solidFill>
                  <a:srgbClr val="5D6D7E"/>
                </a:solidFill>
              </a:defRPr>
            </a:pPr>
            <a:r>
              <a:rPr dirty="0"/>
              <a:t>LLM prompts or responses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4526280"/>
            <a:ext cx="38404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E88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83879" y="4599432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E8847"/>
                </a:solidFill>
              </a:defRPr>
            </a:pPr>
            <a:r>
              <a:t>HIPAA COMPLIANCE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79" y="4873752"/>
            <a:ext cx="356616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PHI never leaves AWS boundary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All data encrypted in transit (TLS 1.2+)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All data encrypted at rest (AES-256)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Bedrock does NOT store/train on our data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No PHI in logs or error messages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Stateless processing — data flows through,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      not stored permanently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AWS BAA covers Bedrock, EKS, S3, CloudWatch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API key authentication on all endpoints</a:t>
            </a:r>
          </a:p>
          <a:p>
            <a:pPr>
              <a:spcBef>
                <a:spcPts val="200"/>
              </a:spcBef>
              <a:defRPr sz="900" b="0">
                <a:solidFill>
                  <a:srgbClr val="2C6E3F"/>
                </a:solidFill>
              </a:defRPr>
            </a:pPr>
            <a:r>
              <a:t>✅  SOC 2 &amp; ISO 27001 certified infrastructure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629400"/>
            <a:ext cx="12191695" cy="228600"/>
          </a:xfrm>
          <a:prstGeom prst="rect">
            <a:avLst/>
          </a:prstGeom>
          <a:solidFill>
            <a:srgbClr val="0C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200" y="662940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B0D4E8"/>
                </a:solidFill>
              </a:defRPr>
            </a:pPr>
            <a:r>
              <a:t>Medbeacon Inc.  |  AI-Powered Clinical Intelligence  |  Sepsis • AKI • Cardiac Arrest • And More  |  www.medbeacon.in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00400" y="1874519"/>
            <a:ext cx="5943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 i="1">
                <a:solidFill>
                  <a:srgbClr val="5D6D7E"/>
                </a:solidFill>
              </a:defRPr>
            </a:pPr>
            <a:r>
              <a:t>Currently Live: Sepsis  |  Expandable to: AKI  •  Cardiac Arrest  •  Respiratory Failure  •  DVT/PE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417</Words>
  <Application>Microsoft Macintosh PowerPoint</Application>
  <PresentationFormat>Widescreen</PresentationFormat>
  <Paragraphs>73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Sachin Jadhav</cp:lastModifiedBy>
  <cp:revision>2</cp:revision>
  <dcterms:created xsi:type="dcterms:W3CDTF">2013-01-27T09:14:16Z</dcterms:created>
  <dcterms:modified xsi:type="dcterms:W3CDTF">2026-04-21T05:45:02Z</dcterms:modified>
  <cp:category/>
</cp:coreProperties>
</file>
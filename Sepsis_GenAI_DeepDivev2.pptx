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58" r:id="rId5"/>
    <p:sldId id="259" r:id="rId6"/>
    <p:sldId id="260" r:id="rId7"/>
    <p:sldId id="27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75"/>
  </p:normalViewPr>
  <p:slideViewPr>
    <p:cSldViewPr snapToGrid="0" snapToObjects="1">
      <p:cViewPr varScale="1">
        <p:scale>
          <a:sx n="140" d="100"/>
          <a:sy n="140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C14-CFC4-6740-BEFA-6E964D4C55E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707B4-37C3-5E48-A75A-89027B4B7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Sepsis GenAI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CD4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CC"/>
                </a:solidFill>
                <a:latin typeface="Calibri"/>
              </a:defRPr>
            </a:pPr>
            <a:r>
              <a:t>LLM Selection  •  System Architecture  •  Hospital Configurability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3200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Production: Claude Sonnet 4.5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200400" cy="365760"/>
          </a:xfrm>
          <a:prstGeom prst="roundRect">
            <a:avLst/>
          </a:prstGeom>
          <a:solidFill>
            <a:srgbClr val="1A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BBCC"/>
                </a:solidFill>
                <a:latin typeface="Calibri"/>
              </a:defRPr>
            </a:pPr>
            <a:r>
              <a:t>Deployed on AWS EKS  •  Apr 8,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99"/>
                </a:solidFill>
                <a:latin typeface="Calibri"/>
              </a:defRPr>
            </a:pPr>
            <a:r>
              <a:t>Leadership Briefing  •  April 2026  •  Medbeacon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6552"/>
            <a:ext cx="5029200" cy="1722632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9472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Sepsis kills </a:t>
            </a:r>
            <a:r>
              <a:rPr lang="en-US" dirty="0"/>
              <a:t>Thousands </a:t>
            </a:r>
            <a:r>
              <a:rPr dirty="0"/>
              <a:t>annually</a:t>
            </a:r>
            <a:br>
              <a:rPr dirty="0"/>
            </a:br>
            <a:r>
              <a:rPr dirty="0"/>
              <a:t>  Every hour of delayed treatment increases mortality </a:t>
            </a:r>
            <a:r>
              <a:rPr lang="en-US" dirty="0"/>
              <a:t>~ </a:t>
            </a:r>
            <a:r>
              <a:rPr dirty="0"/>
              <a:t>7-8%</a:t>
            </a:r>
            <a:br>
              <a:rPr dirty="0"/>
            </a:br>
            <a:r>
              <a:rPr dirty="0"/>
              <a:t>  "Silent Sepsis" — normal vitals hide organ failure</a:t>
            </a:r>
            <a:br>
              <a:rPr dirty="0"/>
            </a:br>
            <a:r>
              <a:rPr dirty="0"/>
              <a:t>  Current alerts are reactive, not predictive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6552"/>
            <a:ext cx="5029200" cy="175920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9472"/>
            <a:ext cx="46542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AI predicts septic shock</a:t>
            </a:r>
            <a:r>
              <a:rPr lang="en-US" dirty="0"/>
              <a:t>,</a:t>
            </a:r>
            <a:r>
              <a:rPr dirty="0"/>
              <a:t> hours</a:t>
            </a:r>
            <a:r>
              <a:rPr lang="en-US" dirty="0"/>
              <a:t>*</a:t>
            </a:r>
            <a:r>
              <a:rPr dirty="0"/>
              <a:t> </a:t>
            </a:r>
            <a:r>
              <a:rPr lang="en-US" dirty="0"/>
              <a:t>in advance</a:t>
            </a:r>
            <a:br>
              <a:rPr dirty="0"/>
            </a:br>
            <a:r>
              <a:rPr dirty="0"/>
              <a:t>  Fuses numeric trends + clinician notes (narrative intelligence)</a:t>
            </a:r>
            <a:br>
              <a:rPr dirty="0"/>
            </a:br>
            <a:r>
              <a:rPr dirty="0"/>
              <a:t>  Deterministic safety guardrails over AI output</a:t>
            </a:r>
            <a:br>
              <a:rPr dirty="0"/>
            </a:br>
            <a:r>
              <a:rPr dirty="0"/>
              <a:t>  Real-time risk scoring at the bedside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8288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Key Differentiator: Silent Sepsis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Traditional systems: Alert only when vitals cross thresholds</a:t>
            </a:r>
            <a:r>
              <a:rPr lang="en-US" dirty="0"/>
              <a:t> or identifies pattern in data</a:t>
            </a:r>
            <a:r>
              <a:rPr dirty="0"/>
              <a:t> (too late)</a:t>
            </a:r>
            <a:br>
              <a:rPr dirty="0"/>
            </a:br>
            <a:r>
              <a:rPr dirty="0"/>
              <a:t>  Our system: AI detects discordance — stable vitals BUT concerning nurse notes (mottled skin, fluid non-response)</a:t>
            </a:r>
            <a:br>
              <a:rPr dirty="0"/>
            </a:br>
            <a:r>
              <a:rPr dirty="0"/>
              <a:t>  Example: BP 115/70 (normal) + Nurse note 'required 2L bolus, skin mottled' → AI flags as compensated shock, risk 75%</a:t>
            </a:r>
            <a:br>
              <a:rPr dirty="0"/>
            </a:br>
            <a:r>
              <a:rPr dirty="0"/>
              <a:t>  This is the gap that costs lives — and exactly what our system is built to catch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18E68-7107-FDE5-D07C-47858011EA7C}"/>
              </a:ext>
            </a:extLst>
          </p:cNvPr>
          <p:cNvSpPr txBox="1"/>
          <p:nvPr/>
        </p:nvSpPr>
        <p:spPr>
          <a:xfrm>
            <a:off x="1153515" y="5943600"/>
            <a:ext cx="9884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i="1" dirty="0">
                <a:effectLst/>
              </a:rPr>
              <a:t>* "Our system is designed to detect early sepsis signals — trend deterioration, clinical note discordance, and sub-threshold organ stress — with the goal of providing a 6-hour early warning. The clinical framework is sound (Sepsis-3, </a:t>
            </a:r>
            <a:r>
              <a:rPr lang="en-IN" sz="1000" i="1" dirty="0" err="1">
                <a:effectLst/>
              </a:rPr>
              <a:t>qSOFA</a:t>
            </a:r>
            <a:r>
              <a:rPr lang="en-IN" sz="1000" i="1" dirty="0">
                <a:effectLst/>
              </a:rPr>
              <a:t>, SIRS, SOFA), and the AI is applying established medical reasoning. The next step is a clinical validation study with outcome tracking to measure our actual lead time and accuracy."</a:t>
            </a:r>
            <a:br>
              <a:rPr lang="en-IN" sz="1000" dirty="0"/>
            </a:b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Selection — How We Got to Sonnet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100+ LLMs exist. We applied 4 systematic filters to find the right one for clinical sepsis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371600"/>
            <a:ext cx="3837750" cy="1005840"/>
          </a:xfrm>
          <a:prstGeom prst="roundRect">
            <a:avLst/>
          </a:prstGeom>
          <a:solidFill>
            <a:srgbClr val="CCDD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3767" y="1554480"/>
            <a:ext cx="594360" cy="594360"/>
          </a:xfrm>
          <a:prstGeom prst="ellipse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 dirty="0"/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1463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5A6A"/>
                </a:solidFill>
                <a:latin typeface="Calibri"/>
              </a:defRPr>
            </a:pPr>
            <a:r>
              <a:t>ALL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75564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GPT-4o, Claude, Gemini, Llama 3,</a:t>
            </a:r>
            <a:br/>
            <a:r>
              <a:t>Mistral, Med-PaLM 2, Cohere...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9607" y="2560320"/>
            <a:ext cx="3942782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6767" y="2743200"/>
            <a:ext cx="594360" cy="59436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~10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Filter 1: AWS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07" y="29443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PHI must stay within AWS boundary.</a:t>
            </a:r>
            <a:br/>
            <a:r>
              <a:t>Eliminated: GPT-4o, Gemini, Med-PaLM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3749039"/>
            <a:ext cx="4171382" cy="10058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69767" y="39319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007" y="3840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Filter 2: Managed +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7007" y="413308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No self-hosting. No LEGACY models.</a:t>
            </a:r>
            <a:br/>
            <a:r>
              <a:t>Eliminated: Llama 3, Mistral, 3.5 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4937760"/>
            <a:ext cx="3657600" cy="10058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12767" y="5120640"/>
            <a:ext cx="594360" cy="5943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8A00"/>
                </a:solidFill>
                <a:latin typeface="Calibri"/>
              </a:defRPr>
            </a:pPr>
            <a:r>
              <a:t>Filter 3: Clinical Quality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5321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Head-to-head on real patient data.</a:t>
            </a:r>
            <a:br/>
            <a:r>
              <a:t>4 finalists tested with 8 patients × 4 models = 32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61447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 Winner: Claude Sonnet 4.5  —  Deployed to Production Apr 8, 2026  —  Best balance of speed, depth &amp;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2666" y="24886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Head-to-Head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8 patients × 4 models = 32 test runs  |  Same prompt (v3.0)  |  AWS Bedrock us-east-1  |  April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Performance &amp; Cost (Averaged)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600200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6184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93852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956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93852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956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5237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542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5237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5237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86200" y="2542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5237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5237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8163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28346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Per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28163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28163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28346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8163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28163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59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108960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312724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3108960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3108960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312724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3108960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3108960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95159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40156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4198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Monthly (1K/day)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40156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341985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0" y="340156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86200" y="34198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340156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341985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340156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95159" y="341985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813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Clinical Output Quality (Averaged)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133088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415137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4133088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23160" y="415137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4133088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86200" y="415137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4133088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32120" y="415137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9440" y="4133088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95159" y="415137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47141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44805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Risk Score (avg)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0" y="447141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44805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0" y="447141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44805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47141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32120" y="44805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447141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95159" y="44805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74573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47548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74573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23160" y="4754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40480" y="474573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86200" y="47548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474573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4754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74573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95159" y="4754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502005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50292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502005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23160" y="50292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840480" y="502005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86200" y="50292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Moderate–High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6400" y="502005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32120" y="50292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502005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95159" y="50292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529437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7240" y="53035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Organ Stress Items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377440" y="529437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23160" y="53035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40480" y="529437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86200" y="53035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0" y="529437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532120" y="53035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949440" y="529437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95159" y="53035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556869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40" y="55778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556869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23160" y="5577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0" y="556869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86200" y="55778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0" y="556869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32120" y="5577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949440" y="556869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95159" y="5577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584301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7240" y="58521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Surgical Context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77440" y="584301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423160" y="58521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0" y="5843016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86200" y="58521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486400" y="584301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532120" y="58521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5843016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995159" y="58521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" y="611733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61264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77440" y="611733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23160" y="61264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840480" y="6117336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86200" y="61264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0" y="611733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32120" y="61264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949440" y="6117336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95159" y="61264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412480" y="1280160"/>
            <a:ext cx="347472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59536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95360" y="1645920"/>
            <a:ext cx="30175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59536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All 4 models agree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95360" y="202996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Risk: 72, Priority: High,</a:t>
            </a:r>
            <a:br/>
            <a:r>
              <a:t>qSOFA: 1, Trend: Deteriorating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595360" y="303580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Sonnet 4.5 sweet spot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595360" y="32826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85% better reasoning than 4,</a:t>
            </a:r>
            <a:br/>
            <a:r>
              <a:t>only 23% cost increase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95360" y="39959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Opus 4.6 deepest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595360" y="424281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Only model to estimate</a:t>
            </a:r>
            <a:br/>
            <a:r>
              <a:t>time-to-decompensation (4-6h)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95360" y="49560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Speed doubles per gen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595360" y="5202935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5s → 9s → 16s → 18s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" y="6556248"/>
            <a:ext cx="11155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22960" y="6574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★  All 4 models converge on the same core prediction — the difference is depth of clinical reasoning, not accuracy.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68305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6830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31520" y="2249424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77240" y="22677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Input Tokens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377440" y="2249424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423160" y="226771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1,885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0" y="2249424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886200" y="22677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1,885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486400" y="2249424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532120" y="226771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1,886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49440" y="2249424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995159" y="226771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06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Clinical Rationale — Quality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LLM outputs)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80160"/>
            <a:ext cx="2560320" cy="22860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8930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Previous Production  •  5.0s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→  Concise, fast — but misses surgical-specific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1069848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9728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33472"/>
            <a:ext cx="25603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  DEPLOYED  •  9.3s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3522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'Not quite right' post-op Day 3 is classic for occult intra-abdominal sepsis."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→  Calculates MAP (71), names bile leak risk, identifies Day 3 peak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41064"/>
            <a:ext cx="1069848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9728" cy="12344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867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986784"/>
            <a:ext cx="2560320" cy="22860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Tested  •  15.8s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should not be dismissed on Day 3, peak window for anastomotic leak post-cholecystectomy."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→  6 organ stress items, 11 missing flags — but 70% costlier than 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94375"/>
            <a:ext cx="1069848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294375"/>
            <a:ext cx="109728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340095"/>
            <a:ext cx="25603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53492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Study  •  18.4s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41847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"...velocity of change across multiple organ systems simultaneously — cardiovascular, respiratory, metabolic — strongly suggests early distributive shock in compensatory phase. This patient is likely 4-6 hours from decompensation without intervention."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254495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→  Only model to estimate decompensation timeline — ideal for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28600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4754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Deployed to EKS — Apr 8, 2026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Best balance of clinical depth &amp; speed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9.3s response  •  $12.69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Identifies surgical complications (bile leak, anastomotic leak)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Calculates MAP, names post-op Day 3 risk window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85% better reasoning vs Sonnet 4, only 23% more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71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228600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475488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For retrospective clinical validation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 — organizes by organ system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18.4s response  •  $31.16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Only model to estimate time-to-decompensation (4-6h)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Rates 6h probability as 'High' vs Sonnets' 'Moderate'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Speed doesn't matter for historical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NOT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15.8s — slower than 4.5  •  $17.57/1K — 38% costlier  •  Similar quality to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914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137160" cy="914400"/>
          </a:xfrm>
          <a:prstGeom prst="rect">
            <a:avLst/>
          </a:prstGeom>
          <a:solidFill>
            <a:srgbClr val="D0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A6A"/>
                </a:solidFill>
                <a:latin typeface="Calibri"/>
              </a:defRPr>
            </a:pPr>
            <a:r>
              <a:t>PREVIOUS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5A6A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Fastest (5s), cheapest ($10.34)  •  Replaced due to shallower clinical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🔄  Easy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Model change = 1 environment variable update. No code rewrite, no redeployment.</a:t>
            </a:r>
            <a:br/>
            <a:r>
              <a:t>BEDROCK_MODEL_ID=us.anthropic.claude-sonnet-4-5-20250929-v1:0  →  When a better model launches, swap in minutes.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150DA-667A-3536-B815-53A2D5F6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33B0B-775C-55F4-A73B-EEE2D30473E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62FA3-1CB4-2359-ADA7-6001391863A1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0D8421-73F6-BBB0-4F19-0ECEFDA43ACF}"/>
              </a:ext>
            </a:extLst>
          </p:cNvPr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6ACA80-3B52-B0A6-4FDB-3F8F10A72C83}"/>
              </a:ext>
            </a:extLst>
          </p:cNvPr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D54096-8F1B-8172-852C-9E08B5806F95}"/>
              </a:ext>
            </a:extLst>
          </p:cNvPr>
          <p:cNvSpPr txBox="1"/>
          <p:nvPr/>
        </p:nvSpPr>
        <p:spPr>
          <a:xfrm>
            <a:off x="731520" y="219456"/>
            <a:ext cx="10850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lang="en-US" dirty="0"/>
              <a:t>A day in life : How GENAI helps Dr. Priya detect SEPSIS early</a:t>
            </a:r>
            <a:endParaRPr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0C56F9-D8DF-FAFA-59A5-25BDD5DC7B2F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99B7B1-E624-3CE9-A4BD-2F3E45B0AD61}"/>
              </a:ext>
            </a:extLst>
          </p:cNvPr>
          <p:cNvGrpSpPr/>
          <p:nvPr/>
        </p:nvGrpSpPr>
        <p:grpSpPr>
          <a:xfrm>
            <a:off x="1360714" y="1362015"/>
            <a:ext cx="9733738" cy="4647657"/>
            <a:chOff x="1360714" y="1362015"/>
            <a:chExt cx="9733738" cy="464765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A9B5928-1BAA-1BAC-ECE2-34BECD0E2419}"/>
                </a:ext>
              </a:extLst>
            </p:cNvPr>
            <p:cNvGrpSpPr/>
            <p:nvPr/>
          </p:nvGrpSpPr>
          <p:grpSpPr>
            <a:xfrm>
              <a:off x="1360714" y="1362015"/>
              <a:ext cx="9733738" cy="4647657"/>
              <a:chOff x="1360714" y="1362015"/>
              <a:chExt cx="9733738" cy="464765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0A84CD1-E7C5-264C-A537-93C0032A4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9402" b="7039"/>
              <a:stretch/>
            </p:blipFill>
            <p:spPr>
              <a:xfrm>
                <a:off x="1360714" y="1362015"/>
                <a:ext cx="9733738" cy="4647657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2ECED1-7DE0-1E0D-ABA9-9F59E1A14D07}"/>
                  </a:ext>
                </a:extLst>
              </p:cNvPr>
              <p:cNvSpPr txBox="1"/>
              <p:nvPr/>
            </p:nvSpPr>
            <p:spPr>
              <a:xfrm>
                <a:off x="3683726" y="4688171"/>
                <a:ext cx="45720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BEHIND THE SCENES END-TO-END DATA FLOW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5915264-62B5-A96C-1E08-5F4ADDFBE7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328" y="5333016"/>
                <a:ext cx="2286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4DA012F-4B93-5847-BF5A-B820DB290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5847" y="5333016"/>
                <a:ext cx="2286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5576A23-3893-0ECF-6323-C223D3F8D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3414" y="5321146"/>
                <a:ext cx="2286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F4B2A4-5163-4EC3-C84F-A60173604C30}"/>
                  </a:ext>
                </a:extLst>
              </p:cNvPr>
              <p:cNvSpPr txBox="1"/>
              <p:nvPr/>
            </p:nvSpPr>
            <p:spPr>
              <a:xfrm>
                <a:off x="5845943" y="3642358"/>
                <a:ext cx="957008" cy="21544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US" sz="800" dirty="0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79F13E7-5662-D9E9-E7F1-EB38D70C5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7975" y="3465576"/>
                <a:ext cx="1130707" cy="1034704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8B137F7-A77E-DC92-1229-4D458CB87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7347" y="3548412"/>
                <a:ext cx="1130707" cy="104581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5968BD6-FDFC-E36B-3C3A-7CA53EACE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87442" y="2371337"/>
                <a:ext cx="1165192" cy="753948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5814A304-C772-56B4-E9F2-74CB20376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27210" y="3548412"/>
                <a:ext cx="160960" cy="179896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68950E2-FEE5-3EEC-D63F-BB8EB3C63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05888" y="4205528"/>
              <a:ext cx="76200" cy="14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728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AI Capabilities — What Makes This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91440" cy="246888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234439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t>Narrative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33172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Converts raw numbers to clinical</a:t>
            </a:r>
            <a:br/>
            <a:r>
              <a:t>prose: 'HR 105, rising from 80' →</a:t>
            </a:r>
            <a:br/>
            <a:r>
              <a:t>'Tachycardia with concerning trend'</a:t>
            </a:r>
            <a:br/>
            <a:r>
              <a:t>Context a doctor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097280"/>
            <a:ext cx="2697480" cy="24688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097280"/>
            <a:ext cx="91440" cy="2468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234439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600200"/>
            <a:ext cx="23317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Catches 'Silent Sepsis' when</a:t>
            </a:r>
            <a:br/>
            <a:r>
              <a:t>numbers &amp; notes contradict.</a:t>
            </a:r>
            <a:br/>
            <a:r>
              <a:t>BP stable BUT skin mottled?</a:t>
            </a:r>
            <a:br/>
            <a:r>
              <a:t>→ System escalates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097280"/>
            <a:ext cx="91440" cy="246888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234439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Clinical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3317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Deterministic (not AI-generated):</a:t>
            </a:r>
            <a:br/>
            <a:r>
              <a:t>qSOFA (0-3) • SIRS (0-4)</a:t>
            </a:r>
            <a:br/>
            <a:r>
              <a:t>SOFA (0-24) • Sepsis-3 criteria</a:t>
            </a:r>
            <a:br/>
            <a:r>
              <a:t>Same math doctors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097280"/>
            <a:ext cx="2697480" cy="24688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19" y="1097280"/>
            <a:ext cx="914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72599" y="1234439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79" y="1143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Confidence &amp; Transparency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599" y="1600200"/>
            <a:ext cx="2331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599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• Confidence level (H/M/L)</a:t>
            </a:r>
            <a:br/>
            <a:r>
              <a:t>• WHY that confidence</a:t>
            </a:r>
            <a:br/>
            <a:r>
              <a:t>• Written rationale</a:t>
            </a:r>
            <a:br/>
            <a:r>
              <a:t>Doctor sees the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2697480" cy="246888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840480"/>
            <a:ext cx="9144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343400"/>
            <a:ext cx="2331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AI says Low but qSOFA ≥ 2?</a:t>
            </a:r>
            <a:br/>
            <a:r>
              <a:t>→ Guardrail OVERRIDES to High</a:t>
            </a:r>
            <a:br/>
            <a:r>
              <a:t>AI never has the final word.</a:t>
            </a:r>
            <a:br/>
            <a:r>
              <a:t>850+ clinical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840480"/>
            <a:ext cx="2697480" cy="24688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3840480"/>
            <a:ext cx="91440" cy="2468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43400"/>
            <a:ext cx="23317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Doctor agrees/disagrees.</a:t>
            </a:r>
            <a:br/>
            <a:r>
              <a:t>Feedback → MongoDB.</a:t>
            </a:r>
            <a:br/>
            <a:r>
              <a:t>Analysis → Prompt tuning.</a:t>
            </a:r>
            <a:br/>
            <a:r>
              <a:t>System learns over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logged.</a:t>
            </a:r>
            <a:br/>
            <a:r>
              <a:t>Request ID, model version.</a:t>
            </a:r>
            <a:br/>
            <a:r>
              <a:t>No PHI in logs (HIPAA safe).</a:t>
            </a:r>
            <a:br/>
            <a:r>
              <a:t>CloudWatch via EKS.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799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Hospital-Specific Configuration — Why?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High-acuity, rapid deterioration.</a:t>
            </a:r>
            <a:br/>
            <a:r>
              <a:t>Aggressive thresholds.</a:t>
            </a:r>
            <a:br/>
            <a:r>
              <a:t>HR alarm at 130, not 140.</a:t>
            </a:r>
            <a:br/>
            <a:r>
              <a:t>Immediate paging.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sensitivity.</a:t>
            </a:r>
            <a:br/>
            <a:r>
              <a:t>Avoid alert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66760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Age-adjusted vitals (child HR = 120).</a:t>
            </a:r>
            <a:br/>
            <a:r>
              <a:t>Adult thresholds miss sick children.</a:t>
            </a:r>
            <a:br/>
            <a:r>
              <a:t>pSOFA, not adult SOFA.</a:t>
            </a:r>
            <a:br/>
            <a:r>
              <a:t>Family-centered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C343D"/>
                </a:solidFill>
                <a:latin typeface="Calibri"/>
              </a:defRPr>
            </a:pPr>
            <a:r>
              <a:t>Solution: Shared AI engine + per-hospital configuration layer. The AI reasoning stays the same.</a:t>
            </a:r>
            <a:br/>
            <a:r>
              <a:t>Only clinical thresholds, alert rules, and escalation protocols change — managed by each hospital's SME via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Stays the Same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Changes Per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 / SIRS / SOFA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 &amp;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Override sensitivity levels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Alert escalation rules &amp; timing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Scoring priorities (qSOFA vs pSOFA)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Bundle compliance protocols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6207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Multi-Hospital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13232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rPr b="1" dirty="0">
                <a:solidFill>
                  <a:schemeClr val="tx2"/>
                </a:solidFill>
              </a:rP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280160"/>
            <a:ext cx="3931920" cy="182880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Sepsis </a:t>
            </a:r>
            <a:r>
              <a:rPr dirty="0" err="1"/>
              <a:t>GenAI</a:t>
            </a:r>
            <a:r>
              <a:rPr dirty="0"/>
              <a:t>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1546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9567" y="366452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📋  Configuration Layer  —  850+ Parameters  —  API-Managed  —  Hot-Reload  —  No Restart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411480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66344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2120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Immediate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High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12967" y="4151376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4572000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66344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212080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Medium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11480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80" y="4572000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9640" y="466344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2120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pSOFA: Pediatric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Standard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406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See all 850+ thresholds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377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377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377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</a:t>
            </a:r>
            <a:br/>
            <a:r>
              <a:t>for compliance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850+ 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976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6888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0936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2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Same Patient, Different Hospitals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How hospital-specific thresholds change the clinical response — same AI, same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dirty="0"/>
              <a:t>📋  </a:t>
            </a:r>
            <a:r>
              <a:rPr lang="en-US" dirty="0"/>
              <a:t>11</a:t>
            </a:r>
            <a:r>
              <a:rPr dirty="0"/>
              <a:t>-year-old, post-op Day 2  •  HR 115  •  SBP 105  •  Temp 38.1°C  •  WBC 13.5  •  Lactate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AI Output: Risk 68  •  Priority: High  •  Confidence: Medium  •  qSOFA: 1  •  SIRS: 3/4</a:t>
            </a:r>
            <a:br/>
            <a:r>
              <a:t>Rationale: "Post-surgical tachycardia with low-grade fever and mild lactate elevation — early infection cannot be excluded."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41148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CRITICAL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Lactate threshold: 2.0 → EXCEEDED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threshold: 110 → EXCEEDED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Aggressive → Force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Immediate physician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STAT + antibiotics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Sepsis bundle clock starts 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Immediate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77440"/>
            <a:ext cx="35661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Hospital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69748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278892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⚠️ HIGH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4.0 →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140 → 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Standard → No override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Close monitoring every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Repeat lactate in 2 hours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Notify physician within 15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15 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77440"/>
            <a:ext cx="3566160" cy="4114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Center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6974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278892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MONITOR CLOSELY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3.0 → 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Age-adjusted →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Conservative → No override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Trending, reassess in 4h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Continue current antibiotics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Discuss with attending at rounds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Next rounds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6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Claude Sonnet 4.5 deployed to production (EKS)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4-model head-to-head comparison (32 runs, 8 patients)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8366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3-stage AI pipeline (Preprocess → LLM →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39696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3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850+ configurable clinical parameters via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95728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04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Deterministic qSOFA / SIRS / SOFA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Discordance detection (Silent Sepsis)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1693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Audit logging (CloudWatch-ready via 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System prompt v3.0 with confidence +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🔜 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91440" cy="4572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389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910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Red Rover API setup — awaiting sandbox data from Red Rover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91440" cy="45720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938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396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Display AI output to doctors + capture feedback — needs team allocation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88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1752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91440" cy="45720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9AAD4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36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Deploy configs at 2+ facilities, compare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6616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66160"/>
            <a:ext cx="91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584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8561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MongoDB storage + analysis script + prompt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⏳  External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262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  ⏳  Red Rover — Sandbox data + SJSA API confirmation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080760"/>
            <a:ext cx="11247120" cy="5029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10819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system is live, the AI is proven, the architecture scales.  Next milestone: real patient data from Red Rover + clinician validation.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2440</Words>
  <Application>Microsoft Macintosh PowerPoint</Application>
  <PresentationFormat>Widescreen</PresentationFormat>
  <Paragraphs>389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7</cp:revision>
  <dcterms:created xsi:type="dcterms:W3CDTF">2013-01-27T09:14:16Z</dcterms:created>
  <dcterms:modified xsi:type="dcterms:W3CDTF">2026-04-14T03:20:31Z</dcterms:modified>
  <cp:category/>
</cp:coreProperties>
</file>